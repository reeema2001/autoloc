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2"/>
  </p:notesMasterIdLst>
  <p:sldIdLst>
    <p:sldId id="269" r:id="rId2"/>
    <p:sldId id="259" r:id="rId3"/>
    <p:sldId id="271" r:id="rId4"/>
    <p:sldId id="272" r:id="rId5"/>
    <p:sldId id="273" r:id="rId6"/>
    <p:sldId id="274" r:id="rId7"/>
    <p:sldId id="275" r:id="rId8"/>
    <p:sldId id="276" r:id="rId9"/>
    <p:sldId id="310" r:id="rId10"/>
    <p:sldId id="309" r:id="rId11"/>
    <p:sldId id="322" r:id="rId12"/>
    <p:sldId id="277" r:id="rId13"/>
    <p:sldId id="278" r:id="rId14"/>
    <p:sldId id="323" r:id="rId15"/>
    <p:sldId id="281" r:id="rId16"/>
    <p:sldId id="260" r:id="rId17"/>
    <p:sldId id="286" r:id="rId18"/>
    <p:sldId id="287" r:id="rId19"/>
    <p:sldId id="288" r:id="rId20"/>
    <p:sldId id="289" r:id="rId21"/>
    <p:sldId id="291" r:id="rId22"/>
    <p:sldId id="300" r:id="rId23"/>
    <p:sldId id="301" r:id="rId24"/>
    <p:sldId id="290" r:id="rId25"/>
    <p:sldId id="320" r:id="rId26"/>
    <p:sldId id="294" r:id="rId27"/>
    <p:sldId id="324" r:id="rId28"/>
    <p:sldId id="298" r:id="rId29"/>
    <p:sldId id="297" r:id="rId30"/>
    <p:sldId id="299" r:id="rId31"/>
    <p:sldId id="325" r:id="rId32"/>
    <p:sldId id="314" r:id="rId33"/>
    <p:sldId id="315" r:id="rId34"/>
    <p:sldId id="316" r:id="rId35"/>
    <p:sldId id="312" r:id="rId36"/>
    <p:sldId id="321" r:id="rId37"/>
    <p:sldId id="326" r:id="rId38"/>
    <p:sldId id="327" r:id="rId39"/>
    <p:sldId id="317" r:id="rId40"/>
    <p:sldId id="318" r:id="rId41"/>
    <p:sldId id="319" r:id="rId42"/>
    <p:sldId id="293" r:id="rId43"/>
    <p:sldId id="292" r:id="rId44"/>
    <p:sldId id="282" r:id="rId45"/>
    <p:sldId id="285" r:id="rId46"/>
    <p:sldId id="305" r:id="rId47"/>
    <p:sldId id="279" r:id="rId48"/>
    <p:sldId id="306" r:id="rId49"/>
    <p:sldId id="307" r:id="rId50"/>
    <p:sldId id="308" r:id="rId5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EBDBC2-BC88-3FB0-73E1-BB9429FCA961}" v="6" dt="2026-06-08T13:49:09.39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84383" autoAdjust="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aa RAMI" userId="S::alaa.rami@esprit.tn::452625be-3e04-458c-a034-c9fa3bed47e6" providerId="AD" clId="Web-{BBEBDBC2-BC88-3FB0-73E1-BB9429FCA961}"/>
    <pc:docChg chg="modSld">
      <pc:chgData name="Alaa RAMI" userId="S::alaa.rami@esprit.tn::452625be-3e04-458c-a034-c9fa3bed47e6" providerId="AD" clId="Web-{BBEBDBC2-BC88-3FB0-73E1-BB9429FCA961}" dt="2026-06-08T13:48:59.129" v="4" actId="20577"/>
      <pc:docMkLst>
        <pc:docMk/>
      </pc:docMkLst>
      <pc:sldChg chg="modSp">
        <pc:chgData name="Alaa RAMI" userId="S::alaa.rami@esprit.tn::452625be-3e04-458c-a034-c9fa3bed47e6" providerId="AD" clId="Web-{BBEBDBC2-BC88-3FB0-73E1-BB9429FCA961}" dt="2026-06-08T13:48:59.129" v="4" actId="20577"/>
        <pc:sldMkLst>
          <pc:docMk/>
          <pc:sldMk cId="1337035417" sldId="302"/>
        </pc:sldMkLst>
        <pc:spChg chg="mod">
          <ac:chgData name="Alaa RAMI" userId="S::alaa.rami@esprit.tn::452625be-3e04-458c-a034-c9fa3bed47e6" providerId="AD" clId="Web-{BBEBDBC2-BC88-3FB0-73E1-BB9429FCA961}" dt="2026-06-08T13:48:59.129" v="4" actId="20577"/>
          <ac:spMkLst>
            <pc:docMk/>
            <pc:sldMk cId="1337035417" sldId="302"/>
            <ac:spMk id="7" creationId="{8E6B8B8C-6684-0943-9578-82195A0317E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1584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67510-ADF5-16CC-12EE-FF94C8C3D6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B04DFE-3B36-EBE7-0E4C-0E26EEC7AD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F5F8E9-858A-E84E-F164-2B8BA1AD6B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40CEFA-F422-9988-5C9B-1F6F6D63A97E}"/>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900252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70CBC-E9FF-FF44-0FA0-D14B93B354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C4FF13-F8DF-1197-F3FD-667784ED3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C4A121-DBB8-6C41-F6D2-997FFFDC9D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71B9D3-217C-D8BC-6D97-82662DE6F012}"/>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2073737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B8504-394A-EAC7-F387-E68CAF5ADC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DEEA92-959E-A000-A15F-EB63587538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FBC05A-4C6A-DDC1-617B-EC350D7FF9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04704A-6D1E-9D66-37C6-FD73CA816937}"/>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2906433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E3BB2-0FF4-8B86-3C69-F0AAFE0A6C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83A481-30DB-33D9-4DA0-006DD7755A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635FA0-C790-D315-F558-0499548995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5EE4F0-2917-7525-FF77-2B8A27A0A847}"/>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6929966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A0A0A-6336-6E4D-085D-2CF03B93DE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4BAFD6-A813-5F57-D3E4-B515548601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B0B779-551D-B9E9-BC93-F776ABEA45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2249AA-253E-BB2F-373B-124AAB6A7B16}"/>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0975946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9AEDB-26E4-8F20-6EC8-05CA37E332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0EDACF-5652-8448-D36F-B03A2C87B0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A22967-D433-81DD-DEEA-A888F84896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C82410-6EDF-BDE6-EEBA-E078D27CF5D4}"/>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5330128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05CB8-FC1A-004B-CD1C-205040CF8F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CF4060-ABB6-CE43-5E58-F3637A54BB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0E59D1-1961-1AF8-CE4E-0E6EB74242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ADAC09-40D8-094F-E430-952460A10A40}"/>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4002249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3BB77-047B-FD5D-9BA7-10642643C0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412041-3403-9225-37CC-4A05397551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7E1AAE-59C0-FC42-2BE1-2EE8DE7693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B7CDEA-10EB-685F-E9A3-8C308A8A46BC}"/>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1444841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20842-559E-6B87-8B6A-7AA9092692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B3A617-F08F-E09F-6220-E5E75EFA0B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2ADBE4-7F07-E211-7103-8119195EB9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D06707-9C65-BBEF-6B3E-E5C5E1D7EBEA}"/>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6890004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2508D-1FC8-A898-A722-A9ADD7914B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8CC2B9-5992-B30F-E480-0E348B336F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487408-8303-C7EF-3524-6D970A7FB4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E75853-9DF6-15B9-5283-C60EC7AF166F}"/>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9991394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7D344-9247-2FC0-9027-A9C8DB58F9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9ABE32-E603-169C-8B0C-4993EFBDFC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674874-B72C-5818-50F2-4D9A93CB11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BE2718-467F-081A-2042-7C4436DF1DB6}"/>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335143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1AE24-5792-1143-44FC-D721484323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D65414-75B6-F924-1632-12B5B9D9EC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7ADD04-97F6-1853-341E-823AE71F3B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45650D-2DDB-535D-487C-396EFA549991}"/>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9856883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20D60-6AAB-4EC8-D22D-504CA05007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A8E835-7A9B-CF3A-D7AE-ABAEDCF9BF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8F52CD-8FD2-91D0-30DE-6C651D1BD9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DFB373-5F67-5451-958E-768F6F4DB965}"/>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4077236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2F98A-AD68-321A-9BC8-A0036C9B06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206598-F158-5F15-FB5D-EA9CD88998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219355-40DD-D1F0-0A77-E08C5EBB28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9CDE36-1395-3EE1-6E2F-F873147539A6}"/>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659749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7AFC9-955D-10E4-7B44-66F98ADE8E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AADB49-2BB5-D5AE-7D87-2B1B7A5E7C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DDD97A-F44B-D055-7657-4B7B3C1922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1B1600-2D86-9D29-CFE8-540F066E6BDD}"/>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5580574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1AF99-E943-B860-DAED-BF3758A180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DE5EA5-8233-29D0-B5AD-417A135E58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96CF36-5C7A-9518-5F95-668F983038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16566A-B551-DD88-1309-82CA687C54E0}"/>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1303670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E7E69-35CB-1B09-BFA8-5F2B04648A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A03257-4A89-9AFC-06A8-A760640D3C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2EF329-F311-E491-FD24-2C29965E31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A4B9FA-08E1-69DB-D43F-365AEAE2E36B}"/>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480999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DB790-794A-DB85-F13F-5E9FB374EF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04694F-A92F-E4F0-92FA-E99A29ACBE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546D0-53DE-112A-BB00-0A3EA061BD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03298D-D2BC-DF5C-D1D2-4D5EA9E3A31F}"/>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9785271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C7A2B-5A6E-1D6E-9328-32435B395A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CF6A5-DAB4-9816-4A23-239C3914B0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A2A10A-98F2-E14D-8838-0C2FE6380E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308ACF-AA25-E6F0-E1E5-F7F40488876A}"/>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8389781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4B652-6467-31C2-159C-7DE6A9DC4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5060EA-FEE6-AE44-D358-040AFF7393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83A388-71A3-18ED-739F-BE656012A6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CC8CE4-FBA5-0B1E-4443-DC98B36FB45A}"/>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6934580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77504-8218-5933-5735-4CA006EB8A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60BA0E-13E2-AAD7-C859-E5C4B9BF82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DB082F-D7A6-C541-83BB-3BA578A57F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6415AE-18C8-02E0-B8AE-FFE378EFCD80}"/>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0595737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A1E6A-FA72-A497-649F-46B602F4F4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917FB5-A378-6E6D-2307-E02A737D45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3052F3-CC5F-6CC0-321A-943A3BFDB3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C848B2-8474-9E51-DD1B-F8F51BD37BFF}"/>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6240356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B9B1C-9C0D-2AC8-5E44-2F5084B44D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AC5D26-1A89-7C17-EB6C-6B6392D8D2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E5B03B-B780-7567-1AB8-8E8A234523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4DC6B1-7413-2C79-A7E8-E4FE096A0235}"/>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7004343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283FF-8ED4-45FD-D1F6-EB1387D442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A42A15-A750-D53F-EB23-21922872A9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30CE83-2D39-95FD-D6DF-83AEE00700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45CCB7-5B27-9ADA-3C3F-93A93D264F65}"/>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40375979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43BD0-DC08-B855-2F6C-04837F59C5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B61D82-F2EC-6720-15F9-FCE47133F5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CA3CC3-7DA1-34F8-FA5E-887911D857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9A64A9-9561-67E2-3D7D-64A5BCB0FAC3}"/>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886102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E6766-D634-3375-1FC8-91A05F6A6F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588A73-830D-F693-38B9-FDF3EDEBA0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3A81D2-654B-586B-5A6E-09217837A9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6EAA42-D31D-8A14-D725-D15F85AD9F5B}"/>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23840820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DEFAC-33FD-4D1E-50C0-22F513D001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EC0962-4795-1037-76C3-6EE9179211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BA43F0-C320-459B-0C85-ACCC19B0B7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81A86B-0B48-0576-85C8-81F36BFC0E9F}"/>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4612154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2ACC0-5B5E-863E-B0C1-2004AB1CD8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47CB4C-8066-F965-E440-294CF9BB86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ECDEE5-D11A-A38E-9A53-276E86912F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72471B-7E72-1729-98CE-9ADB14296347}"/>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2153052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0632B-F17A-13D3-FD53-010B19FE18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08BCE0-344F-A288-E1EC-D150D31EA6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77378F-0626-3E31-E934-0156A25BCB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CBE7EF-4520-BFC9-BD59-39ACDF08EC22}"/>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787247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6BC79-2FD8-3D2F-FEFE-B14FB87DAD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3E3EAC-6548-112E-4388-649951AAFF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0F6C5-B8DF-CC67-54B5-9E04EC5265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267138-888B-77D3-BDDB-9F65D4E6D981}"/>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3153998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F22F3-0C5C-8C82-443C-F8EA3635E7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D456A1-369C-1696-D261-C4BA187CAD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0DFD05-A481-EEE9-E385-07CAA28688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CE4622-E20A-B4D9-C080-3C697B185BEC}"/>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29276867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42E4B-7296-A96E-82BA-7DAD0D5997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330DF5-8986-B8CB-51F6-1F16A9A2EE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6CFD27-86B0-A9DB-D1EA-39788E6799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55A930-C26C-F218-5D4F-B572F3892B9E}"/>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20875965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50B61-4596-1BE9-DC54-2AEDEEA081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2A716F-6582-ACC6-9D03-716BAA8B1E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2C4439-4A5C-3E0D-C948-4B7D10FFD1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CD1533-B3D2-E8D4-3F07-6B9732629AF0}"/>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5261348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36511-0C84-4216-22AB-68F6EC7997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D5E711-6777-D6CD-93C4-F0898B1C90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267C02-C444-4411-8994-8472FE6A05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8D35B3-D27F-2620-8550-5A510E88320F}"/>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1576412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44084-7147-ADAF-1AF7-E8E6ED5DC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91A05C-CDC2-75E8-0271-3103F41474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A45F51-E5C1-ABEA-815F-68B4019930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DE5F82-7BF9-C5CC-F6ED-A554F496CCC4}"/>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40221233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FE9D6-726D-1C42-934E-67A799C335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7E2756-DC22-D4DE-F173-0A2F6662C3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28D4A4-1488-BDE0-4445-C4E054699D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5D8CE6-1262-BF9D-D9F7-6FB7710621AF}"/>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73413845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A721D-DEFF-B9A3-7099-9BA4C9286A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8BA05F-C308-FD9F-694F-417B8B6956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FACABF-0916-D361-0EAC-99093775E4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384526-D284-8F48-A6E7-421CBC96BC2A}"/>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475489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87109-75C3-4F2D-CDCC-2DE7D4FCD2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24F6E1-7AEC-B72C-DFFE-57FDC72C0C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0142AB-C5F1-B374-64EF-5B061FB7BA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3C7E29-DB93-8EB9-4547-68083962E03F}"/>
              </a:ext>
            </a:extLst>
          </p:cNvPr>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39278376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41A5E-4C67-0707-3953-8A2A53F104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A35C8C-B837-AAE9-4811-901951976D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E1F20B-60FB-7281-64F8-7840FDDFDC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13D627-2C19-303C-BDF8-47B28EF81847}"/>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9137436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CA009-4831-4882-7B5B-D53627FE96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22F700-C569-E4B9-F669-27BE1C2FC2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EC2CDD-32E4-C0F9-36DB-520993226F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EF0B42-DDF2-3556-5C01-A28FEBA7B303}"/>
              </a:ext>
            </a:extLst>
          </p:cNvPr>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36115246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73B37-FEDD-8CD3-C647-7F4FE1153D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202D5B-F4EF-BF8E-240C-618B846C73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82A173-3558-B035-0BE5-8320EC8441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F9F2EA-E550-F43F-ACD1-1A1956DBADBA}"/>
              </a:ext>
            </a:extLst>
          </p:cNvPr>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8893227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CD842-0761-0661-96DF-64D3C26B32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9CCB31-8785-4EF6-B587-14C76691C7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2C3D53-FC72-D163-5882-B0D8CADCC2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7F7690-97E1-EBB6-2618-03242DA5D4EC}"/>
              </a:ext>
            </a:extLst>
          </p:cNvPr>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98500320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A70DD-1F9E-B30F-C342-AEF49E123D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29AAA9-B7FD-6E04-BE40-64CFF1669B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2F5FB9-2626-7F7B-D776-35021D94E1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272C3B-F642-5141-E47B-2A987FE3D045}"/>
              </a:ext>
            </a:extLst>
          </p:cNvPr>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96386195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6D10A-A3BB-4B74-F90D-16CB359813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571087-BCA0-29EC-4A78-FA7D086000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3195F2-ABF9-AADB-8F8C-978BC60667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CB583F-E18A-DE1A-1463-C3E586A81D02}"/>
              </a:ext>
            </a:extLst>
          </p:cNvPr>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9901789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E0E9C-BA70-0F36-ABFB-78D6F945BD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CC9FBA-C4EB-FB52-58BC-E7635C2B1E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3EBB3D-C1ED-A14D-6CA7-7E1A325AE7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473AFA-33CD-3728-9410-730FDA7F1DEE}"/>
              </a:ext>
            </a:extLst>
          </p:cNvPr>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83102554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7B2F8-3C08-B317-AB49-2BF31D300E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2654A2-CF2D-222B-C09F-C00793CDB5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256BBF-A8A1-7D94-29D6-5E6EA3AF7A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86C2C2-1F49-E329-45A7-824C2BEAD128}"/>
              </a:ext>
            </a:extLst>
          </p:cNvPr>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426695228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135D9-8AB9-1FCF-9C94-0F2A6E40D8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69413C-0E34-D469-F1B8-8D4D8D5CE8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D5C4A5-0969-1EC1-649E-C3F5A3CD93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75D7E5-C2C7-A086-9298-D46A2D12C073}"/>
              </a:ext>
            </a:extLst>
          </p:cNvPr>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3283389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4000" cy="5143500"/>
          </a:xfrm>
          <a:prstGeom prst="rect">
            <a:avLst/>
          </a:prstGeom>
        </p:spPr>
      </p:pic>
      <p:sp>
        <p:nvSpPr>
          <p:cNvPr id="2" name="Holder 2"/>
          <p:cNvSpPr>
            <a:spLocks noGrp="1"/>
          </p:cNvSpPr>
          <p:nvPr>
            <p:ph type="title"/>
          </p:nvPr>
        </p:nvSpPr>
        <p:spPr/>
        <p:txBody>
          <a:bodyPr lIns="0" tIns="0" rIns="0" bIns="0"/>
          <a:lstStyle>
            <a:lvl1pPr>
              <a:defRPr sz="33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200" b="1" i="0" u="sng">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9/9/2026</a:t>
            </a:fld>
            <a:endParaRPr lang="en-US"/>
          </a:p>
        </p:txBody>
      </p:sp>
      <p:sp>
        <p:nvSpPr>
          <p:cNvPr id="6" name="Holder 6"/>
          <p:cNvSpPr>
            <a:spLocks noGrp="1"/>
          </p:cNvSpPr>
          <p:nvPr>
            <p:ph type="sldNum" sz="quarter" idx="7"/>
          </p:nvPr>
        </p:nvSpPr>
        <p:spPr/>
        <p:txBody>
          <a:bodyPr lIns="0" tIns="0" rIns="0" bIns="0"/>
          <a:lstStyle>
            <a:lvl1pPr>
              <a:defRPr sz="900" b="0" i="0">
                <a:solidFill>
                  <a:srgbClr val="878787"/>
                </a:solidFill>
                <a:latin typeface="Calibri"/>
                <a:cs typeface="Calibri"/>
              </a:defRPr>
            </a:lvl1pPr>
          </a:lstStyle>
          <a:p>
            <a:pPr marL="50959">
              <a:lnSpc>
                <a:spcPts val="930"/>
              </a:lnSpc>
            </a:pPr>
            <a:fld id="{81D60167-4931-47E6-BA6A-407CBD079E47}" type="slidenum">
              <a:rPr lang="en-GB" spc="-38" smtClean="0"/>
              <a:pPr marL="50959">
                <a:lnSpc>
                  <a:spcPts val="930"/>
                </a:lnSpc>
              </a:pPr>
              <a:t>‹#›</a:t>
            </a:fld>
            <a:endParaRPr lang="en-GB" spc="-38" dirty="0"/>
          </a:p>
        </p:txBody>
      </p:sp>
    </p:spTree>
    <p:extLst>
      <p:ext uri="{BB962C8B-B14F-4D97-AF65-F5344CB8AC3E}">
        <p14:creationId xmlns:p14="http://schemas.microsoft.com/office/powerpoint/2010/main" val="133973511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gif"/><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2.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2.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9.png"/><Relationship Id="rId5" Type="http://schemas.openxmlformats.org/officeDocument/2006/relationships/image" Target="../media/image2.png"/><Relationship Id="rId10" Type="http://schemas.openxmlformats.org/officeDocument/2006/relationships/image" Target="../media/image18.png"/><Relationship Id="rId4" Type="http://schemas.openxmlformats.org/officeDocument/2006/relationships/image" Target="../media/image8.png"/><Relationship Id="rId9" Type="http://schemas.openxmlformats.org/officeDocument/2006/relationships/image" Target="../media/image17.png"/></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25.png"/><Relationship Id="rId5" Type="http://schemas.openxmlformats.org/officeDocument/2006/relationships/image" Target="../media/image2.png"/><Relationship Id="rId10" Type="http://schemas.openxmlformats.org/officeDocument/2006/relationships/image" Target="../media/image24.png"/><Relationship Id="rId4" Type="http://schemas.openxmlformats.org/officeDocument/2006/relationships/image" Target="../media/image8.png"/><Relationship Id="rId9" Type="http://schemas.openxmlformats.org/officeDocument/2006/relationships/image" Target="../media/image23.png"/></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png"/><Relationship Id="rId7"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 Id="rId9"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png"/><Relationship Id="rId7"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10" Type="http://schemas.openxmlformats.org/officeDocument/2006/relationships/image" Target="../media/image35.png"/><Relationship Id="rId4" Type="http://schemas.openxmlformats.org/officeDocument/2006/relationships/image" Target="../media/image8.png"/><Relationship Id="rId9"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png"/><Relationship Id="rId7"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3.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4.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5.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6.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7.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8.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0.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40.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1.png"/><Relationship Id="rId7" Type="http://schemas.openxmlformats.org/officeDocument/2006/relationships/image" Target="../media/image51.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41.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1.png"/><Relationship Id="rId7" Type="http://schemas.openxmlformats.org/officeDocument/2006/relationships/hyperlink" Target="https://spring.io/projects" TargetMode="External"/><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4.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44.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1.png"/><Relationship Id="rId7" Type="http://schemas.openxmlformats.org/officeDocument/2006/relationships/image" Target="../media/image55.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10" Type="http://schemas.openxmlformats.org/officeDocument/2006/relationships/image" Target="../media/image58.png"/><Relationship Id="rId4" Type="http://schemas.openxmlformats.org/officeDocument/2006/relationships/image" Target="../media/image8.png"/><Relationship Id="rId9" Type="http://schemas.openxmlformats.org/officeDocument/2006/relationships/image" Target="../media/image57.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8.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9.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0.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8.png"/></Relationships>
</file>

<file path=ppt/slides/_rels/slide49.xml.rels><?xml version="1.0" encoding="UTF-8" standalone="yes"?>
<Relationships xmlns="http://schemas.openxmlformats.org/package/2006/relationships"><Relationship Id="rId8" Type="http://schemas.openxmlformats.org/officeDocument/2006/relationships/hyperlink" Target="https://start.spring.io/" TargetMode="External"/><Relationship Id="rId3" Type="http://schemas.openxmlformats.org/officeDocument/2006/relationships/image" Target="../media/image1.png"/><Relationship Id="rId7" Type="http://schemas.openxmlformats.org/officeDocument/2006/relationships/hyperlink" Target="https://docs.spring.io/spring-framework/reference/" TargetMode="External"/><Relationship Id="rId12" Type="http://schemas.openxmlformats.org/officeDocument/2006/relationships/hyperlink" Target="https://docs.microsoft.com/en-us/azure/architecture/patterns/" TargetMode="External"/><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hyperlink" Target="https://martinfowler.com/eaaCatalog/" TargetMode="External"/><Relationship Id="rId5" Type="http://schemas.openxmlformats.org/officeDocument/2006/relationships/image" Target="../media/image2.png"/><Relationship Id="rId10" Type="http://schemas.openxmlformats.org/officeDocument/2006/relationships/hyperlink" Target="https://www.baeldung.com/spring-framework-design-patterns" TargetMode="External"/><Relationship Id="rId4" Type="http://schemas.openxmlformats.org/officeDocument/2006/relationships/image" Target="../media/image8.png"/><Relationship Id="rId9" Type="http://schemas.openxmlformats.org/officeDocument/2006/relationships/hyperlink" Target="https://refactoring.guru/design-patterns" TargetMode="Externa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4830" y="182223"/>
            <a:ext cx="2559939" cy="929249"/>
          </a:xfrm>
          <a:prstGeom prst="rect">
            <a:avLst/>
          </a:prstGeom>
        </p:spPr>
      </p:pic>
      <p:sp>
        <p:nvSpPr>
          <p:cNvPr id="3" name="object 3"/>
          <p:cNvSpPr txBox="1">
            <a:spLocks noGrp="1"/>
          </p:cNvSpPr>
          <p:nvPr>
            <p:ph type="title"/>
          </p:nvPr>
        </p:nvSpPr>
        <p:spPr>
          <a:xfrm>
            <a:off x="438063" y="1729083"/>
            <a:ext cx="8258821" cy="611386"/>
          </a:xfrm>
          <a:prstGeom prst="rect">
            <a:avLst/>
          </a:prstGeom>
        </p:spPr>
        <p:txBody>
          <a:bodyPr vert="horz" wrap="square" lIns="0" tIns="79058" rIns="0" bIns="0" rtlCol="0">
            <a:spAutoFit/>
          </a:bodyPr>
          <a:lstStyle/>
          <a:p>
            <a:pPr marL="9525" marR="3810" indent="434340">
              <a:lnSpc>
                <a:spcPts val="4380"/>
              </a:lnSpc>
              <a:spcBef>
                <a:spcPts val="623"/>
              </a:spcBef>
            </a:pPr>
            <a:r>
              <a:rPr lang="fr-FR" sz="3200" b="1" dirty="0"/>
              <a:t>Introduction à l'architecture des SI &amp; Spring</a:t>
            </a:r>
            <a:endParaRPr sz="3200" b="1" dirty="0">
              <a:latin typeface="+mn-lt"/>
            </a:endParaRPr>
          </a:p>
        </p:txBody>
      </p:sp>
      <p:sp>
        <p:nvSpPr>
          <p:cNvPr id="4" name="object 4"/>
          <p:cNvSpPr txBox="1"/>
          <p:nvPr/>
        </p:nvSpPr>
        <p:spPr>
          <a:xfrm>
            <a:off x="1958254" y="3249063"/>
            <a:ext cx="5218441" cy="543995"/>
          </a:xfrm>
          <a:prstGeom prst="rect">
            <a:avLst/>
          </a:prstGeom>
        </p:spPr>
        <p:txBody>
          <a:bodyPr vert="horz" wrap="square" lIns="0" tIns="9525" rIns="0" bIns="0" rtlCol="0">
            <a:spAutoFit/>
          </a:bodyPr>
          <a:lstStyle/>
          <a:p>
            <a:pPr marL="772477" marR="758189" indent="2381" algn="ctr">
              <a:lnSpc>
                <a:spcPct val="125000"/>
              </a:lnSpc>
              <a:spcBef>
                <a:spcPts val="75"/>
              </a:spcBef>
            </a:pPr>
            <a:r>
              <a:rPr lang="fr-FR" sz="1600" b="1" spc="-8" dirty="0">
                <a:solidFill>
                  <a:srgbClr val="B12109"/>
                </a:solidFill>
                <a:latin typeface="Calibri"/>
                <a:cs typeface="Calibri"/>
              </a:rPr>
              <a:t>Architecture des SI - UP ASI</a:t>
            </a:r>
          </a:p>
          <a:p>
            <a:pPr marL="772477" marR="758189" indent="2381" algn="ctr">
              <a:lnSpc>
                <a:spcPct val="125000"/>
              </a:lnSpc>
              <a:spcBef>
                <a:spcPts val="75"/>
              </a:spcBef>
            </a:pPr>
            <a:r>
              <a:rPr lang="en-GB" sz="1200" b="1" spc="-8" dirty="0">
                <a:solidFill>
                  <a:srgbClr val="B12109"/>
                </a:solidFill>
                <a:latin typeface="Calibri"/>
                <a:cs typeface="Calibri"/>
              </a:rPr>
              <a:t>Bureaux E204 | E304</a:t>
            </a:r>
            <a:endParaRPr sz="1200" b="1" spc="-8" dirty="0">
              <a:solidFill>
                <a:srgbClr val="B12109"/>
              </a:solidFill>
              <a:latin typeface="Calibri"/>
              <a:cs typeface="Calibri"/>
            </a:endParaRPr>
          </a:p>
        </p:txBody>
      </p:sp>
      <p:pic>
        <p:nvPicPr>
          <p:cNvPr id="5" name="object 5"/>
          <p:cNvPicPr/>
          <p:nvPr/>
        </p:nvPicPr>
        <p:blipFill>
          <a:blip r:embed="rId3" cstate="print"/>
          <a:stretch>
            <a:fillRect/>
          </a:stretch>
        </p:blipFill>
        <p:spPr>
          <a:xfrm>
            <a:off x="4071411" y="4398414"/>
            <a:ext cx="992123" cy="701116"/>
          </a:xfrm>
          <a:prstGeom prst="rect">
            <a:avLst/>
          </a:prstGeom>
        </p:spPr>
      </p:pic>
      <p:pic>
        <p:nvPicPr>
          <p:cNvPr id="6" name="object 6"/>
          <p:cNvPicPr/>
          <p:nvPr/>
        </p:nvPicPr>
        <p:blipFill>
          <a:blip r:embed="rId4" cstate="print"/>
          <a:stretch>
            <a:fillRect/>
          </a:stretch>
        </p:blipFill>
        <p:spPr>
          <a:xfrm>
            <a:off x="6152530" y="-208793"/>
            <a:ext cx="2984087" cy="1758125"/>
          </a:xfrm>
          <a:prstGeom prst="rect">
            <a:avLst/>
          </a:prstGeom>
        </p:spPr>
      </p:pic>
      <p:pic>
        <p:nvPicPr>
          <p:cNvPr id="7" name="object 7"/>
          <p:cNvPicPr/>
          <p:nvPr/>
        </p:nvPicPr>
        <p:blipFill>
          <a:blip r:embed="rId5" cstate="print"/>
          <a:stretch>
            <a:fillRect/>
          </a:stretch>
        </p:blipFill>
        <p:spPr>
          <a:xfrm>
            <a:off x="6314506" y="4535691"/>
            <a:ext cx="2048351" cy="408451"/>
          </a:xfrm>
          <a:prstGeom prst="rect">
            <a:avLst/>
          </a:prstGeom>
        </p:spPr>
      </p:pic>
      <p:pic>
        <p:nvPicPr>
          <p:cNvPr id="8" name="object 8"/>
          <p:cNvPicPr/>
          <p:nvPr/>
        </p:nvPicPr>
        <p:blipFill>
          <a:blip r:embed="rId6" cstate="print"/>
          <a:stretch>
            <a:fillRect/>
          </a:stretch>
        </p:blipFill>
        <p:spPr>
          <a:xfrm>
            <a:off x="1444799" y="4506335"/>
            <a:ext cx="1296162" cy="437807"/>
          </a:xfrm>
          <a:prstGeom prst="rect">
            <a:avLst/>
          </a:prstGeom>
        </p:spPr>
      </p:pic>
      <p:pic>
        <p:nvPicPr>
          <p:cNvPr id="11" name="object 11"/>
          <p:cNvPicPr/>
          <p:nvPr/>
        </p:nvPicPr>
        <p:blipFill>
          <a:blip r:embed="rId7" cstate="print"/>
          <a:stretch>
            <a:fillRect/>
          </a:stretch>
        </p:blipFill>
        <p:spPr>
          <a:xfrm>
            <a:off x="0" y="3263455"/>
            <a:ext cx="2466593" cy="16806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8138160" y="-45720"/>
            <a:ext cx="1188720" cy="1188720"/>
          </a:xfrm>
          <a:prstGeom prst="rect">
            <a:avLst/>
          </a:prstGeom>
        </p:spPr>
      </p:pic>
      <p:sp>
        <p:nvSpPr>
          <p:cNvPr id="3" name="Shape 0"/>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p:cNvPicPr>
            <a:picLocks noChangeAspect="1"/>
          </p:cNvPicPr>
          <p:nvPr/>
        </p:nvPicPr>
        <p:blipFill>
          <a:blip r:embed="rId4"/>
          <a:stretch>
            <a:fillRect/>
          </a:stretch>
        </p:blipFill>
        <p:spPr>
          <a:xfrm>
            <a:off x="1664208" y="155448"/>
            <a:ext cx="256032" cy="256032"/>
          </a:xfrm>
          <a:prstGeom prst="rect">
            <a:avLst/>
          </a:prstGeom>
        </p:spPr>
      </p:pic>
      <p:sp>
        <p:nvSpPr>
          <p:cNvPr id="9" name="Text 2"/>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Plan du module </a:t>
            </a:r>
            <a:endParaRPr lang="en-US" b="1" dirty="0">
              <a:solidFill>
                <a:srgbClr val="1A1A1A"/>
              </a:solidFill>
              <a:latin typeface="Calibri" pitchFamily="34" charset="0"/>
              <a:ea typeface="Calibri" pitchFamily="34" charset="-122"/>
              <a:cs typeface="Calibri" pitchFamily="34" charset="-120"/>
            </a:endParaRPr>
          </a:p>
        </p:txBody>
      </p:sp>
      <p:sp>
        <p:nvSpPr>
          <p:cNvPr id="10" name="Shape 3"/>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1" name="Text 4"/>
          <p:cNvSpPr/>
          <p:nvPr/>
        </p:nvSpPr>
        <p:spPr>
          <a:xfrm>
            <a:off x="548640" y="749808"/>
            <a:ext cx="8046720" cy="3954918"/>
          </a:xfrm>
          <a:prstGeom prst="rect">
            <a:avLst/>
          </a:prstGeom>
          <a:noFill/>
          <a:ln/>
        </p:spPr>
        <p:txBody>
          <a:bodyPr wrap="square" rtlCol="0" anchor="t"/>
          <a:lstStyle/>
          <a:p>
            <a:pPr>
              <a:lnSpc>
                <a:spcPct val="125000"/>
              </a:lnSpc>
            </a:pPr>
            <a:r>
              <a:rPr lang="fr-FR" sz="1400" dirty="0"/>
              <a:t>Ce module s'articule autour des thématiques suivantes, réparties sur un cycle de 14 séances :</a:t>
            </a:r>
          </a:p>
          <a:p>
            <a:pPr>
              <a:lnSpc>
                <a:spcPct val="125000"/>
              </a:lnSpc>
            </a:pPr>
            <a:r>
              <a:rPr lang="en-US" sz="600" dirty="0">
                <a:solidFill>
                  <a:srgbClr val="1A1A1A"/>
                </a:solidFill>
                <a:latin typeface="Calibri" pitchFamily="34" charset="0"/>
                <a:ea typeface="Calibri" pitchFamily="34" charset="-122"/>
                <a:cs typeface="Calibri" pitchFamily="34" charset="-120"/>
              </a:rPr>
              <a:t> </a:t>
            </a:r>
            <a:endParaRPr lang="en-US" sz="1400" dirty="0"/>
          </a:p>
          <a:p>
            <a:pPr marL="342900" indent="-342900">
              <a:lnSpc>
                <a:spcPct val="100000"/>
              </a:lnSpc>
              <a:buSzPct val="100000"/>
              <a:buChar char="•"/>
            </a:pPr>
            <a:r>
              <a:rPr lang="en-US" sz="1400" b="1" dirty="0">
                <a:solidFill>
                  <a:srgbClr val="1A1A1A"/>
                </a:solidFill>
                <a:latin typeface="Calibri" pitchFamily="34" charset="0"/>
                <a:ea typeface="Calibri" pitchFamily="34" charset="-122"/>
                <a:cs typeface="Calibri" pitchFamily="34" charset="-120"/>
              </a:rPr>
              <a:t>Séance 1 : </a:t>
            </a:r>
            <a:r>
              <a:rPr lang="fr-FR" sz="1400" dirty="0"/>
              <a:t>Introduction à l'architecture des SI &amp; Spring</a:t>
            </a:r>
          </a:p>
          <a:p>
            <a:pPr marL="342900" indent="-342900">
              <a:lnSpc>
                <a:spcPct val="100000"/>
              </a:lnSpc>
              <a:buSzPct val="100000"/>
              <a:buChar char="•"/>
            </a:pPr>
            <a:r>
              <a:rPr lang="en-US" sz="1400" b="1" dirty="0">
                <a:solidFill>
                  <a:srgbClr val="1A1A1A"/>
                </a:solidFill>
                <a:latin typeface="Calibri" pitchFamily="34" charset="0"/>
                <a:ea typeface="Calibri" pitchFamily="34" charset="-122"/>
                <a:cs typeface="Calibri" pitchFamily="34" charset="-120"/>
              </a:rPr>
              <a:t>Séance 2 : </a:t>
            </a:r>
            <a:r>
              <a:rPr lang="fr-FR" sz="1400" dirty="0">
                <a:solidFill>
                  <a:srgbClr val="1A1A1A"/>
                </a:solidFill>
                <a:latin typeface="Calibri" pitchFamily="34" charset="0"/>
                <a:ea typeface="Calibri" pitchFamily="34" charset="-122"/>
                <a:cs typeface="Calibri" pitchFamily="34" charset="-120"/>
              </a:rPr>
              <a:t>Spring Boot, Maven et persistance des données avec Spring Data JPA</a:t>
            </a:r>
          </a:p>
          <a:p>
            <a:pPr marL="342900" indent="-342900">
              <a:lnSpc>
                <a:spcPct val="100000"/>
              </a:lnSpc>
              <a:buSzPct val="100000"/>
              <a:buChar char="•"/>
            </a:pPr>
            <a:r>
              <a:rPr lang="en-US" sz="1400" b="1" dirty="0">
                <a:solidFill>
                  <a:srgbClr val="1A1A1A"/>
                </a:solidFill>
                <a:latin typeface="Calibri" pitchFamily="34" charset="0"/>
                <a:ea typeface="Calibri" pitchFamily="34" charset="-122"/>
                <a:cs typeface="Calibri" pitchFamily="34" charset="-120"/>
              </a:rPr>
              <a:t>Séance 3 :</a:t>
            </a:r>
            <a:r>
              <a:rPr lang="en-GB" sz="1400" b="1" dirty="0">
                <a:solidFill>
                  <a:srgbClr val="1A1A1A"/>
                </a:solidFill>
                <a:latin typeface="Calibri" pitchFamily="34" charset="0"/>
                <a:ea typeface="Calibri" pitchFamily="34" charset="-122"/>
                <a:cs typeface="Calibri" pitchFamily="34" charset="-120"/>
              </a:rPr>
              <a:t> </a:t>
            </a:r>
            <a:r>
              <a:rPr lang="en-GB" sz="1400" dirty="0">
                <a:solidFill>
                  <a:srgbClr val="1A1A1A"/>
                </a:solidFill>
                <a:latin typeface="Calibri" pitchFamily="34" charset="0"/>
                <a:ea typeface="Calibri" pitchFamily="34" charset="-122"/>
                <a:cs typeface="Calibri" pitchFamily="34" charset="-120"/>
              </a:rPr>
              <a:t>Spring Data JPA : Le mapping des associations</a:t>
            </a:r>
          </a:p>
          <a:p>
            <a:pPr marL="342900" indent="-342900">
              <a:lnSpc>
                <a:spcPct val="100000"/>
              </a:lnSpc>
              <a:buSzPct val="100000"/>
              <a:buChar char="•"/>
            </a:pPr>
            <a:r>
              <a:rPr lang="en-GB" sz="1400" b="1" dirty="0">
                <a:solidFill>
                  <a:srgbClr val="1A1A1A"/>
                </a:solidFill>
                <a:latin typeface="Calibri" pitchFamily="34" charset="0"/>
                <a:ea typeface="Calibri" pitchFamily="34" charset="-122"/>
                <a:cs typeface="Calibri" pitchFamily="34" charset="-120"/>
              </a:rPr>
              <a:t>Séance 4 : </a:t>
            </a:r>
            <a:r>
              <a:rPr lang="it-IT" sz="1400" dirty="0">
                <a:solidFill>
                  <a:srgbClr val="1A1A1A"/>
                </a:solidFill>
                <a:latin typeface="Calibri" pitchFamily="34" charset="0"/>
                <a:ea typeface="Calibri" pitchFamily="34" charset="-122"/>
                <a:cs typeface="Calibri" pitchFamily="34" charset="-120"/>
              </a:rPr>
              <a:t>Les patrons de conception (Design Patterns GoF)</a:t>
            </a:r>
          </a:p>
          <a:p>
            <a:pPr marL="342900" indent="-342900">
              <a:lnSpc>
                <a:spcPct val="125000"/>
              </a:lnSpc>
              <a:buSzPct val="100000"/>
              <a:buChar char="•"/>
            </a:pPr>
            <a:r>
              <a:rPr lang="en-US" sz="1400" b="1" dirty="0">
                <a:solidFill>
                  <a:srgbClr val="1A1A1A"/>
                </a:solidFill>
                <a:latin typeface="Calibri" pitchFamily="34" charset="0"/>
                <a:ea typeface="Calibri" pitchFamily="34" charset="-122"/>
                <a:cs typeface="Calibri" pitchFamily="34" charset="-120"/>
              </a:rPr>
              <a:t>Séances 5-6 : </a:t>
            </a:r>
            <a:r>
              <a:rPr lang="en-US" sz="1400" dirty="0"/>
              <a:t>Spring Data JPA – JPA Repository, Inversion of Control – Dependency Injection et Les principes SOLID</a:t>
            </a:r>
          </a:p>
          <a:p>
            <a:pPr marL="342900" indent="-342900">
              <a:lnSpc>
                <a:spcPct val="125000"/>
              </a:lnSpc>
              <a:buSzPct val="100000"/>
              <a:buChar char="•"/>
            </a:pPr>
            <a:r>
              <a:rPr lang="en-US" sz="1400" b="1" dirty="0">
                <a:solidFill>
                  <a:srgbClr val="1A1A1A"/>
                </a:solidFill>
                <a:latin typeface="Calibri" pitchFamily="34" charset="0"/>
                <a:ea typeface="Calibri" pitchFamily="34" charset="-122"/>
                <a:cs typeface="Calibri" pitchFamily="34" charset="-120"/>
              </a:rPr>
              <a:t>Séance 7 : </a:t>
            </a:r>
            <a:r>
              <a:rPr lang="en-US" sz="1400" dirty="0"/>
              <a:t>Spring MVC et Spring Doc</a:t>
            </a:r>
          </a:p>
          <a:p>
            <a:pPr marL="342900" indent="-342900">
              <a:lnSpc>
                <a:spcPct val="125000"/>
              </a:lnSpc>
              <a:buSzPct val="100000"/>
              <a:buChar char="•"/>
            </a:pPr>
            <a:r>
              <a:rPr lang="en-US" sz="1400" b="1" dirty="0">
                <a:solidFill>
                  <a:srgbClr val="1A1A1A"/>
                </a:solidFill>
                <a:latin typeface="Calibri" pitchFamily="34" charset="0"/>
                <a:ea typeface="Calibri" pitchFamily="34" charset="-122"/>
                <a:cs typeface="Calibri" pitchFamily="34" charset="-120"/>
              </a:rPr>
              <a:t>Séance 8 : </a:t>
            </a:r>
            <a:r>
              <a:rPr lang="en-GB" sz="1400" dirty="0"/>
              <a:t>Spring Data JPA – Gestion </a:t>
            </a:r>
            <a:r>
              <a:rPr lang="en-GB" sz="1400" dirty="0" err="1"/>
              <a:t>d’affectation</a:t>
            </a:r>
            <a:r>
              <a:rPr lang="en-GB" sz="1400" dirty="0"/>
              <a:t> entre </a:t>
            </a:r>
            <a:r>
              <a:rPr lang="en-GB" sz="1400" dirty="0" err="1"/>
              <a:t>entités</a:t>
            </a:r>
            <a:endParaRPr lang="en-GB" sz="1400" dirty="0"/>
          </a:p>
          <a:p>
            <a:pPr marL="342900" indent="-342900">
              <a:lnSpc>
                <a:spcPct val="125000"/>
              </a:lnSpc>
              <a:buSzPct val="100000"/>
              <a:buChar char="•"/>
            </a:pPr>
            <a:r>
              <a:rPr lang="en-US" sz="1400" b="1" dirty="0">
                <a:solidFill>
                  <a:srgbClr val="1A1A1A"/>
                </a:solidFill>
                <a:latin typeface="Calibri" pitchFamily="34" charset="0"/>
                <a:ea typeface="Calibri" pitchFamily="34" charset="-122"/>
                <a:cs typeface="Calibri" pitchFamily="34" charset="-120"/>
              </a:rPr>
              <a:t>Séance 9 : </a:t>
            </a:r>
            <a:r>
              <a:rPr lang="fr-FR" sz="1400" dirty="0"/>
              <a:t>Qualité, maintenabilité et amélioration du code</a:t>
            </a:r>
            <a:endParaRPr lang="en-US" sz="1400" dirty="0"/>
          </a:p>
          <a:p>
            <a:pPr marL="342900" indent="-342900">
              <a:lnSpc>
                <a:spcPct val="100000"/>
              </a:lnSpc>
              <a:buSzPct val="100000"/>
              <a:buChar char="•"/>
            </a:pPr>
            <a:r>
              <a:rPr lang="en-US" sz="1400" b="1" dirty="0">
                <a:solidFill>
                  <a:srgbClr val="1A1A1A"/>
                </a:solidFill>
                <a:latin typeface="Calibri" pitchFamily="34" charset="0"/>
                <a:ea typeface="Calibri" pitchFamily="34" charset="-122"/>
                <a:cs typeface="Calibri" pitchFamily="34" charset="-120"/>
              </a:rPr>
              <a:t>Séances 10-11 : </a:t>
            </a:r>
            <a:r>
              <a:rPr lang="fr-FR" sz="1400" dirty="0"/>
              <a:t>Requêtage avancé avec Spring Data JPA et Spring </a:t>
            </a:r>
            <a:r>
              <a:rPr lang="fr-FR" sz="1400" dirty="0" err="1"/>
              <a:t>Scheduler</a:t>
            </a:r>
            <a:endParaRPr lang="fr-FR" sz="1400" dirty="0"/>
          </a:p>
          <a:p>
            <a:pPr marL="342900" indent="-342900">
              <a:lnSpc>
                <a:spcPct val="125000"/>
              </a:lnSpc>
              <a:buSzPct val="100000"/>
              <a:buChar char="•"/>
            </a:pPr>
            <a:r>
              <a:rPr lang="fr-FR" sz="1400" b="1" dirty="0">
                <a:solidFill>
                  <a:srgbClr val="1A1A1A"/>
                </a:solidFill>
                <a:latin typeface="Calibri" pitchFamily="34" charset="0"/>
                <a:ea typeface="Calibri" pitchFamily="34" charset="-122"/>
                <a:cs typeface="Calibri" pitchFamily="34" charset="-120"/>
              </a:rPr>
              <a:t>Séance 12 : </a:t>
            </a:r>
            <a:r>
              <a:rPr lang="fr-FR" sz="1400" dirty="0">
                <a:solidFill>
                  <a:srgbClr val="1A1A1A"/>
                </a:solidFill>
                <a:latin typeface="Calibri" pitchFamily="34" charset="0"/>
                <a:ea typeface="Calibri" pitchFamily="34" charset="-122"/>
                <a:cs typeface="Calibri" pitchFamily="34" charset="-120"/>
              </a:rPr>
              <a:t>Programmation Orientée Aspect (POA) avec Spring AOP.</a:t>
            </a:r>
            <a:endParaRPr lang="en-US" sz="1400" dirty="0"/>
          </a:p>
          <a:p>
            <a:pPr marL="342900" indent="-342900">
              <a:lnSpc>
                <a:spcPct val="125000"/>
              </a:lnSpc>
              <a:buSzPct val="100000"/>
              <a:buChar char="•"/>
            </a:pPr>
            <a:r>
              <a:rPr lang="en-US" sz="1400" b="1" dirty="0">
                <a:solidFill>
                  <a:srgbClr val="1A1A1A"/>
                </a:solidFill>
                <a:latin typeface="Calibri" pitchFamily="34" charset="0"/>
                <a:ea typeface="Calibri" pitchFamily="34" charset="-122"/>
                <a:cs typeface="Calibri" pitchFamily="34" charset="-120"/>
              </a:rPr>
              <a:t>Séance 13 : </a:t>
            </a:r>
            <a:r>
              <a:rPr lang="fr-FR" sz="1400" dirty="0">
                <a:solidFill>
                  <a:srgbClr val="1A1A1A"/>
                </a:solidFill>
                <a:latin typeface="Calibri" pitchFamily="34" charset="0"/>
                <a:ea typeface="Calibri" pitchFamily="34" charset="-122"/>
                <a:cs typeface="Calibri" pitchFamily="34" charset="-120"/>
              </a:rPr>
              <a:t>Qualité logicielle: métriques, analyse et amélioration continue.</a:t>
            </a:r>
          </a:p>
          <a:p>
            <a:pPr marL="342900" indent="-342900">
              <a:lnSpc>
                <a:spcPct val="125000"/>
              </a:lnSpc>
              <a:buSzPct val="100000"/>
              <a:buChar char="•"/>
            </a:pPr>
            <a:r>
              <a:rPr lang="fr-FR" sz="1400" b="1" dirty="0">
                <a:solidFill>
                  <a:srgbClr val="1A1A1A"/>
                </a:solidFill>
                <a:latin typeface="Calibri" pitchFamily="34" charset="0"/>
                <a:ea typeface="Calibri" pitchFamily="34" charset="-122"/>
                <a:cs typeface="Calibri" pitchFamily="34" charset="-120"/>
              </a:rPr>
              <a:t>Séance 14 : </a:t>
            </a:r>
            <a:r>
              <a:rPr lang="fr-FR" sz="1400" dirty="0">
                <a:solidFill>
                  <a:srgbClr val="1A1A1A"/>
                </a:solidFill>
                <a:latin typeface="Calibri" pitchFamily="34" charset="0"/>
                <a:ea typeface="Calibri" pitchFamily="34" charset="-122"/>
                <a:cs typeface="Calibri" pitchFamily="34" charset="-120"/>
              </a:rPr>
              <a:t>Révision</a:t>
            </a:r>
            <a:endParaRPr lang="en-US" sz="1400" dirty="0"/>
          </a:p>
          <a:p>
            <a:pPr marL="0" indent="0">
              <a:lnSpc>
                <a:spcPct val="125000"/>
              </a:lnSpc>
              <a:buNone/>
            </a:pPr>
            <a:r>
              <a:rPr lang="en-US" sz="600" dirty="0">
                <a:solidFill>
                  <a:srgbClr val="1A1A1A"/>
                </a:solidFill>
                <a:latin typeface="Calibri" pitchFamily="34" charset="0"/>
                <a:ea typeface="Calibri" pitchFamily="34" charset="-122"/>
                <a:cs typeface="Calibri" pitchFamily="34" charset="-120"/>
              </a:rPr>
              <a:t> </a:t>
            </a:r>
            <a:endParaRPr lang="en-US" sz="1400" dirty="0"/>
          </a:p>
        </p:txBody>
      </p:sp>
      <p:sp>
        <p:nvSpPr>
          <p:cNvPr id="12" name="Shape 5"/>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1</a:t>
            </a:r>
          </a:p>
        </p:txBody>
      </p:sp>
      <p:pic>
        <p:nvPicPr>
          <p:cNvPr id="18" name="object 2">
            <a:extLst>
              <a:ext uri="{FF2B5EF4-FFF2-40B4-BE49-F238E27FC236}">
                <a16:creationId xmlns:a16="http://schemas.microsoft.com/office/drawing/2014/main" id="{70BE68F8-F4EC-7429-3F8E-CD3F9F26981D}"/>
              </a:ext>
            </a:extLst>
          </p:cNvPr>
          <p:cNvPicPr/>
          <p:nvPr/>
        </p:nvPicPr>
        <p:blipFill>
          <a:blip r:embed="rId5" cstate="print"/>
          <a:stretch>
            <a:fillRect/>
          </a:stretch>
        </p:blipFill>
        <p:spPr>
          <a:xfrm>
            <a:off x="0" y="88479"/>
            <a:ext cx="1591056" cy="537747"/>
          </a:xfrm>
          <a:prstGeom prst="rect">
            <a:avLst/>
          </a:prstGeom>
        </p:spPr>
      </p:pic>
      <p:sp>
        <p:nvSpPr>
          <p:cNvPr id="19" name="TextBox 18">
            <a:extLst>
              <a:ext uri="{FF2B5EF4-FFF2-40B4-BE49-F238E27FC236}">
                <a16:creationId xmlns:a16="http://schemas.microsoft.com/office/drawing/2014/main" id="{421F485A-F58B-9796-A49B-E3CF81BF19A7}"/>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33C2396-75A2-22D8-D3FF-075E8239CCAD}"/>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F3CB287-8C58-C210-BF6B-61DB069F20CA}"/>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585DD7F1-6907-3B7F-0E50-D1D727FC9D86}"/>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34A6E470-18AE-0724-D9F5-3178623E1BFA}"/>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C108405C-9DC7-055F-C5F7-28F4C10275C2}"/>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02A65F62-8E30-0671-ECAD-65A70836E153}"/>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14FA5BD0-3139-A1C9-E7F4-4DD0B31A2BCD}"/>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E1EBDFF7-5364-33A0-0317-A60535000AA2}"/>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Plan du </a:t>
            </a:r>
            <a:r>
              <a:rPr lang="en-GB" b="1" dirty="0" err="1">
                <a:solidFill>
                  <a:srgbClr val="1A1A1A"/>
                </a:solidFill>
                <a:latin typeface="Calibri" pitchFamily="34" charset="0"/>
                <a:ea typeface="Calibri" pitchFamily="34" charset="-122"/>
                <a:cs typeface="Calibri" pitchFamily="34" charset="-120"/>
              </a:rPr>
              <a:t>chapitre</a:t>
            </a:r>
            <a:r>
              <a:rPr lang="en-GB" b="1" dirty="0">
                <a:solidFill>
                  <a:srgbClr val="1A1A1A"/>
                </a:solidFill>
                <a:latin typeface="Calibri" pitchFamily="34" charset="0"/>
                <a:ea typeface="Calibri" pitchFamily="34" charset="-122"/>
                <a:cs typeface="Calibri" pitchFamily="34" charset="-120"/>
              </a:rPr>
              <a:t> </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65FCE5EA-FB06-4946-DDBA-085D92455BC8}"/>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1" name="Text 4">
            <a:extLst>
              <a:ext uri="{FF2B5EF4-FFF2-40B4-BE49-F238E27FC236}">
                <a16:creationId xmlns:a16="http://schemas.microsoft.com/office/drawing/2014/main" id="{4061B9E7-AF13-2758-313F-7A7B9F099D09}"/>
              </a:ext>
            </a:extLst>
          </p:cNvPr>
          <p:cNvSpPr/>
          <p:nvPr/>
        </p:nvSpPr>
        <p:spPr>
          <a:xfrm>
            <a:off x="548640" y="749808"/>
            <a:ext cx="8046720" cy="3954918"/>
          </a:xfrm>
          <a:prstGeom prst="rect">
            <a:avLst/>
          </a:prstGeom>
          <a:noFill/>
          <a:ln/>
        </p:spPr>
        <p:txBody>
          <a:bodyPr wrap="square" rtlCol="0" anchor="t"/>
          <a:lstStyle/>
          <a:p>
            <a:pPr>
              <a:lnSpc>
                <a:spcPct val="200000"/>
              </a:lnSpc>
            </a:pPr>
            <a:r>
              <a:rPr lang="fr-FR" sz="1400" dirty="0"/>
              <a:t>Ce chapitre aborde donc les points suivants :</a:t>
            </a:r>
            <a:r>
              <a:rPr lang="en-US" sz="600" dirty="0">
                <a:solidFill>
                  <a:srgbClr val="1A1A1A"/>
                </a:solidFill>
                <a:latin typeface="Calibri" pitchFamily="34" charset="0"/>
                <a:ea typeface="Calibri" pitchFamily="34" charset="-122"/>
                <a:cs typeface="Calibri" pitchFamily="34" charset="-120"/>
              </a:rPr>
              <a:t> </a:t>
            </a:r>
            <a:endParaRPr lang="en-US" sz="1400" dirty="0"/>
          </a:p>
          <a:p>
            <a:pPr marL="342900" indent="-342900">
              <a:lnSpc>
                <a:spcPct val="150000"/>
              </a:lnSpc>
              <a:buSzPct val="100000"/>
              <a:buChar char="•"/>
            </a:pPr>
            <a:r>
              <a:rPr lang="en-GB" sz="1400" dirty="0" err="1"/>
              <a:t>Horaires</a:t>
            </a:r>
            <a:r>
              <a:rPr lang="en-GB" sz="1400" dirty="0"/>
              <a:t> &amp; </a:t>
            </a:r>
            <a:r>
              <a:rPr lang="en-GB" sz="1400" dirty="0" err="1"/>
              <a:t>Évaluation</a:t>
            </a:r>
            <a:r>
              <a:rPr lang="en-GB" sz="1400" dirty="0"/>
              <a:t>.</a:t>
            </a:r>
          </a:p>
          <a:p>
            <a:pPr marL="342900" indent="-342900">
              <a:lnSpc>
                <a:spcPct val="150000"/>
              </a:lnSpc>
              <a:buSzPct val="100000"/>
              <a:buChar char="•"/>
            </a:pPr>
            <a:r>
              <a:rPr lang="fr-FR" sz="1400" dirty="0"/>
              <a:t>Spring et le marché de l'emploi.</a:t>
            </a:r>
          </a:p>
          <a:p>
            <a:pPr marL="342900" indent="-342900">
              <a:lnSpc>
                <a:spcPct val="150000"/>
              </a:lnSpc>
              <a:buSzPct val="100000"/>
              <a:buChar char="•"/>
            </a:pPr>
            <a:r>
              <a:rPr lang="en-GB" sz="1400" dirty="0"/>
              <a:t>Styles </a:t>
            </a:r>
            <a:r>
              <a:rPr lang="en-GB" sz="1400" dirty="0" err="1"/>
              <a:t>architecturaux</a:t>
            </a:r>
            <a:r>
              <a:rPr lang="en-GB" sz="1400" dirty="0"/>
              <a:t>.</a:t>
            </a:r>
          </a:p>
          <a:p>
            <a:pPr marL="342900" indent="-342900">
              <a:lnSpc>
                <a:spcPct val="150000"/>
              </a:lnSpc>
              <a:buSzPct val="100000"/>
              <a:buChar char="•"/>
            </a:pPr>
            <a:r>
              <a:rPr lang="en-GB" sz="1400" dirty="0"/>
              <a:t>Architecture Patterns.</a:t>
            </a:r>
          </a:p>
          <a:p>
            <a:pPr marL="342900" indent="-342900">
              <a:lnSpc>
                <a:spcPct val="150000"/>
              </a:lnSpc>
              <a:buSzPct val="100000"/>
              <a:buChar char="•"/>
            </a:pPr>
            <a:r>
              <a:rPr lang="en-GB" sz="1400" dirty="0"/>
              <a:t>Design Patterns </a:t>
            </a:r>
            <a:r>
              <a:rPr lang="en-GB" sz="1400" dirty="0" err="1"/>
              <a:t>GoF</a:t>
            </a:r>
            <a:endParaRPr lang="en-GB" sz="1400" dirty="0"/>
          </a:p>
          <a:p>
            <a:pPr marL="342900" indent="-342900">
              <a:lnSpc>
                <a:spcPct val="150000"/>
              </a:lnSpc>
              <a:buSzPct val="100000"/>
              <a:buChar char="•"/>
            </a:pPr>
            <a:r>
              <a:rPr lang="fr-FR" sz="1400" dirty="0"/>
              <a:t>Focus : les patterns dans Spring</a:t>
            </a:r>
          </a:p>
          <a:p>
            <a:pPr marL="342900" indent="-342900">
              <a:lnSpc>
                <a:spcPct val="150000"/>
              </a:lnSpc>
              <a:buSzPct val="100000"/>
              <a:buChar char="•"/>
            </a:pPr>
            <a:r>
              <a:rPr lang="en-GB" sz="1400" dirty="0"/>
              <a:t>Conclusion</a:t>
            </a:r>
          </a:p>
          <a:p>
            <a:pPr marL="342900" indent="-342900">
              <a:lnSpc>
                <a:spcPct val="150000"/>
              </a:lnSpc>
              <a:buSzPct val="100000"/>
              <a:buChar char="•"/>
            </a:pPr>
            <a:r>
              <a:rPr lang="en-GB" sz="1400" dirty="0" err="1"/>
              <a:t>Prochaine</a:t>
            </a:r>
            <a:r>
              <a:rPr lang="en-GB" sz="1400" dirty="0"/>
              <a:t> séance</a:t>
            </a:r>
          </a:p>
          <a:p>
            <a:pPr>
              <a:lnSpc>
                <a:spcPct val="125000"/>
              </a:lnSpc>
              <a:buSzPct val="100000"/>
            </a:pPr>
            <a:endParaRPr lang="en-US" sz="1400" dirty="0"/>
          </a:p>
        </p:txBody>
      </p:sp>
      <p:sp>
        <p:nvSpPr>
          <p:cNvPr id="12" name="Shape 5">
            <a:extLst>
              <a:ext uri="{FF2B5EF4-FFF2-40B4-BE49-F238E27FC236}">
                <a16:creationId xmlns:a16="http://schemas.microsoft.com/office/drawing/2014/main" id="{EB414CEB-2A23-3413-E86A-6721FF5DBFB7}"/>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3888C09F-895B-BD3E-B528-D7766E3A14EC}"/>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sp>
        <p:nvSpPr>
          <p:cNvPr id="17" name="Text 7">
            <a:extLst>
              <a:ext uri="{FF2B5EF4-FFF2-40B4-BE49-F238E27FC236}">
                <a16:creationId xmlns:a16="http://schemas.microsoft.com/office/drawing/2014/main" id="{3B1995AF-36D7-3159-A55D-742B84A7A014}"/>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2</a:t>
            </a:r>
            <a:endParaRPr lang="en-US" sz="900" dirty="0"/>
          </a:p>
        </p:txBody>
      </p:sp>
      <p:pic>
        <p:nvPicPr>
          <p:cNvPr id="18" name="object 2">
            <a:extLst>
              <a:ext uri="{FF2B5EF4-FFF2-40B4-BE49-F238E27FC236}">
                <a16:creationId xmlns:a16="http://schemas.microsoft.com/office/drawing/2014/main" id="{D8726707-004F-078C-9DFC-929DBABA21C8}"/>
              </a:ext>
            </a:extLst>
          </p:cNvPr>
          <p:cNvPicPr/>
          <p:nvPr/>
        </p:nvPicPr>
        <p:blipFill>
          <a:blip r:embed="rId5" cstate="print"/>
          <a:stretch>
            <a:fillRect/>
          </a:stretch>
        </p:blipFill>
        <p:spPr>
          <a:xfrm>
            <a:off x="0" y="88479"/>
            <a:ext cx="1591056" cy="537747"/>
          </a:xfrm>
          <a:prstGeom prst="rect">
            <a:avLst/>
          </a:prstGeom>
        </p:spPr>
      </p:pic>
      <p:sp>
        <p:nvSpPr>
          <p:cNvPr id="14" name="TextBox 13">
            <a:extLst>
              <a:ext uri="{FF2B5EF4-FFF2-40B4-BE49-F238E27FC236}">
                <a16:creationId xmlns:a16="http://schemas.microsoft.com/office/drawing/2014/main" id="{D88B045D-E923-40AC-3491-62FD59426EC0}"/>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latin typeface="Calibri"/>
              <a:cs typeface="Calibri"/>
            </a:endParaRPr>
          </a:p>
        </p:txBody>
      </p:sp>
    </p:spTree>
    <p:extLst>
      <p:ext uri="{BB962C8B-B14F-4D97-AF65-F5344CB8AC3E}">
        <p14:creationId xmlns:p14="http://schemas.microsoft.com/office/powerpoint/2010/main" val="1952382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46D66AF-F3F8-3E0B-B2B0-7F3ED0B8170F}"/>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C84ED077-E7C7-158E-95E4-F2CF137B37F1}"/>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E095115B-DF7C-C52C-E55A-D706B2EAA4DB}"/>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7B8FB23D-6821-986E-D08A-0D56ED600632}"/>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FF31B682-FDEC-B682-5AA6-7ABE22EE5746}"/>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B005CDE4-DF76-534E-D17C-9A95800553FA}"/>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1E1A76B1-64E8-5B1A-C885-DDF2455016A4}"/>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A91401D8-98F1-F278-FD50-697919DD1221}"/>
              </a:ext>
            </a:extLst>
          </p:cNvPr>
          <p:cNvSpPr/>
          <p:nvPr/>
        </p:nvSpPr>
        <p:spPr>
          <a:xfrm>
            <a:off x="1993392" y="91440"/>
            <a:ext cx="6400800" cy="411480"/>
          </a:xfrm>
          <a:prstGeom prst="rect">
            <a:avLst/>
          </a:prstGeom>
          <a:noFill/>
          <a:ln/>
        </p:spPr>
        <p:txBody>
          <a:bodyPr wrap="square" lIns="0" tIns="0" rIns="0" bIns="0" rtlCol="0" anchor="ctr"/>
          <a:lstStyle/>
          <a:p>
            <a:r>
              <a:rPr lang="en-GB" b="1" dirty="0" err="1">
                <a:solidFill>
                  <a:srgbClr val="1A1A1A"/>
                </a:solidFill>
                <a:latin typeface="Calibri" pitchFamily="34" charset="0"/>
                <a:ea typeface="Calibri" pitchFamily="34" charset="-122"/>
                <a:cs typeface="Calibri" pitchFamily="34" charset="-120"/>
              </a:rPr>
              <a:t>Objectifs</a:t>
            </a:r>
            <a:r>
              <a:rPr lang="en-GB" b="1" dirty="0">
                <a:solidFill>
                  <a:srgbClr val="1A1A1A"/>
                </a:solidFill>
                <a:latin typeface="Calibri" pitchFamily="34" charset="0"/>
                <a:ea typeface="Calibri" pitchFamily="34" charset="-122"/>
                <a:cs typeface="Calibri" pitchFamily="34" charset="-120"/>
              </a:rPr>
              <a:t> du </a:t>
            </a:r>
            <a:r>
              <a:rPr lang="en-GB" b="1" dirty="0" err="1">
                <a:solidFill>
                  <a:srgbClr val="1A1A1A"/>
                </a:solidFill>
                <a:latin typeface="Calibri" pitchFamily="34" charset="0"/>
                <a:ea typeface="Calibri" pitchFamily="34" charset="-122"/>
                <a:cs typeface="Calibri" pitchFamily="34" charset="-120"/>
              </a:rPr>
              <a:t>cours</a:t>
            </a:r>
            <a:r>
              <a:rPr lang="en-GB" b="1" dirty="0">
                <a:solidFill>
                  <a:srgbClr val="1A1A1A"/>
                </a:solidFill>
                <a:latin typeface="Calibri" pitchFamily="34" charset="0"/>
                <a:ea typeface="Calibri" pitchFamily="34" charset="-122"/>
                <a:cs typeface="Calibri" pitchFamily="34" charset="-120"/>
              </a:rPr>
              <a:t> </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81239101-3C31-B93A-7829-5F2B12EB0E26}"/>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1" name="Text 4">
            <a:extLst>
              <a:ext uri="{FF2B5EF4-FFF2-40B4-BE49-F238E27FC236}">
                <a16:creationId xmlns:a16="http://schemas.microsoft.com/office/drawing/2014/main" id="{4BBD4D96-9CB7-905B-B80B-C41AE8A34B19}"/>
              </a:ext>
            </a:extLst>
          </p:cNvPr>
          <p:cNvSpPr/>
          <p:nvPr/>
        </p:nvSpPr>
        <p:spPr>
          <a:xfrm>
            <a:off x="548640" y="934212"/>
            <a:ext cx="8046720" cy="3954918"/>
          </a:xfrm>
          <a:prstGeom prst="rect">
            <a:avLst/>
          </a:prstGeom>
          <a:noFill/>
          <a:ln/>
        </p:spPr>
        <p:txBody>
          <a:bodyPr wrap="square" rtlCol="0" anchor="t"/>
          <a:lstStyle/>
          <a:p>
            <a:pPr>
              <a:lnSpc>
                <a:spcPct val="150000"/>
              </a:lnSpc>
            </a:pPr>
            <a:r>
              <a:rPr lang="fr-FR" sz="1400" dirty="0"/>
              <a:t>À l'issue de cette séance, l'apprenant sera capable de :</a:t>
            </a:r>
            <a:endParaRPr lang="en-US" sz="1400" dirty="0"/>
          </a:p>
          <a:p>
            <a:pPr marL="285750" indent="-285750">
              <a:lnSpc>
                <a:spcPct val="150000"/>
              </a:lnSpc>
              <a:buFont typeface="Arial" panose="020B0604020202020204" pitchFamily="34" charset="0"/>
              <a:buChar char="•"/>
            </a:pPr>
            <a:r>
              <a:rPr lang="fr-FR" sz="1400" dirty="0"/>
              <a:t>Identifier et comparer les principaux styles architecturaux utilisés dans le développement d'applications d'entreprise.</a:t>
            </a:r>
          </a:p>
          <a:p>
            <a:pPr marL="285750" indent="-285750">
              <a:lnSpc>
                <a:spcPct val="150000"/>
              </a:lnSpc>
              <a:buFont typeface="Arial" panose="020B0604020202020204" pitchFamily="34" charset="0"/>
              <a:buChar char="•"/>
            </a:pPr>
            <a:r>
              <a:rPr lang="fr-FR" sz="1400" dirty="0"/>
              <a:t>Distinguer les architecture patterns (</a:t>
            </a:r>
            <a:r>
              <a:rPr lang="fr-FR" sz="1400" dirty="0" err="1"/>
              <a:t>Layered</a:t>
            </a:r>
            <a:r>
              <a:rPr lang="fr-FR" sz="1400" dirty="0"/>
              <a:t>, MVC, Event-Driven) et les appliquer dans un contexte Spring Boot.</a:t>
            </a:r>
          </a:p>
          <a:p>
            <a:pPr marL="285750" indent="-285750">
              <a:lnSpc>
                <a:spcPct val="150000"/>
              </a:lnSpc>
              <a:buFont typeface="Arial" panose="020B0604020202020204" pitchFamily="34" charset="0"/>
              <a:buChar char="•"/>
            </a:pPr>
            <a:r>
              <a:rPr lang="fr-FR" sz="1400" dirty="0"/>
              <a:t>Reconnaître les trois familles de Design Patterns </a:t>
            </a:r>
            <a:r>
              <a:rPr lang="fr-FR" sz="1400" dirty="0" err="1"/>
              <a:t>GoF</a:t>
            </a:r>
            <a:r>
              <a:rPr lang="fr-FR" sz="1400" dirty="0"/>
              <a:t> et comprendre leur rôle dans la conception logicielle.</a:t>
            </a:r>
          </a:p>
          <a:p>
            <a:pPr marL="285750" indent="-285750">
              <a:lnSpc>
                <a:spcPct val="150000"/>
              </a:lnSpc>
              <a:buFont typeface="Arial" panose="020B0604020202020204" pitchFamily="34" charset="0"/>
              <a:buChar char="•"/>
            </a:pPr>
            <a:r>
              <a:rPr lang="fr-FR" sz="1400" dirty="0"/>
              <a:t>Identifier les patterns qui seront utilisés concrètement dans le </a:t>
            </a:r>
            <a:r>
              <a:rPr lang="fr-FR" sz="1400" dirty="0" err="1"/>
              <a:t>framework</a:t>
            </a:r>
            <a:r>
              <a:rPr lang="fr-FR" sz="1400" dirty="0"/>
              <a:t> Spring tout au long du module.</a:t>
            </a:r>
          </a:p>
          <a:p>
            <a:pPr>
              <a:lnSpc>
                <a:spcPct val="125000"/>
              </a:lnSpc>
              <a:buSzPct val="100000"/>
            </a:pPr>
            <a:endParaRPr lang="en-US" sz="1400" dirty="0"/>
          </a:p>
        </p:txBody>
      </p:sp>
      <p:sp>
        <p:nvSpPr>
          <p:cNvPr id="12" name="Shape 5">
            <a:extLst>
              <a:ext uri="{FF2B5EF4-FFF2-40B4-BE49-F238E27FC236}">
                <a16:creationId xmlns:a16="http://schemas.microsoft.com/office/drawing/2014/main" id="{2AB4F8F7-7C35-E1FE-8570-A3B88E9FD064}"/>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CCE99343-C425-1738-3E1D-ACC6E9BF566C}"/>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sp>
        <p:nvSpPr>
          <p:cNvPr id="17" name="Text 7">
            <a:extLst>
              <a:ext uri="{FF2B5EF4-FFF2-40B4-BE49-F238E27FC236}">
                <a16:creationId xmlns:a16="http://schemas.microsoft.com/office/drawing/2014/main" id="{E0E93314-6FEA-D808-100A-7F6CFD60990F}"/>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3</a:t>
            </a:r>
            <a:endParaRPr lang="en-US" sz="900" dirty="0"/>
          </a:p>
        </p:txBody>
      </p:sp>
      <p:pic>
        <p:nvPicPr>
          <p:cNvPr id="18" name="object 2">
            <a:extLst>
              <a:ext uri="{FF2B5EF4-FFF2-40B4-BE49-F238E27FC236}">
                <a16:creationId xmlns:a16="http://schemas.microsoft.com/office/drawing/2014/main" id="{5FF3FE07-FE94-C2E1-484B-30D2C2CD9F83}"/>
              </a:ext>
            </a:extLst>
          </p:cNvPr>
          <p:cNvPicPr/>
          <p:nvPr/>
        </p:nvPicPr>
        <p:blipFill>
          <a:blip r:embed="rId5" cstate="print"/>
          <a:stretch>
            <a:fillRect/>
          </a:stretch>
        </p:blipFill>
        <p:spPr>
          <a:xfrm>
            <a:off x="0" y="88479"/>
            <a:ext cx="1591056" cy="537747"/>
          </a:xfrm>
          <a:prstGeom prst="rect">
            <a:avLst/>
          </a:prstGeom>
        </p:spPr>
      </p:pic>
      <p:sp>
        <p:nvSpPr>
          <p:cNvPr id="7" name="TextBox 6">
            <a:extLst>
              <a:ext uri="{FF2B5EF4-FFF2-40B4-BE49-F238E27FC236}">
                <a16:creationId xmlns:a16="http://schemas.microsoft.com/office/drawing/2014/main" id="{03174ED7-9B6F-72D2-1DAF-BB636C2BB511}"/>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Tree>
    <p:extLst>
      <p:ext uri="{BB962C8B-B14F-4D97-AF65-F5344CB8AC3E}">
        <p14:creationId xmlns:p14="http://schemas.microsoft.com/office/powerpoint/2010/main" val="4094115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3C5E32D-BBA7-CE4B-D223-C135F0BDAE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113FEF46-FE79-A49A-7727-3E4640D87E76}"/>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154D2F38-1ACC-F1A4-7EA2-E73C59828FE7}"/>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A5135BE6-2E82-613A-6F2C-1E6ADB78304A}"/>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C8495289-1E0C-811C-4C8B-ED67CECD6C4A}"/>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457BEAEF-314F-66B6-F0FC-08B066DE5A6C}"/>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2F6243ED-4854-CF95-C535-C71AE1BD1D37}"/>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1F985506-BA90-D98F-24EF-B6B484A88D04}"/>
              </a:ext>
            </a:extLst>
          </p:cNvPr>
          <p:cNvSpPr/>
          <p:nvPr/>
        </p:nvSpPr>
        <p:spPr>
          <a:xfrm>
            <a:off x="1993392" y="91440"/>
            <a:ext cx="6400800" cy="411480"/>
          </a:xfrm>
          <a:prstGeom prst="rect">
            <a:avLst/>
          </a:prstGeom>
          <a:noFill/>
          <a:ln/>
        </p:spPr>
        <p:txBody>
          <a:bodyPr wrap="square" lIns="0" tIns="0" rIns="0" bIns="0" rtlCol="0" anchor="ctr"/>
          <a:lstStyle/>
          <a:p>
            <a:r>
              <a:rPr lang="en-GB" b="1" dirty="0" err="1">
                <a:solidFill>
                  <a:srgbClr val="1A1A1A"/>
                </a:solidFill>
                <a:latin typeface="Calibri" pitchFamily="34" charset="0"/>
                <a:ea typeface="Calibri" pitchFamily="34" charset="-122"/>
                <a:cs typeface="Calibri" pitchFamily="34" charset="-120"/>
              </a:rPr>
              <a:t>Prérequis</a:t>
            </a:r>
            <a:r>
              <a:rPr lang="en-GB" b="1" dirty="0">
                <a:solidFill>
                  <a:srgbClr val="1A1A1A"/>
                </a:solidFill>
                <a:latin typeface="Calibri" pitchFamily="34" charset="0"/>
                <a:ea typeface="Calibri" pitchFamily="34" charset="-122"/>
                <a:cs typeface="Calibri" pitchFamily="34" charset="-120"/>
              </a:rPr>
              <a:t> </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1FC3E0C7-7BB6-F74E-ED61-040223405F1D}"/>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1" name="Text 4">
            <a:extLst>
              <a:ext uri="{FF2B5EF4-FFF2-40B4-BE49-F238E27FC236}">
                <a16:creationId xmlns:a16="http://schemas.microsoft.com/office/drawing/2014/main" id="{2CB5E03E-CA29-C36E-A3BD-CF8FB48E6C0B}"/>
              </a:ext>
            </a:extLst>
          </p:cNvPr>
          <p:cNvSpPr/>
          <p:nvPr/>
        </p:nvSpPr>
        <p:spPr>
          <a:xfrm>
            <a:off x="658368" y="938784"/>
            <a:ext cx="8046720" cy="3954918"/>
          </a:xfrm>
          <a:prstGeom prst="rect">
            <a:avLst/>
          </a:prstGeom>
          <a:noFill/>
          <a:ln/>
        </p:spPr>
        <p:txBody>
          <a:bodyPr wrap="square" rtlCol="0" anchor="t"/>
          <a:lstStyle/>
          <a:p>
            <a:pPr>
              <a:lnSpc>
                <a:spcPct val="200000"/>
              </a:lnSpc>
            </a:pPr>
            <a:r>
              <a:rPr lang="fr-FR" sz="1400" dirty="0"/>
              <a:t>Ce cours suppose que l'apprenant possède déjà les bases suivantes :</a:t>
            </a:r>
          </a:p>
          <a:p>
            <a:pPr marL="285750" indent="-285750">
              <a:lnSpc>
                <a:spcPct val="200000"/>
              </a:lnSpc>
              <a:buFont typeface="Arial" panose="020B0604020202020204" pitchFamily="34" charset="0"/>
              <a:buChar char="•"/>
            </a:pPr>
            <a:r>
              <a:rPr lang="fr-FR" sz="1400" dirty="0"/>
              <a:t>Bonne maîtrise de la programmation orientée objet en Java.</a:t>
            </a:r>
          </a:p>
          <a:p>
            <a:pPr marL="285750" indent="-285750">
              <a:lnSpc>
                <a:spcPct val="200000"/>
              </a:lnSpc>
              <a:buFont typeface="Arial" panose="020B0604020202020204" pitchFamily="34" charset="0"/>
              <a:buChar char="•"/>
            </a:pPr>
            <a:r>
              <a:rPr lang="fr-FR" sz="1400" dirty="0"/>
              <a:t>Connaissance des concepts de base UML (diagramme de classes).</a:t>
            </a:r>
          </a:p>
          <a:p>
            <a:pPr marL="285750" indent="-285750">
              <a:lnSpc>
                <a:spcPct val="200000"/>
              </a:lnSpc>
              <a:buFont typeface="Arial" panose="020B0604020202020204" pitchFamily="34" charset="0"/>
              <a:buChar char="•"/>
            </a:pPr>
            <a:r>
              <a:rPr lang="fr-FR" sz="1400" dirty="0"/>
              <a:t>Notions de base en développement web (client/serveur).</a:t>
            </a:r>
          </a:p>
        </p:txBody>
      </p:sp>
      <p:sp>
        <p:nvSpPr>
          <p:cNvPr id="12" name="Shape 5">
            <a:extLst>
              <a:ext uri="{FF2B5EF4-FFF2-40B4-BE49-F238E27FC236}">
                <a16:creationId xmlns:a16="http://schemas.microsoft.com/office/drawing/2014/main" id="{F3CEF723-0645-E89E-FD89-ACA91946F691}"/>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C9480C92-D481-3953-7586-C3CE098EF297}"/>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sp>
        <p:nvSpPr>
          <p:cNvPr id="17" name="Text 7">
            <a:extLst>
              <a:ext uri="{FF2B5EF4-FFF2-40B4-BE49-F238E27FC236}">
                <a16:creationId xmlns:a16="http://schemas.microsoft.com/office/drawing/2014/main" id="{1E233D75-CE3B-E04E-157D-D02B559BCDE9}"/>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4</a:t>
            </a:r>
            <a:endParaRPr lang="en-US" sz="900" dirty="0"/>
          </a:p>
        </p:txBody>
      </p:sp>
      <p:pic>
        <p:nvPicPr>
          <p:cNvPr id="18" name="object 2">
            <a:extLst>
              <a:ext uri="{FF2B5EF4-FFF2-40B4-BE49-F238E27FC236}">
                <a16:creationId xmlns:a16="http://schemas.microsoft.com/office/drawing/2014/main" id="{7FA94C77-EB4C-F5E3-61B6-61B6CE98CDBF}"/>
              </a:ext>
            </a:extLst>
          </p:cNvPr>
          <p:cNvPicPr/>
          <p:nvPr/>
        </p:nvPicPr>
        <p:blipFill>
          <a:blip r:embed="rId5" cstate="print"/>
          <a:stretch>
            <a:fillRect/>
          </a:stretch>
        </p:blipFill>
        <p:spPr>
          <a:xfrm>
            <a:off x="0" y="88479"/>
            <a:ext cx="1591056" cy="537747"/>
          </a:xfrm>
          <a:prstGeom prst="rect">
            <a:avLst/>
          </a:prstGeom>
        </p:spPr>
      </p:pic>
      <p:pic>
        <p:nvPicPr>
          <p:cNvPr id="2052" name="Picture 4">
            <a:extLst>
              <a:ext uri="{FF2B5EF4-FFF2-40B4-BE49-F238E27FC236}">
                <a16:creationId xmlns:a16="http://schemas.microsoft.com/office/drawing/2014/main" id="{A1361F7A-927C-367E-1E1C-E195E7DA9C4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1720" y="2961858"/>
            <a:ext cx="737211" cy="1371162"/>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a:extLst>
              <a:ext uri="{FF2B5EF4-FFF2-40B4-BE49-F238E27FC236}">
                <a16:creationId xmlns:a16="http://schemas.microsoft.com/office/drawing/2014/main" id="{9842C42F-67E2-730F-5DD2-146261446B8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94884" y="3069803"/>
            <a:ext cx="1797048" cy="127749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815F202-AC77-F89A-6928-28F0B0742EB3}"/>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Tree>
    <p:extLst>
      <p:ext uri="{BB962C8B-B14F-4D97-AF65-F5344CB8AC3E}">
        <p14:creationId xmlns:p14="http://schemas.microsoft.com/office/powerpoint/2010/main" val="2918071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0C62045-9D83-321B-1D8C-BED1FC821D0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D966879C-1D64-BA05-53CE-F1DCC8D8B4B7}"/>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F3426EB4-E640-EF27-A5C6-E7973CEAF96B}"/>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4F1F93C5-FD1F-E071-118C-72DC6B9618A0}"/>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6F5EC7AE-086D-DAC6-C5E1-B646D679F7AD}"/>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BA3C4D8C-C1DA-25C5-466C-58F436A4CA9E}"/>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AF09BE8E-F769-33D3-D0ED-1EE080F78440}"/>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015B125B-8F05-B8BB-2CDF-ABB64E2FB72E}"/>
              </a:ext>
            </a:extLst>
          </p:cNvPr>
          <p:cNvSpPr/>
          <p:nvPr/>
        </p:nvSpPr>
        <p:spPr>
          <a:xfrm>
            <a:off x="1993392" y="91440"/>
            <a:ext cx="6400800" cy="411480"/>
          </a:xfrm>
          <a:prstGeom prst="rect">
            <a:avLst/>
          </a:prstGeom>
          <a:noFill/>
          <a:ln/>
        </p:spPr>
        <p:txBody>
          <a:bodyPr wrap="square" lIns="0" tIns="0" rIns="0" bIns="0" rtlCol="0" anchor="ctr"/>
          <a:lstStyle/>
          <a:p>
            <a:r>
              <a:rPr lang="en-GB" b="1" dirty="0" err="1">
                <a:solidFill>
                  <a:srgbClr val="1A1A1A"/>
                </a:solidFill>
                <a:latin typeface="Calibri" pitchFamily="34" charset="0"/>
                <a:ea typeface="Calibri" pitchFamily="34" charset="-122"/>
                <a:cs typeface="Calibri" pitchFamily="34" charset="-120"/>
              </a:rPr>
              <a:t>Horaires</a:t>
            </a:r>
            <a:r>
              <a:rPr lang="en-GB" b="1" dirty="0">
                <a:solidFill>
                  <a:srgbClr val="1A1A1A"/>
                </a:solidFill>
                <a:latin typeface="Calibri" pitchFamily="34" charset="0"/>
                <a:ea typeface="Calibri" pitchFamily="34" charset="-122"/>
                <a:cs typeface="Calibri" pitchFamily="34" charset="-120"/>
              </a:rPr>
              <a:t> </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A854F108-DEEC-FA02-57BA-579A05C3EA41}"/>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C595878A-9F44-9455-150A-2FC7AA433337}"/>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D8401C2D-8D8E-E68C-E95D-9FDCF3B51875}"/>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sp>
        <p:nvSpPr>
          <p:cNvPr id="17" name="Text 7">
            <a:extLst>
              <a:ext uri="{FF2B5EF4-FFF2-40B4-BE49-F238E27FC236}">
                <a16:creationId xmlns:a16="http://schemas.microsoft.com/office/drawing/2014/main" id="{E3EAB1EC-AE70-E832-CA52-CEA0689B5499}"/>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5</a:t>
            </a:r>
            <a:endParaRPr lang="en-US" sz="900" dirty="0"/>
          </a:p>
        </p:txBody>
      </p:sp>
      <p:pic>
        <p:nvPicPr>
          <p:cNvPr id="18" name="object 2">
            <a:extLst>
              <a:ext uri="{FF2B5EF4-FFF2-40B4-BE49-F238E27FC236}">
                <a16:creationId xmlns:a16="http://schemas.microsoft.com/office/drawing/2014/main" id="{B3FEDB13-5B16-B96E-B757-5BC6C5ABEE2E}"/>
              </a:ext>
            </a:extLst>
          </p:cNvPr>
          <p:cNvPicPr/>
          <p:nvPr/>
        </p:nvPicPr>
        <p:blipFill>
          <a:blip r:embed="rId5" cstate="print"/>
          <a:stretch>
            <a:fillRect/>
          </a:stretch>
        </p:blipFill>
        <p:spPr>
          <a:xfrm>
            <a:off x="0" y="88479"/>
            <a:ext cx="1591056" cy="537747"/>
          </a:xfrm>
          <a:prstGeom prst="rect">
            <a:avLst/>
          </a:prstGeom>
        </p:spPr>
      </p:pic>
      <p:pic>
        <p:nvPicPr>
          <p:cNvPr id="21" name="Picture 20">
            <a:extLst>
              <a:ext uri="{FF2B5EF4-FFF2-40B4-BE49-F238E27FC236}">
                <a16:creationId xmlns:a16="http://schemas.microsoft.com/office/drawing/2014/main" id="{6646AF41-32D3-3BD8-F3ED-130AE4CFA46F}"/>
              </a:ext>
            </a:extLst>
          </p:cNvPr>
          <p:cNvPicPr>
            <a:picLocks noChangeAspect="1"/>
          </p:cNvPicPr>
          <p:nvPr/>
        </p:nvPicPr>
        <p:blipFill>
          <a:blip r:embed="rId6"/>
          <a:srcRect t="11204"/>
          <a:stretch>
            <a:fillRect/>
          </a:stretch>
        </p:blipFill>
        <p:spPr>
          <a:xfrm>
            <a:off x="1363980" y="1220586"/>
            <a:ext cx="6659880" cy="3213978"/>
          </a:xfrm>
          <a:prstGeom prst="rect">
            <a:avLst/>
          </a:prstGeom>
        </p:spPr>
      </p:pic>
      <p:sp>
        <p:nvSpPr>
          <p:cNvPr id="22" name="Text 4">
            <a:extLst>
              <a:ext uri="{FF2B5EF4-FFF2-40B4-BE49-F238E27FC236}">
                <a16:creationId xmlns:a16="http://schemas.microsoft.com/office/drawing/2014/main" id="{B2D9432F-A0A1-8B64-3D63-0046EA456E1C}"/>
              </a:ext>
            </a:extLst>
          </p:cNvPr>
          <p:cNvSpPr/>
          <p:nvPr/>
        </p:nvSpPr>
        <p:spPr>
          <a:xfrm>
            <a:off x="2867024" y="716280"/>
            <a:ext cx="3853815" cy="883782"/>
          </a:xfrm>
          <a:prstGeom prst="rect">
            <a:avLst/>
          </a:prstGeom>
          <a:noFill/>
          <a:ln/>
        </p:spPr>
        <p:txBody>
          <a:bodyPr wrap="square" rtlCol="0" anchor="t"/>
          <a:lstStyle/>
          <a:p>
            <a:pPr>
              <a:lnSpc>
                <a:spcPct val="150000"/>
              </a:lnSpc>
            </a:pPr>
            <a:r>
              <a:rPr lang="fr-FR" sz="1600" b="1" dirty="0"/>
              <a:t>Vue d'ensemble sur l’horaires du module</a:t>
            </a:r>
            <a:endParaRPr lang="en-US" sz="1600" b="1" dirty="0"/>
          </a:p>
        </p:txBody>
      </p:sp>
      <p:sp>
        <p:nvSpPr>
          <p:cNvPr id="7" name="TextBox 6">
            <a:extLst>
              <a:ext uri="{FF2B5EF4-FFF2-40B4-BE49-F238E27FC236}">
                <a16:creationId xmlns:a16="http://schemas.microsoft.com/office/drawing/2014/main" id="{93BCE7AF-C055-0A5F-699F-F9BB7195779E}"/>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Tree>
    <p:extLst>
      <p:ext uri="{BB962C8B-B14F-4D97-AF65-F5344CB8AC3E}">
        <p14:creationId xmlns:p14="http://schemas.microsoft.com/office/powerpoint/2010/main" val="1415826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BE2B63C-D1FE-3905-8B1B-3C0FB785FA90}"/>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CFF643CD-220A-57E1-FCB3-BED50E6E84B6}"/>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A843F460-AD7D-3B83-ADBB-377FF1AE4B31}"/>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932778D4-979F-09DB-0F6F-D000641A53F6}"/>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ADF0A3CD-8355-7F4D-194D-65062E3DD4A2}"/>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08D327E2-7239-9C5F-3A1B-F33D7AAF47D5}"/>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8E1B59E2-A0CC-CD3E-47E0-6D3126480442}"/>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8A6D7F33-5744-3B50-5835-F7C0FB356566}"/>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Evaluations </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9F4B8285-F744-BA01-A404-6D2FA765BE0A}"/>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01A38AAC-E782-64F5-693F-08E014BAA2DF}"/>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C5AA6194-E6E9-5CA1-52F2-8B4F5E0DD7FE}"/>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sp>
        <p:nvSpPr>
          <p:cNvPr id="17" name="Text 7">
            <a:extLst>
              <a:ext uri="{FF2B5EF4-FFF2-40B4-BE49-F238E27FC236}">
                <a16:creationId xmlns:a16="http://schemas.microsoft.com/office/drawing/2014/main" id="{D26376A3-557D-B2E8-865D-C4BF9BE8A057}"/>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6</a:t>
            </a:r>
            <a:endParaRPr lang="en-US" sz="900" dirty="0"/>
          </a:p>
        </p:txBody>
      </p:sp>
      <p:pic>
        <p:nvPicPr>
          <p:cNvPr id="18" name="object 2">
            <a:extLst>
              <a:ext uri="{FF2B5EF4-FFF2-40B4-BE49-F238E27FC236}">
                <a16:creationId xmlns:a16="http://schemas.microsoft.com/office/drawing/2014/main" id="{BE849600-1510-9222-4B82-627D2CB6362D}"/>
              </a:ext>
            </a:extLst>
          </p:cNvPr>
          <p:cNvPicPr/>
          <p:nvPr/>
        </p:nvPicPr>
        <p:blipFill>
          <a:blip r:embed="rId5" cstate="print"/>
          <a:stretch>
            <a:fillRect/>
          </a:stretch>
        </p:blipFill>
        <p:spPr>
          <a:xfrm>
            <a:off x="0" y="88479"/>
            <a:ext cx="1591056" cy="537747"/>
          </a:xfrm>
          <a:prstGeom prst="rect">
            <a:avLst/>
          </a:prstGeom>
        </p:spPr>
      </p:pic>
      <p:pic>
        <p:nvPicPr>
          <p:cNvPr id="40" name="Picture 39">
            <a:extLst>
              <a:ext uri="{FF2B5EF4-FFF2-40B4-BE49-F238E27FC236}">
                <a16:creationId xmlns:a16="http://schemas.microsoft.com/office/drawing/2014/main" id="{A37AE616-E22A-78B1-F8AA-39555D2D60A1}"/>
              </a:ext>
            </a:extLst>
          </p:cNvPr>
          <p:cNvPicPr>
            <a:picLocks noChangeAspect="1"/>
          </p:cNvPicPr>
          <p:nvPr/>
        </p:nvPicPr>
        <p:blipFill>
          <a:blip r:embed="rId6"/>
          <a:srcRect t="9236" b="64663"/>
          <a:stretch>
            <a:fillRect/>
          </a:stretch>
        </p:blipFill>
        <p:spPr>
          <a:xfrm>
            <a:off x="1792224" y="1030777"/>
            <a:ext cx="5550766" cy="1102336"/>
          </a:xfrm>
          <a:prstGeom prst="rect">
            <a:avLst/>
          </a:prstGeom>
        </p:spPr>
      </p:pic>
      <p:sp>
        <p:nvSpPr>
          <p:cNvPr id="43" name="Text 4">
            <a:extLst>
              <a:ext uri="{FF2B5EF4-FFF2-40B4-BE49-F238E27FC236}">
                <a16:creationId xmlns:a16="http://schemas.microsoft.com/office/drawing/2014/main" id="{39BD30D0-9A5C-EFA9-6296-AC4B459125E0}"/>
              </a:ext>
            </a:extLst>
          </p:cNvPr>
          <p:cNvSpPr/>
          <p:nvPr/>
        </p:nvSpPr>
        <p:spPr>
          <a:xfrm>
            <a:off x="3434077" y="560070"/>
            <a:ext cx="2267059" cy="737577"/>
          </a:xfrm>
          <a:prstGeom prst="rect">
            <a:avLst/>
          </a:prstGeom>
          <a:noFill/>
          <a:ln/>
        </p:spPr>
        <p:txBody>
          <a:bodyPr wrap="square" rtlCol="0" anchor="t"/>
          <a:lstStyle/>
          <a:p>
            <a:pPr>
              <a:lnSpc>
                <a:spcPct val="150000"/>
              </a:lnSpc>
            </a:pPr>
            <a:r>
              <a:rPr lang="fr-FR" sz="1600" b="1" dirty="0"/>
              <a:t>Structure &amp; Pondération</a:t>
            </a:r>
          </a:p>
          <a:p>
            <a:pPr>
              <a:lnSpc>
                <a:spcPct val="150000"/>
              </a:lnSpc>
            </a:pPr>
            <a:endParaRPr lang="en-US" sz="1600" b="1" dirty="0"/>
          </a:p>
        </p:txBody>
      </p:sp>
      <p:pic>
        <p:nvPicPr>
          <p:cNvPr id="44" name="Picture 43">
            <a:extLst>
              <a:ext uri="{FF2B5EF4-FFF2-40B4-BE49-F238E27FC236}">
                <a16:creationId xmlns:a16="http://schemas.microsoft.com/office/drawing/2014/main" id="{25D91558-442A-7EC0-7611-406C81CEB8A0}"/>
              </a:ext>
            </a:extLst>
          </p:cNvPr>
          <p:cNvPicPr>
            <a:picLocks noGrp="1" noRot="1" noChangeAspect="1" noMove="1" noResize="1" noEditPoints="1" noAdjustHandles="1" noChangeArrowheads="1" noChangeShapeType="1" noCrop="1"/>
          </p:cNvPicPr>
          <p:nvPr/>
        </p:nvPicPr>
        <p:blipFill>
          <a:blip r:embed="rId6"/>
          <a:srcRect l="68349" t="39362" r="22591" b="51637"/>
          <a:stretch>
            <a:fillRect/>
          </a:stretch>
        </p:blipFill>
        <p:spPr>
          <a:xfrm>
            <a:off x="6426926" y="1605425"/>
            <a:ext cx="502920" cy="380129"/>
          </a:xfrm>
          <a:prstGeom prst="rect">
            <a:avLst/>
          </a:prstGeom>
        </p:spPr>
      </p:pic>
      <p:pic>
        <p:nvPicPr>
          <p:cNvPr id="49" name="Picture 48">
            <a:extLst>
              <a:ext uri="{FF2B5EF4-FFF2-40B4-BE49-F238E27FC236}">
                <a16:creationId xmlns:a16="http://schemas.microsoft.com/office/drawing/2014/main" id="{73C00322-E3E5-833D-5F2C-62F9B678ACE4}"/>
              </a:ext>
            </a:extLst>
          </p:cNvPr>
          <p:cNvPicPr>
            <a:picLocks noGrp="1" noRot="1" noChangeAspect="1" noMove="1" noResize="1" noEditPoints="1" noAdjustHandles="1" noChangeArrowheads="1" noChangeShapeType="1" noCrop="1"/>
          </p:cNvPicPr>
          <p:nvPr/>
        </p:nvPicPr>
        <p:blipFill>
          <a:blip r:embed="rId7"/>
          <a:stretch>
            <a:fillRect/>
          </a:stretch>
        </p:blipFill>
        <p:spPr>
          <a:xfrm>
            <a:off x="5504449" y="2293132"/>
            <a:ext cx="695422" cy="314369"/>
          </a:xfrm>
          <a:prstGeom prst="rect">
            <a:avLst/>
          </a:prstGeom>
        </p:spPr>
      </p:pic>
      <p:sp>
        <p:nvSpPr>
          <p:cNvPr id="7" name="TextBox 6">
            <a:extLst>
              <a:ext uri="{FF2B5EF4-FFF2-40B4-BE49-F238E27FC236}">
                <a16:creationId xmlns:a16="http://schemas.microsoft.com/office/drawing/2014/main" id="{BAA8586D-3FA7-3E85-3225-1DB8C49489A5}"/>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pic>
        <p:nvPicPr>
          <p:cNvPr id="21" name="Picture 20">
            <a:extLst>
              <a:ext uri="{FF2B5EF4-FFF2-40B4-BE49-F238E27FC236}">
                <a16:creationId xmlns:a16="http://schemas.microsoft.com/office/drawing/2014/main" id="{3C5917AA-0F12-C303-39D8-B8A32F9C53F8}"/>
              </a:ext>
            </a:extLst>
          </p:cNvPr>
          <p:cNvPicPr>
            <a:picLocks noChangeAspect="1"/>
          </p:cNvPicPr>
          <p:nvPr/>
        </p:nvPicPr>
        <p:blipFill>
          <a:blip r:embed="rId6"/>
          <a:srcRect t="54194"/>
          <a:stretch>
            <a:fillRect/>
          </a:stretch>
        </p:blipFill>
        <p:spPr>
          <a:xfrm>
            <a:off x="1792224" y="2571750"/>
            <a:ext cx="5550766" cy="1934609"/>
          </a:xfrm>
          <a:prstGeom prst="rect">
            <a:avLst/>
          </a:prstGeom>
        </p:spPr>
      </p:pic>
      <p:pic>
        <p:nvPicPr>
          <p:cNvPr id="23" name="Picture 22">
            <a:extLst>
              <a:ext uri="{FF2B5EF4-FFF2-40B4-BE49-F238E27FC236}">
                <a16:creationId xmlns:a16="http://schemas.microsoft.com/office/drawing/2014/main" id="{F2250BF0-6C2C-7A1A-BD1A-39ABCC8266F2}"/>
              </a:ext>
            </a:extLst>
          </p:cNvPr>
          <p:cNvPicPr>
            <a:picLocks noChangeAspect="1"/>
          </p:cNvPicPr>
          <p:nvPr/>
        </p:nvPicPr>
        <p:blipFill>
          <a:blip r:embed="rId6"/>
          <a:srcRect l="38430" t="29018" r="54382" b="67193"/>
          <a:stretch>
            <a:fillRect/>
          </a:stretch>
        </p:blipFill>
        <p:spPr>
          <a:xfrm>
            <a:off x="2638697" y="1985554"/>
            <a:ext cx="1295127" cy="107565"/>
          </a:xfrm>
          <a:prstGeom prst="rect">
            <a:avLst/>
          </a:prstGeom>
        </p:spPr>
      </p:pic>
    </p:spTree>
    <p:extLst>
      <p:ext uri="{BB962C8B-B14F-4D97-AF65-F5344CB8AC3E}">
        <p14:creationId xmlns:p14="http://schemas.microsoft.com/office/powerpoint/2010/main" val="1897113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6219BA7A-853A-2D8F-B36B-EE12409F9732}"/>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D100C44F-515D-2F3C-D2CB-284389E2D8BF}"/>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9D0F522F-8044-B6B3-42F7-58C59E2427C8}"/>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E0B6000D-CB77-113F-2E57-3985E4757135}"/>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C90DC68D-9FEC-16FD-AFCD-B60BE0904E62}"/>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178288EB-0E1F-5C91-FA69-2A17927AC037}"/>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7265F404-8141-A21C-87E5-BE34A9B5B906}"/>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53223475-C4A9-CC2C-9E29-29742949A3B6}"/>
              </a:ext>
            </a:extLst>
          </p:cNvPr>
          <p:cNvSpPr/>
          <p:nvPr/>
        </p:nvSpPr>
        <p:spPr>
          <a:xfrm>
            <a:off x="1993392" y="91440"/>
            <a:ext cx="6400800" cy="411480"/>
          </a:xfrm>
          <a:prstGeom prst="rect">
            <a:avLst/>
          </a:prstGeom>
          <a:noFill/>
          <a:ln/>
        </p:spPr>
        <p:txBody>
          <a:bodyPr wrap="square" lIns="0" tIns="0" rIns="0" bIns="0" rtlCol="0" anchor="ctr"/>
          <a:lstStyle/>
          <a:p>
            <a:r>
              <a:rPr lang="fr-FR" b="1" dirty="0">
                <a:solidFill>
                  <a:srgbClr val="1E2A38"/>
                </a:solidFill>
                <a:latin typeface="Cambria" pitchFamily="34" charset="0"/>
                <a:ea typeface="Cambria" pitchFamily="34" charset="-122"/>
                <a:cs typeface="Cambria" pitchFamily="34" charset="-120"/>
              </a:rPr>
              <a:t>Qu'est-ce qu'un système d'information ?</a:t>
            </a:r>
            <a:endParaRPr lang="fr-FR" dirty="0"/>
          </a:p>
        </p:txBody>
      </p:sp>
      <p:sp>
        <p:nvSpPr>
          <p:cNvPr id="10" name="Shape 3">
            <a:extLst>
              <a:ext uri="{FF2B5EF4-FFF2-40B4-BE49-F238E27FC236}">
                <a16:creationId xmlns:a16="http://schemas.microsoft.com/office/drawing/2014/main" id="{DBB2592D-AB89-B02E-3A56-9C8C621CD84A}"/>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FE59F15C-F42E-28F2-5860-CBA3D2903680}"/>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178367BD-132B-0BFE-96EC-9DDEB0A19856}"/>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F1AE6FF6-7F37-D573-BBAB-6A52FE7F4362}"/>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7</a:t>
            </a:r>
            <a:endParaRPr lang="en-US" sz="900" dirty="0"/>
          </a:p>
        </p:txBody>
      </p:sp>
      <p:pic>
        <p:nvPicPr>
          <p:cNvPr id="18" name="object 2">
            <a:extLst>
              <a:ext uri="{FF2B5EF4-FFF2-40B4-BE49-F238E27FC236}">
                <a16:creationId xmlns:a16="http://schemas.microsoft.com/office/drawing/2014/main" id="{DAC46139-214E-A323-4EF9-3240DECBB639}"/>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32DA19F3-E46D-B648-5E75-F20F711EC6F4}"/>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7" name="Text 4">
            <a:extLst>
              <a:ext uri="{FF2B5EF4-FFF2-40B4-BE49-F238E27FC236}">
                <a16:creationId xmlns:a16="http://schemas.microsoft.com/office/drawing/2014/main" id="{99A7F1C8-CBD0-6BBC-EBB5-FBDB6CFB2795}"/>
              </a:ext>
            </a:extLst>
          </p:cNvPr>
          <p:cNvSpPr/>
          <p:nvPr/>
        </p:nvSpPr>
        <p:spPr>
          <a:xfrm>
            <a:off x="320040" y="836538"/>
            <a:ext cx="8046720" cy="3954918"/>
          </a:xfrm>
          <a:prstGeom prst="rect">
            <a:avLst/>
          </a:prstGeom>
          <a:noFill/>
          <a:ln/>
        </p:spPr>
        <p:txBody>
          <a:bodyPr wrap="square" rtlCol="0" anchor="t"/>
          <a:lstStyle/>
          <a:p>
            <a:r>
              <a:rPr lang="fr-FR" sz="1400" b="1" dirty="0">
                <a:latin typeface="Calibri" pitchFamily="34" charset="0"/>
                <a:ea typeface="Calibri" pitchFamily="34" charset="-122"/>
                <a:cs typeface="Calibri" pitchFamily="34" charset="-120"/>
              </a:rPr>
              <a:t>Définition</a:t>
            </a:r>
          </a:p>
          <a:p>
            <a:endParaRPr lang="fr-FR" sz="300" dirty="0"/>
          </a:p>
          <a:p>
            <a:r>
              <a:rPr lang="fr-FR" sz="1200" dirty="0">
                <a:solidFill>
                  <a:srgbClr val="1E2A38"/>
                </a:solidFill>
                <a:latin typeface="Calibri" pitchFamily="34" charset="0"/>
                <a:ea typeface="Calibri" pitchFamily="34" charset="-122"/>
                <a:cs typeface="Calibri" pitchFamily="34" charset="-120"/>
              </a:rPr>
              <a:t>Un ensemble organisé de ressources </a:t>
            </a:r>
            <a:r>
              <a:rPr lang="fr-FR" sz="1050" i="1" dirty="0">
                <a:solidFill>
                  <a:srgbClr val="1E2A38"/>
                </a:solidFill>
                <a:latin typeface="Calibri" pitchFamily="34" charset="0"/>
                <a:ea typeface="Calibri" pitchFamily="34" charset="-122"/>
                <a:cs typeface="Calibri" pitchFamily="34" charset="-120"/>
              </a:rPr>
              <a:t>(personnes, matériel, logiciels, données, procédures) </a:t>
            </a:r>
            <a:r>
              <a:rPr lang="fr-FR" sz="1200" dirty="0">
                <a:solidFill>
                  <a:srgbClr val="1E2A38"/>
                </a:solidFill>
                <a:latin typeface="Calibri" pitchFamily="34" charset="0"/>
                <a:ea typeface="Calibri" pitchFamily="34" charset="-122"/>
                <a:cs typeface="Calibri" pitchFamily="34" charset="-120"/>
              </a:rPr>
              <a:t>permettant d'acquérir, traiter, stocker, communiquer et diffuser de l'information au sein d'une organisation.</a:t>
            </a:r>
          </a:p>
          <a:p>
            <a:endParaRPr lang="fr-FR" sz="1400" dirty="0">
              <a:solidFill>
                <a:srgbClr val="1E2A38"/>
              </a:solidFill>
              <a:latin typeface="Calibri" pitchFamily="34" charset="0"/>
              <a:ea typeface="Calibri" pitchFamily="34" charset="-122"/>
              <a:cs typeface="Calibri" pitchFamily="34" charset="-120"/>
            </a:endParaRPr>
          </a:p>
          <a:p>
            <a:endParaRPr lang="fr-FR" sz="1400" dirty="0"/>
          </a:p>
        </p:txBody>
      </p:sp>
      <p:sp>
        <p:nvSpPr>
          <p:cNvPr id="11" name="TextBox 10">
            <a:extLst>
              <a:ext uri="{FF2B5EF4-FFF2-40B4-BE49-F238E27FC236}">
                <a16:creationId xmlns:a16="http://schemas.microsoft.com/office/drawing/2014/main" id="{FD90B63C-ED84-0DEC-56E7-7E46EF304F12}"/>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pic>
        <p:nvPicPr>
          <p:cNvPr id="16" name="Picture 15">
            <a:extLst>
              <a:ext uri="{FF2B5EF4-FFF2-40B4-BE49-F238E27FC236}">
                <a16:creationId xmlns:a16="http://schemas.microsoft.com/office/drawing/2014/main" id="{4B4368FE-7075-D252-24C0-9B215602CDE2}"/>
              </a:ext>
            </a:extLst>
          </p:cNvPr>
          <p:cNvPicPr>
            <a:picLocks noChangeAspect="1"/>
          </p:cNvPicPr>
          <p:nvPr/>
        </p:nvPicPr>
        <p:blipFill>
          <a:blip r:embed="rId7"/>
          <a:stretch>
            <a:fillRect/>
          </a:stretch>
        </p:blipFill>
        <p:spPr>
          <a:xfrm>
            <a:off x="1993392" y="1833068"/>
            <a:ext cx="4652490" cy="2010179"/>
          </a:xfrm>
          <a:prstGeom prst="rect">
            <a:avLst/>
          </a:prstGeom>
        </p:spPr>
      </p:pic>
      <p:sp>
        <p:nvSpPr>
          <p:cNvPr id="15" name="TextBox 14">
            <a:extLst>
              <a:ext uri="{FF2B5EF4-FFF2-40B4-BE49-F238E27FC236}">
                <a16:creationId xmlns:a16="http://schemas.microsoft.com/office/drawing/2014/main" id="{228D466A-19DF-B014-349A-16AF83C69C4C}"/>
              </a:ext>
            </a:extLst>
          </p:cNvPr>
          <p:cNvSpPr txBox="1"/>
          <p:nvPr/>
        </p:nvSpPr>
        <p:spPr>
          <a:xfrm>
            <a:off x="885009" y="4093480"/>
            <a:ext cx="8046720" cy="477054"/>
          </a:xfrm>
          <a:prstGeom prst="rect">
            <a:avLst/>
          </a:prstGeom>
          <a:noFill/>
        </p:spPr>
        <p:txBody>
          <a:bodyPr wrap="square">
            <a:spAutoFit/>
          </a:bodyPr>
          <a:lstStyle/>
          <a:p>
            <a:r>
              <a:rPr lang="fr-FR" sz="1200" b="1" dirty="0">
                <a:solidFill>
                  <a:srgbClr val="1E2A38"/>
                </a:solidFill>
                <a:latin typeface="Calibri" pitchFamily="34" charset="0"/>
                <a:ea typeface="Calibri" pitchFamily="34" charset="-122"/>
                <a:cs typeface="Calibri" pitchFamily="34" charset="-120"/>
              </a:rPr>
              <a:t>À retenir </a:t>
            </a:r>
          </a:p>
          <a:p>
            <a:endParaRPr lang="fr-FR" sz="200" b="1" dirty="0">
              <a:solidFill>
                <a:srgbClr val="1E2A38"/>
              </a:solidFill>
              <a:latin typeface="Calibri" pitchFamily="34" charset="0"/>
              <a:ea typeface="Calibri" pitchFamily="34" charset="-122"/>
              <a:cs typeface="Calibri" pitchFamily="34" charset="-120"/>
            </a:endParaRPr>
          </a:p>
          <a:p>
            <a:r>
              <a:rPr lang="fr-FR" sz="1100" dirty="0">
                <a:solidFill>
                  <a:srgbClr val="1E2A38"/>
                </a:solidFill>
                <a:latin typeface="Calibri" pitchFamily="34" charset="0"/>
                <a:ea typeface="Calibri" pitchFamily="34" charset="-122"/>
                <a:cs typeface="Calibri" pitchFamily="34" charset="-120"/>
              </a:rPr>
              <a:t>Le SI ne se réduit pas à l'informatique, le SI englobe l'organisation, le système informatique n'en est que le support technique.</a:t>
            </a:r>
          </a:p>
        </p:txBody>
      </p:sp>
    </p:spTree>
    <p:extLst>
      <p:ext uri="{BB962C8B-B14F-4D97-AF65-F5344CB8AC3E}">
        <p14:creationId xmlns:p14="http://schemas.microsoft.com/office/powerpoint/2010/main" val="315536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6352D70-0AB8-D897-1C16-DE76F2BCD415}"/>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C36AB20-4B69-8183-9E51-E7433640DD66}"/>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075B7D44-86F6-B83C-91AB-2528344C0934}"/>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932A22B3-ACC9-E7A2-5E7B-D50FBA5ADF62}"/>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668CFB3F-B0AA-2C29-1FB6-0516BEC058A3}"/>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3E49BE6E-AFD7-E52A-6591-5657BD7AE6FA}"/>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2A61FD1F-3E92-1BD1-789E-FDA85D70D4BB}"/>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004C3FF9-9DDD-D370-A800-15807D2E921C}"/>
              </a:ext>
            </a:extLst>
          </p:cNvPr>
          <p:cNvSpPr/>
          <p:nvPr/>
        </p:nvSpPr>
        <p:spPr>
          <a:xfrm>
            <a:off x="1993392" y="91440"/>
            <a:ext cx="6400800" cy="411480"/>
          </a:xfrm>
          <a:prstGeom prst="rect">
            <a:avLst/>
          </a:prstGeom>
          <a:noFill/>
          <a:ln/>
        </p:spPr>
        <p:txBody>
          <a:bodyPr wrap="square" lIns="0" tIns="0" rIns="0" bIns="0" rtlCol="0" anchor="ctr"/>
          <a:lstStyle/>
          <a:p>
            <a:r>
              <a:rPr lang="fr-FR" b="1" dirty="0">
                <a:solidFill>
                  <a:srgbClr val="1E2A38"/>
                </a:solidFill>
                <a:latin typeface="Cambria" pitchFamily="34" charset="0"/>
                <a:ea typeface="Cambria" pitchFamily="34" charset="-122"/>
                <a:cs typeface="Cambria" pitchFamily="34" charset="-120"/>
              </a:rPr>
              <a:t>Rôle et enjeux d'un système d'information</a:t>
            </a:r>
            <a:endParaRPr lang="fr-FR" dirty="0"/>
          </a:p>
        </p:txBody>
      </p:sp>
      <p:sp>
        <p:nvSpPr>
          <p:cNvPr id="10" name="Shape 3">
            <a:extLst>
              <a:ext uri="{FF2B5EF4-FFF2-40B4-BE49-F238E27FC236}">
                <a16:creationId xmlns:a16="http://schemas.microsoft.com/office/drawing/2014/main" id="{48A4A9B8-728E-3425-CE93-B9349EB75AD6}"/>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86C47AE3-2334-FA1E-2642-3A193B773532}"/>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8E6DA1F1-FEE1-3D21-5906-EBBF831DBEB2}"/>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C21D8677-6836-2EC7-D3D3-AE4F8DF727AB}"/>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8</a:t>
            </a:r>
            <a:endParaRPr lang="en-US" sz="900" dirty="0"/>
          </a:p>
        </p:txBody>
      </p:sp>
      <p:pic>
        <p:nvPicPr>
          <p:cNvPr id="18" name="object 2">
            <a:extLst>
              <a:ext uri="{FF2B5EF4-FFF2-40B4-BE49-F238E27FC236}">
                <a16:creationId xmlns:a16="http://schemas.microsoft.com/office/drawing/2014/main" id="{EBDD22C5-DBF9-9E87-278F-FF467E3251CF}"/>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E991826B-CF67-19D6-9ED7-EC2B1C9BCA80}"/>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11" name="TextBox 10">
            <a:extLst>
              <a:ext uri="{FF2B5EF4-FFF2-40B4-BE49-F238E27FC236}">
                <a16:creationId xmlns:a16="http://schemas.microsoft.com/office/drawing/2014/main" id="{ACC12E9D-A132-876B-4477-EB4D9D3F006E}"/>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grpSp>
        <p:nvGrpSpPr>
          <p:cNvPr id="149" name="Group 148">
            <a:extLst>
              <a:ext uri="{FF2B5EF4-FFF2-40B4-BE49-F238E27FC236}">
                <a16:creationId xmlns:a16="http://schemas.microsoft.com/office/drawing/2014/main" id="{69D6F8E9-EB24-CF83-54E7-CF161E31802F}"/>
              </a:ext>
            </a:extLst>
          </p:cNvPr>
          <p:cNvGrpSpPr/>
          <p:nvPr/>
        </p:nvGrpSpPr>
        <p:grpSpPr>
          <a:xfrm>
            <a:off x="795528" y="1115819"/>
            <a:ext cx="7296912" cy="2990088"/>
            <a:chOff x="548640" y="1600200"/>
            <a:chExt cx="11073384" cy="4187952"/>
          </a:xfrm>
        </p:grpSpPr>
        <p:sp>
          <p:nvSpPr>
            <p:cNvPr id="90" name="Shape 2">
              <a:extLst>
                <a:ext uri="{FF2B5EF4-FFF2-40B4-BE49-F238E27FC236}">
                  <a16:creationId xmlns:a16="http://schemas.microsoft.com/office/drawing/2014/main" id="{9743D91B-0CA1-AF0E-0998-57D8757C7FC8}"/>
                </a:ext>
              </a:extLst>
            </p:cNvPr>
            <p:cNvSpPr/>
            <p:nvPr/>
          </p:nvSpPr>
          <p:spPr>
            <a:xfrm>
              <a:off x="569976" y="1600200"/>
              <a:ext cx="3520440" cy="1965960"/>
            </a:xfrm>
            <a:prstGeom prst="roundRect">
              <a:avLst>
                <a:gd name="adj" fmla="val 4651"/>
              </a:avLst>
            </a:prstGeom>
            <a:solidFill>
              <a:srgbClr val="EAF3F7"/>
            </a:solidFill>
            <a:ln/>
            <a:effectLst>
              <a:outerShdw blurRad="88900" dist="38100" dir="5400000" algn="bl" rotWithShape="0">
                <a:srgbClr val="000000">
                  <a:alpha val="12000"/>
                </a:srgbClr>
              </a:outerShdw>
            </a:effectLst>
          </p:spPr>
          <p:txBody>
            <a:bodyPr/>
            <a:lstStyle/>
            <a:p>
              <a:endParaRPr lang="fr-FR" sz="1100" noProof="0" dirty="0"/>
            </a:p>
          </p:txBody>
        </p:sp>
        <p:sp>
          <p:nvSpPr>
            <p:cNvPr id="92" name="Shape 3">
              <a:extLst>
                <a:ext uri="{FF2B5EF4-FFF2-40B4-BE49-F238E27FC236}">
                  <a16:creationId xmlns:a16="http://schemas.microsoft.com/office/drawing/2014/main" id="{5BBC6CB0-8591-7548-2810-E9EA486DB758}"/>
                </a:ext>
              </a:extLst>
            </p:cNvPr>
            <p:cNvSpPr/>
            <p:nvPr/>
          </p:nvSpPr>
          <p:spPr>
            <a:xfrm>
              <a:off x="777240" y="1828800"/>
              <a:ext cx="566928" cy="566928"/>
            </a:xfrm>
            <a:prstGeom prst="ellipse">
              <a:avLst/>
            </a:prstGeom>
            <a:solidFill>
              <a:srgbClr val="065A82"/>
            </a:solidFill>
            <a:ln/>
          </p:spPr>
          <p:txBody>
            <a:bodyPr/>
            <a:lstStyle/>
            <a:p>
              <a:endParaRPr lang="fr-FR" sz="1100" noProof="0" dirty="0"/>
            </a:p>
          </p:txBody>
        </p:sp>
        <p:pic>
          <p:nvPicPr>
            <p:cNvPr id="94" name="Image 0" descr="/home/claude/si_deck/icons/bullseye_white.png">
              <a:extLst>
                <a:ext uri="{FF2B5EF4-FFF2-40B4-BE49-F238E27FC236}">
                  <a16:creationId xmlns:a16="http://schemas.microsoft.com/office/drawing/2014/main" id="{CD9239C4-4276-90D4-1A3D-981150E3AA84}"/>
                </a:ext>
              </a:extLst>
            </p:cNvPr>
            <p:cNvPicPr>
              <a:picLocks noChangeAspect="1"/>
            </p:cNvPicPr>
            <p:nvPr/>
          </p:nvPicPr>
          <p:blipFill>
            <a:blip r:embed="rId7"/>
            <a:stretch>
              <a:fillRect/>
            </a:stretch>
          </p:blipFill>
          <p:spPr>
            <a:xfrm>
              <a:off x="850941" y="1902501"/>
              <a:ext cx="419527" cy="419527"/>
            </a:xfrm>
            <a:prstGeom prst="rect">
              <a:avLst/>
            </a:prstGeom>
          </p:spPr>
        </p:pic>
        <p:sp>
          <p:nvSpPr>
            <p:cNvPr id="96" name="Text 4">
              <a:extLst>
                <a:ext uri="{FF2B5EF4-FFF2-40B4-BE49-F238E27FC236}">
                  <a16:creationId xmlns:a16="http://schemas.microsoft.com/office/drawing/2014/main" id="{5795F8EA-AB0C-5B1B-10D2-D2AAF509CE8E}"/>
                </a:ext>
              </a:extLst>
            </p:cNvPr>
            <p:cNvSpPr/>
            <p:nvPr/>
          </p:nvSpPr>
          <p:spPr>
            <a:xfrm>
              <a:off x="777240" y="2514600"/>
              <a:ext cx="3063240" cy="365760"/>
            </a:xfrm>
            <a:prstGeom prst="rect">
              <a:avLst/>
            </a:prstGeom>
            <a:noFill/>
            <a:ln/>
          </p:spPr>
          <p:txBody>
            <a:bodyPr wrap="square" lIns="0" tIns="0" rIns="0" bIns="0" rtlCol="0" anchor="ctr"/>
            <a:lstStyle/>
            <a:p>
              <a:pPr marL="0" indent="0">
                <a:buNone/>
              </a:pPr>
              <a:r>
                <a:rPr lang="fr-FR" sz="1000" b="1" noProof="0" dirty="0">
                  <a:solidFill>
                    <a:srgbClr val="1E2A38"/>
                  </a:solidFill>
                  <a:latin typeface="Calibri" pitchFamily="34" charset="0"/>
                  <a:ea typeface="Calibri" pitchFamily="34" charset="-122"/>
                  <a:cs typeface="Calibri" pitchFamily="34" charset="-120"/>
                </a:rPr>
                <a:t>Alignement stratégique</a:t>
              </a:r>
              <a:endParaRPr lang="fr-FR" sz="1000" noProof="0" dirty="0"/>
            </a:p>
          </p:txBody>
        </p:sp>
        <p:sp>
          <p:nvSpPr>
            <p:cNvPr id="98" name="Text 5">
              <a:extLst>
                <a:ext uri="{FF2B5EF4-FFF2-40B4-BE49-F238E27FC236}">
                  <a16:creationId xmlns:a16="http://schemas.microsoft.com/office/drawing/2014/main" id="{FC1C0BD5-C31B-7A03-9D83-1C8FE9A20A63}"/>
                </a:ext>
              </a:extLst>
            </p:cNvPr>
            <p:cNvSpPr/>
            <p:nvPr/>
          </p:nvSpPr>
          <p:spPr>
            <a:xfrm>
              <a:off x="777240" y="2898648"/>
              <a:ext cx="3063240" cy="594360"/>
            </a:xfrm>
            <a:prstGeom prst="rect">
              <a:avLst/>
            </a:prstGeom>
            <a:noFill/>
            <a:ln/>
          </p:spPr>
          <p:txBody>
            <a:bodyPr wrap="square" lIns="0" tIns="0" rIns="0" bIns="0" rtlCol="0" anchor="ctr"/>
            <a:lstStyle/>
            <a:p>
              <a:pPr marL="0" indent="0">
                <a:buNone/>
              </a:pPr>
              <a:r>
                <a:rPr lang="fr-FR" sz="900" noProof="0" dirty="0">
                  <a:solidFill>
                    <a:srgbClr val="5B6B79"/>
                  </a:solidFill>
                  <a:latin typeface="Calibri" pitchFamily="34" charset="0"/>
                  <a:ea typeface="Calibri" pitchFamily="34" charset="-122"/>
                  <a:cs typeface="Calibri" pitchFamily="34" charset="-120"/>
                </a:rPr>
                <a:t>Faire correspondre les capacités du SI aux objectifs métier de l'organisation.</a:t>
              </a:r>
              <a:endParaRPr lang="fr-FR" sz="900" noProof="0" dirty="0"/>
            </a:p>
          </p:txBody>
        </p:sp>
        <p:sp>
          <p:nvSpPr>
            <p:cNvPr id="100" name="Shape 6">
              <a:extLst>
                <a:ext uri="{FF2B5EF4-FFF2-40B4-BE49-F238E27FC236}">
                  <a16:creationId xmlns:a16="http://schemas.microsoft.com/office/drawing/2014/main" id="{25C1989D-BAEB-2D24-D8A1-F6C9DE2096A1}"/>
                </a:ext>
              </a:extLst>
            </p:cNvPr>
            <p:cNvSpPr/>
            <p:nvPr/>
          </p:nvSpPr>
          <p:spPr>
            <a:xfrm>
              <a:off x="4325112" y="1600200"/>
              <a:ext cx="3520440" cy="1965960"/>
            </a:xfrm>
            <a:prstGeom prst="roundRect">
              <a:avLst>
                <a:gd name="adj" fmla="val 4651"/>
              </a:avLst>
            </a:prstGeom>
            <a:solidFill>
              <a:srgbClr val="EAF3F7"/>
            </a:solidFill>
            <a:ln/>
            <a:effectLst>
              <a:outerShdw blurRad="88900" dist="38100" dir="5400000" algn="bl" rotWithShape="0">
                <a:srgbClr val="000000">
                  <a:alpha val="12000"/>
                </a:srgbClr>
              </a:outerShdw>
            </a:effectLst>
          </p:spPr>
          <p:txBody>
            <a:bodyPr/>
            <a:lstStyle/>
            <a:p>
              <a:endParaRPr lang="fr-FR" sz="1100" noProof="0" dirty="0"/>
            </a:p>
          </p:txBody>
        </p:sp>
        <p:sp>
          <p:nvSpPr>
            <p:cNvPr id="102" name="Shape 7">
              <a:extLst>
                <a:ext uri="{FF2B5EF4-FFF2-40B4-BE49-F238E27FC236}">
                  <a16:creationId xmlns:a16="http://schemas.microsoft.com/office/drawing/2014/main" id="{4F82281D-3E8B-72F4-5FC4-0BA409BA2C6F}"/>
                </a:ext>
              </a:extLst>
            </p:cNvPr>
            <p:cNvSpPr/>
            <p:nvPr/>
          </p:nvSpPr>
          <p:spPr>
            <a:xfrm>
              <a:off x="4553712" y="1828800"/>
              <a:ext cx="566928" cy="566928"/>
            </a:xfrm>
            <a:prstGeom prst="ellipse">
              <a:avLst/>
            </a:prstGeom>
            <a:solidFill>
              <a:srgbClr val="065A82"/>
            </a:solidFill>
            <a:ln/>
          </p:spPr>
          <p:txBody>
            <a:bodyPr/>
            <a:lstStyle/>
            <a:p>
              <a:endParaRPr lang="fr-FR" sz="1100" noProof="0" dirty="0"/>
            </a:p>
          </p:txBody>
        </p:sp>
        <p:pic>
          <p:nvPicPr>
            <p:cNvPr id="104" name="Image 1" descr="/home/claude/si_deck/icons/shieldAlt_white.png">
              <a:extLst>
                <a:ext uri="{FF2B5EF4-FFF2-40B4-BE49-F238E27FC236}">
                  <a16:creationId xmlns:a16="http://schemas.microsoft.com/office/drawing/2014/main" id="{62581F66-234F-0B37-A927-993AA018DC16}"/>
                </a:ext>
              </a:extLst>
            </p:cNvPr>
            <p:cNvPicPr>
              <a:picLocks noChangeAspect="1"/>
            </p:cNvPicPr>
            <p:nvPr/>
          </p:nvPicPr>
          <p:blipFill>
            <a:blip r:embed="rId8"/>
            <a:stretch>
              <a:fillRect/>
            </a:stretch>
          </p:blipFill>
          <p:spPr>
            <a:xfrm>
              <a:off x="4627413" y="1902501"/>
              <a:ext cx="419527" cy="419527"/>
            </a:xfrm>
            <a:prstGeom prst="rect">
              <a:avLst/>
            </a:prstGeom>
          </p:spPr>
        </p:pic>
        <p:sp>
          <p:nvSpPr>
            <p:cNvPr id="106" name="Text 8">
              <a:extLst>
                <a:ext uri="{FF2B5EF4-FFF2-40B4-BE49-F238E27FC236}">
                  <a16:creationId xmlns:a16="http://schemas.microsoft.com/office/drawing/2014/main" id="{26A5E403-844C-C9EA-F10F-32AA7B1C5F9B}"/>
                </a:ext>
              </a:extLst>
            </p:cNvPr>
            <p:cNvSpPr/>
            <p:nvPr/>
          </p:nvSpPr>
          <p:spPr>
            <a:xfrm>
              <a:off x="4553712" y="2514600"/>
              <a:ext cx="3063240" cy="365760"/>
            </a:xfrm>
            <a:prstGeom prst="rect">
              <a:avLst/>
            </a:prstGeom>
            <a:noFill/>
            <a:ln/>
          </p:spPr>
          <p:txBody>
            <a:bodyPr wrap="square" lIns="0" tIns="0" rIns="0" bIns="0" rtlCol="0" anchor="ctr"/>
            <a:lstStyle/>
            <a:p>
              <a:pPr marL="0" indent="0">
                <a:buNone/>
              </a:pPr>
              <a:r>
                <a:rPr lang="fr-FR" sz="1000" b="1" noProof="0" dirty="0">
                  <a:solidFill>
                    <a:srgbClr val="1E2A38"/>
                  </a:solidFill>
                  <a:latin typeface="Calibri" pitchFamily="34" charset="0"/>
                  <a:ea typeface="Calibri" pitchFamily="34" charset="-122"/>
                  <a:cs typeface="Calibri" pitchFamily="34" charset="-120"/>
                </a:rPr>
                <a:t>Fiabilité &amp; continuité</a:t>
              </a:r>
              <a:endParaRPr lang="fr-FR" sz="1000" noProof="0" dirty="0"/>
            </a:p>
          </p:txBody>
        </p:sp>
        <p:sp>
          <p:nvSpPr>
            <p:cNvPr id="108" name="Text 9">
              <a:extLst>
                <a:ext uri="{FF2B5EF4-FFF2-40B4-BE49-F238E27FC236}">
                  <a16:creationId xmlns:a16="http://schemas.microsoft.com/office/drawing/2014/main" id="{C5A4FF30-8899-770C-2E9E-7C1C6A358403}"/>
                </a:ext>
              </a:extLst>
            </p:cNvPr>
            <p:cNvSpPr/>
            <p:nvPr/>
          </p:nvSpPr>
          <p:spPr>
            <a:xfrm>
              <a:off x="4553712" y="2898648"/>
              <a:ext cx="3063240" cy="594360"/>
            </a:xfrm>
            <a:prstGeom prst="rect">
              <a:avLst/>
            </a:prstGeom>
            <a:noFill/>
            <a:ln/>
          </p:spPr>
          <p:txBody>
            <a:bodyPr wrap="square" lIns="0" tIns="0" rIns="0" bIns="0" rtlCol="0" anchor="ctr"/>
            <a:lstStyle/>
            <a:p>
              <a:pPr marL="0" indent="0">
                <a:buNone/>
              </a:pPr>
              <a:r>
                <a:rPr lang="fr-FR" sz="900" noProof="0" dirty="0">
                  <a:solidFill>
                    <a:srgbClr val="5B6B79"/>
                  </a:solidFill>
                  <a:latin typeface="Calibri" pitchFamily="34" charset="0"/>
                  <a:ea typeface="Calibri" pitchFamily="34" charset="-122"/>
                  <a:cs typeface="Calibri" pitchFamily="34" charset="-120"/>
                </a:rPr>
                <a:t>Garantir la disponibilité, l'intégrité et la sécurité des données et des services.</a:t>
              </a:r>
              <a:endParaRPr lang="fr-FR" sz="900" noProof="0" dirty="0"/>
            </a:p>
          </p:txBody>
        </p:sp>
        <p:sp>
          <p:nvSpPr>
            <p:cNvPr id="110" name="Shape 10">
              <a:extLst>
                <a:ext uri="{FF2B5EF4-FFF2-40B4-BE49-F238E27FC236}">
                  <a16:creationId xmlns:a16="http://schemas.microsoft.com/office/drawing/2014/main" id="{936E7055-871D-210D-19BA-28885517C07E}"/>
                </a:ext>
              </a:extLst>
            </p:cNvPr>
            <p:cNvSpPr/>
            <p:nvPr/>
          </p:nvSpPr>
          <p:spPr>
            <a:xfrm>
              <a:off x="8101584" y="1600200"/>
              <a:ext cx="3520440" cy="1965960"/>
            </a:xfrm>
            <a:prstGeom prst="roundRect">
              <a:avLst>
                <a:gd name="adj" fmla="val 4651"/>
              </a:avLst>
            </a:prstGeom>
            <a:solidFill>
              <a:srgbClr val="EAF3F7"/>
            </a:solidFill>
            <a:ln/>
            <a:effectLst>
              <a:outerShdw blurRad="88900" dist="38100" dir="5400000" algn="bl" rotWithShape="0">
                <a:srgbClr val="000000">
                  <a:alpha val="12000"/>
                </a:srgbClr>
              </a:outerShdw>
            </a:effectLst>
          </p:spPr>
          <p:txBody>
            <a:bodyPr/>
            <a:lstStyle/>
            <a:p>
              <a:endParaRPr lang="fr-FR" sz="1100" noProof="0" dirty="0"/>
            </a:p>
          </p:txBody>
        </p:sp>
        <p:sp>
          <p:nvSpPr>
            <p:cNvPr id="112" name="Shape 11">
              <a:extLst>
                <a:ext uri="{FF2B5EF4-FFF2-40B4-BE49-F238E27FC236}">
                  <a16:creationId xmlns:a16="http://schemas.microsoft.com/office/drawing/2014/main" id="{FE933896-EF42-67DD-A6B2-B1ADC3723BE1}"/>
                </a:ext>
              </a:extLst>
            </p:cNvPr>
            <p:cNvSpPr/>
            <p:nvPr/>
          </p:nvSpPr>
          <p:spPr>
            <a:xfrm>
              <a:off x="8330184" y="1828800"/>
              <a:ext cx="566928" cy="566928"/>
            </a:xfrm>
            <a:prstGeom prst="ellipse">
              <a:avLst/>
            </a:prstGeom>
            <a:solidFill>
              <a:srgbClr val="065A82"/>
            </a:solidFill>
            <a:ln/>
          </p:spPr>
          <p:txBody>
            <a:bodyPr/>
            <a:lstStyle/>
            <a:p>
              <a:endParaRPr lang="fr-FR" sz="1100" noProof="0" dirty="0"/>
            </a:p>
          </p:txBody>
        </p:sp>
        <p:pic>
          <p:nvPicPr>
            <p:cNvPr id="114" name="Image 2" descr="/home/claude/si_deck/icons/syncAlt_white.png">
              <a:extLst>
                <a:ext uri="{FF2B5EF4-FFF2-40B4-BE49-F238E27FC236}">
                  <a16:creationId xmlns:a16="http://schemas.microsoft.com/office/drawing/2014/main" id="{104417EB-FF42-D393-367F-3C3F080C22FC}"/>
                </a:ext>
              </a:extLst>
            </p:cNvPr>
            <p:cNvPicPr>
              <a:picLocks noChangeAspect="1"/>
            </p:cNvPicPr>
            <p:nvPr/>
          </p:nvPicPr>
          <p:blipFill>
            <a:blip r:embed="rId9"/>
            <a:stretch>
              <a:fillRect/>
            </a:stretch>
          </p:blipFill>
          <p:spPr>
            <a:xfrm>
              <a:off x="8403885" y="1902501"/>
              <a:ext cx="419527" cy="419527"/>
            </a:xfrm>
            <a:prstGeom prst="rect">
              <a:avLst/>
            </a:prstGeom>
          </p:spPr>
        </p:pic>
        <p:sp>
          <p:nvSpPr>
            <p:cNvPr id="116" name="Text 12">
              <a:extLst>
                <a:ext uri="{FF2B5EF4-FFF2-40B4-BE49-F238E27FC236}">
                  <a16:creationId xmlns:a16="http://schemas.microsoft.com/office/drawing/2014/main" id="{F02632D6-EAF8-DC20-E7B5-787EE859994D}"/>
                </a:ext>
              </a:extLst>
            </p:cNvPr>
            <p:cNvSpPr/>
            <p:nvPr/>
          </p:nvSpPr>
          <p:spPr>
            <a:xfrm>
              <a:off x="8330184" y="2514600"/>
              <a:ext cx="3063240" cy="365760"/>
            </a:xfrm>
            <a:prstGeom prst="rect">
              <a:avLst/>
            </a:prstGeom>
            <a:noFill/>
            <a:ln/>
          </p:spPr>
          <p:txBody>
            <a:bodyPr wrap="square" lIns="0" tIns="0" rIns="0" bIns="0" rtlCol="0" anchor="ctr"/>
            <a:lstStyle/>
            <a:p>
              <a:pPr marL="0" indent="0">
                <a:buNone/>
              </a:pPr>
              <a:r>
                <a:rPr lang="fr-FR" sz="1000" b="1" noProof="0" dirty="0">
                  <a:solidFill>
                    <a:srgbClr val="1E2A38"/>
                  </a:solidFill>
                  <a:latin typeface="Calibri" pitchFamily="34" charset="0"/>
                  <a:ea typeface="Calibri" pitchFamily="34" charset="-122"/>
                  <a:cs typeface="Calibri" pitchFamily="34" charset="-120"/>
                </a:rPr>
                <a:t>Agilité &amp; évolutivité</a:t>
              </a:r>
              <a:endParaRPr lang="fr-FR" sz="1000" noProof="0" dirty="0"/>
            </a:p>
          </p:txBody>
        </p:sp>
        <p:sp>
          <p:nvSpPr>
            <p:cNvPr id="118" name="Text 13">
              <a:extLst>
                <a:ext uri="{FF2B5EF4-FFF2-40B4-BE49-F238E27FC236}">
                  <a16:creationId xmlns:a16="http://schemas.microsoft.com/office/drawing/2014/main" id="{EC8B232C-EF4A-4649-3574-A2C53F33CC79}"/>
                </a:ext>
              </a:extLst>
            </p:cNvPr>
            <p:cNvSpPr/>
            <p:nvPr/>
          </p:nvSpPr>
          <p:spPr>
            <a:xfrm>
              <a:off x="8330184" y="2898648"/>
              <a:ext cx="3063240" cy="594360"/>
            </a:xfrm>
            <a:prstGeom prst="rect">
              <a:avLst/>
            </a:prstGeom>
            <a:noFill/>
            <a:ln/>
          </p:spPr>
          <p:txBody>
            <a:bodyPr wrap="square" lIns="0" tIns="0" rIns="0" bIns="0" rtlCol="0" anchor="ctr"/>
            <a:lstStyle/>
            <a:p>
              <a:pPr marL="0" indent="0">
                <a:buNone/>
              </a:pPr>
              <a:r>
                <a:rPr lang="fr-FR" sz="900" noProof="0" dirty="0">
                  <a:solidFill>
                    <a:srgbClr val="5B6B79"/>
                  </a:solidFill>
                  <a:latin typeface="Calibri" pitchFamily="34" charset="0"/>
                  <a:ea typeface="Calibri" pitchFamily="34" charset="-122"/>
                  <a:cs typeface="Calibri" pitchFamily="34" charset="-120"/>
                </a:rPr>
                <a:t>Permettre d'absorber la croissance et les changements sans tout reconstruire.</a:t>
              </a:r>
              <a:endParaRPr lang="fr-FR" sz="900" noProof="0" dirty="0"/>
            </a:p>
          </p:txBody>
        </p:sp>
        <p:sp>
          <p:nvSpPr>
            <p:cNvPr id="120" name="Shape 14">
              <a:extLst>
                <a:ext uri="{FF2B5EF4-FFF2-40B4-BE49-F238E27FC236}">
                  <a16:creationId xmlns:a16="http://schemas.microsoft.com/office/drawing/2014/main" id="{88CFB0A2-FDEF-EACC-F3D9-E80EB9FEB624}"/>
                </a:ext>
              </a:extLst>
            </p:cNvPr>
            <p:cNvSpPr/>
            <p:nvPr/>
          </p:nvSpPr>
          <p:spPr>
            <a:xfrm>
              <a:off x="548640" y="3822192"/>
              <a:ext cx="3520440" cy="1965960"/>
            </a:xfrm>
            <a:prstGeom prst="roundRect">
              <a:avLst>
                <a:gd name="adj" fmla="val 4651"/>
              </a:avLst>
            </a:prstGeom>
            <a:solidFill>
              <a:srgbClr val="EAF3F7"/>
            </a:solidFill>
            <a:ln/>
            <a:effectLst>
              <a:outerShdw blurRad="88900" dist="38100" dir="5400000" algn="bl" rotWithShape="0">
                <a:srgbClr val="000000">
                  <a:alpha val="12000"/>
                </a:srgbClr>
              </a:outerShdw>
            </a:effectLst>
          </p:spPr>
          <p:txBody>
            <a:bodyPr/>
            <a:lstStyle/>
            <a:p>
              <a:endParaRPr lang="fr-FR" sz="1100" noProof="0" dirty="0"/>
            </a:p>
          </p:txBody>
        </p:sp>
        <p:sp>
          <p:nvSpPr>
            <p:cNvPr id="122" name="Shape 15">
              <a:extLst>
                <a:ext uri="{FF2B5EF4-FFF2-40B4-BE49-F238E27FC236}">
                  <a16:creationId xmlns:a16="http://schemas.microsoft.com/office/drawing/2014/main" id="{538D2A1A-8D0C-7189-7544-F37B486B4FCD}"/>
                </a:ext>
              </a:extLst>
            </p:cNvPr>
            <p:cNvSpPr/>
            <p:nvPr/>
          </p:nvSpPr>
          <p:spPr>
            <a:xfrm>
              <a:off x="777240" y="4050792"/>
              <a:ext cx="566928" cy="566928"/>
            </a:xfrm>
            <a:prstGeom prst="ellipse">
              <a:avLst/>
            </a:prstGeom>
            <a:solidFill>
              <a:srgbClr val="065A82"/>
            </a:solidFill>
            <a:ln/>
          </p:spPr>
          <p:txBody>
            <a:bodyPr/>
            <a:lstStyle/>
            <a:p>
              <a:endParaRPr lang="fr-FR" sz="1100" noProof="0" dirty="0"/>
            </a:p>
          </p:txBody>
        </p:sp>
        <p:pic>
          <p:nvPicPr>
            <p:cNvPr id="124" name="Image 3" descr="/home/claude/si_deck/icons/cogs_white.png">
              <a:extLst>
                <a:ext uri="{FF2B5EF4-FFF2-40B4-BE49-F238E27FC236}">
                  <a16:creationId xmlns:a16="http://schemas.microsoft.com/office/drawing/2014/main" id="{CA074E21-E61B-F04B-97F6-8ACA1F118983}"/>
                </a:ext>
              </a:extLst>
            </p:cNvPr>
            <p:cNvPicPr>
              <a:picLocks noChangeAspect="1"/>
            </p:cNvPicPr>
            <p:nvPr/>
          </p:nvPicPr>
          <p:blipFill>
            <a:blip r:embed="rId10"/>
            <a:stretch>
              <a:fillRect/>
            </a:stretch>
          </p:blipFill>
          <p:spPr>
            <a:xfrm>
              <a:off x="850941" y="4124493"/>
              <a:ext cx="419527" cy="419527"/>
            </a:xfrm>
            <a:prstGeom prst="rect">
              <a:avLst/>
            </a:prstGeom>
          </p:spPr>
        </p:pic>
        <p:sp>
          <p:nvSpPr>
            <p:cNvPr id="126" name="Text 16">
              <a:extLst>
                <a:ext uri="{FF2B5EF4-FFF2-40B4-BE49-F238E27FC236}">
                  <a16:creationId xmlns:a16="http://schemas.microsoft.com/office/drawing/2014/main" id="{EC8D80CE-7D95-7940-1C98-0D89BD7018BD}"/>
                </a:ext>
              </a:extLst>
            </p:cNvPr>
            <p:cNvSpPr/>
            <p:nvPr/>
          </p:nvSpPr>
          <p:spPr>
            <a:xfrm>
              <a:off x="777240" y="4736592"/>
              <a:ext cx="3063240" cy="365760"/>
            </a:xfrm>
            <a:prstGeom prst="rect">
              <a:avLst/>
            </a:prstGeom>
            <a:noFill/>
            <a:ln/>
          </p:spPr>
          <p:txBody>
            <a:bodyPr wrap="square" lIns="0" tIns="0" rIns="0" bIns="0" rtlCol="0" anchor="ctr"/>
            <a:lstStyle/>
            <a:p>
              <a:pPr marL="0" indent="0">
                <a:buNone/>
              </a:pPr>
              <a:r>
                <a:rPr lang="fr-FR" sz="1000" b="1" noProof="0" dirty="0">
                  <a:solidFill>
                    <a:srgbClr val="1E2A38"/>
                  </a:solidFill>
                  <a:latin typeface="Calibri" pitchFamily="34" charset="0"/>
                  <a:ea typeface="Calibri" pitchFamily="34" charset="-122"/>
                  <a:cs typeface="Calibri" pitchFamily="34" charset="-120"/>
                </a:rPr>
                <a:t>Maîtrise des coûts</a:t>
              </a:r>
              <a:endParaRPr lang="fr-FR" sz="1000" noProof="0" dirty="0"/>
            </a:p>
          </p:txBody>
        </p:sp>
        <p:sp>
          <p:nvSpPr>
            <p:cNvPr id="128" name="Text 17">
              <a:extLst>
                <a:ext uri="{FF2B5EF4-FFF2-40B4-BE49-F238E27FC236}">
                  <a16:creationId xmlns:a16="http://schemas.microsoft.com/office/drawing/2014/main" id="{6577FF00-5BF1-6C05-F86B-EF92AF00D466}"/>
                </a:ext>
              </a:extLst>
            </p:cNvPr>
            <p:cNvSpPr/>
            <p:nvPr/>
          </p:nvSpPr>
          <p:spPr>
            <a:xfrm>
              <a:off x="777240" y="5120640"/>
              <a:ext cx="3063240" cy="594360"/>
            </a:xfrm>
            <a:prstGeom prst="rect">
              <a:avLst/>
            </a:prstGeom>
            <a:noFill/>
            <a:ln/>
          </p:spPr>
          <p:txBody>
            <a:bodyPr wrap="square" lIns="0" tIns="0" rIns="0" bIns="0" rtlCol="0" anchor="ctr"/>
            <a:lstStyle/>
            <a:p>
              <a:r>
                <a:rPr lang="fr-FR" sz="900" noProof="0" dirty="0">
                  <a:solidFill>
                    <a:srgbClr val="5B6B79"/>
                  </a:solidFill>
                  <a:latin typeface="Calibri" pitchFamily="34" charset="0"/>
                  <a:ea typeface="Calibri" pitchFamily="34" charset="-122"/>
                  <a:cs typeface="Calibri" pitchFamily="34" charset="-120"/>
                </a:rPr>
                <a:t>Optimiser les investissements et le coût total de possession (TCO – Total Cost of </a:t>
              </a:r>
              <a:r>
                <a:rPr lang="fr-FR" sz="900" noProof="0" dirty="0" err="1">
                  <a:solidFill>
                    <a:srgbClr val="5B6B79"/>
                  </a:solidFill>
                  <a:latin typeface="Calibri" pitchFamily="34" charset="0"/>
                  <a:ea typeface="Calibri" pitchFamily="34" charset="-122"/>
                  <a:cs typeface="Calibri" pitchFamily="34" charset="-120"/>
                </a:rPr>
                <a:t>Ownership</a:t>
              </a:r>
              <a:r>
                <a:rPr lang="fr-FR" sz="900" noProof="0" dirty="0">
                  <a:solidFill>
                    <a:srgbClr val="5B6B79"/>
                  </a:solidFill>
                  <a:latin typeface="Calibri" pitchFamily="34" charset="0"/>
                  <a:ea typeface="Calibri" pitchFamily="34" charset="-122"/>
                  <a:cs typeface="Calibri" pitchFamily="34" charset="-120"/>
                </a:rPr>
                <a:t>).</a:t>
              </a:r>
            </a:p>
          </p:txBody>
        </p:sp>
        <p:sp>
          <p:nvSpPr>
            <p:cNvPr id="130" name="Shape 18">
              <a:extLst>
                <a:ext uri="{FF2B5EF4-FFF2-40B4-BE49-F238E27FC236}">
                  <a16:creationId xmlns:a16="http://schemas.microsoft.com/office/drawing/2014/main" id="{8A7AE14C-B117-88B8-82AA-3A283613ACBE}"/>
                </a:ext>
              </a:extLst>
            </p:cNvPr>
            <p:cNvSpPr/>
            <p:nvPr/>
          </p:nvSpPr>
          <p:spPr>
            <a:xfrm>
              <a:off x="4325112" y="3822192"/>
              <a:ext cx="3520440" cy="1965960"/>
            </a:xfrm>
            <a:prstGeom prst="roundRect">
              <a:avLst>
                <a:gd name="adj" fmla="val 4651"/>
              </a:avLst>
            </a:prstGeom>
            <a:solidFill>
              <a:srgbClr val="EAF3F7"/>
            </a:solidFill>
            <a:ln/>
            <a:effectLst>
              <a:outerShdw blurRad="88900" dist="38100" dir="5400000" algn="bl" rotWithShape="0">
                <a:srgbClr val="000000">
                  <a:alpha val="12000"/>
                </a:srgbClr>
              </a:outerShdw>
            </a:effectLst>
          </p:spPr>
          <p:txBody>
            <a:bodyPr/>
            <a:lstStyle/>
            <a:p>
              <a:endParaRPr lang="fr-FR" sz="1100" noProof="0" dirty="0"/>
            </a:p>
          </p:txBody>
        </p:sp>
        <p:sp>
          <p:nvSpPr>
            <p:cNvPr id="132" name="Shape 19">
              <a:extLst>
                <a:ext uri="{FF2B5EF4-FFF2-40B4-BE49-F238E27FC236}">
                  <a16:creationId xmlns:a16="http://schemas.microsoft.com/office/drawing/2014/main" id="{8DA26960-1813-8215-CB35-12E6F07FF318}"/>
                </a:ext>
              </a:extLst>
            </p:cNvPr>
            <p:cNvSpPr/>
            <p:nvPr/>
          </p:nvSpPr>
          <p:spPr>
            <a:xfrm>
              <a:off x="4553712" y="4050792"/>
              <a:ext cx="566928" cy="566928"/>
            </a:xfrm>
            <a:prstGeom prst="ellipse">
              <a:avLst/>
            </a:prstGeom>
            <a:solidFill>
              <a:srgbClr val="065A82"/>
            </a:solidFill>
            <a:ln/>
          </p:spPr>
          <p:txBody>
            <a:bodyPr/>
            <a:lstStyle/>
            <a:p>
              <a:endParaRPr lang="fr-FR" sz="1100" noProof="0" dirty="0"/>
            </a:p>
          </p:txBody>
        </p:sp>
        <p:pic>
          <p:nvPicPr>
            <p:cNvPr id="134" name="Image 4" descr="/home/claude/si_deck/icons/exchangeAlt_white.png">
              <a:extLst>
                <a:ext uri="{FF2B5EF4-FFF2-40B4-BE49-F238E27FC236}">
                  <a16:creationId xmlns:a16="http://schemas.microsoft.com/office/drawing/2014/main" id="{F0F6F102-C81E-37EC-F1D2-7B27871EB1D8}"/>
                </a:ext>
              </a:extLst>
            </p:cNvPr>
            <p:cNvPicPr>
              <a:picLocks noChangeAspect="1"/>
            </p:cNvPicPr>
            <p:nvPr/>
          </p:nvPicPr>
          <p:blipFill>
            <a:blip r:embed="rId11"/>
            <a:stretch>
              <a:fillRect/>
            </a:stretch>
          </p:blipFill>
          <p:spPr>
            <a:xfrm>
              <a:off x="4627413" y="4124493"/>
              <a:ext cx="419527" cy="419527"/>
            </a:xfrm>
            <a:prstGeom prst="rect">
              <a:avLst/>
            </a:prstGeom>
          </p:spPr>
        </p:pic>
        <p:sp>
          <p:nvSpPr>
            <p:cNvPr id="136" name="Text 20">
              <a:extLst>
                <a:ext uri="{FF2B5EF4-FFF2-40B4-BE49-F238E27FC236}">
                  <a16:creationId xmlns:a16="http://schemas.microsoft.com/office/drawing/2014/main" id="{FDC9EEFD-A842-DFE8-B815-543FD05E18D3}"/>
                </a:ext>
              </a:extLst>
            </p:cNvPr>
            <p:cNvSpPr/>
            <p:nvPr/>
          </p:nvSpPr>
          <p:spPr>
            <a:xfrm>
              <a:off x="4553712" y="4736592"/>
              <a:ext cx="3063240" cy="365760"/>
            </a:xfrm>
            <a:prstGeom prst="rect">
              <a:avLst/>
            </a:prstGeom>
            <a:noFill/>
            <a:ln/>
          </p:spPr>
          <p:txBody>
            <a:bodyPr wrap="square" lIns="0" tIns="0" rIns="0" bIns="0" rtlCol="0" anchor="ctr"/>
            <a:lstStyle/>
            <a:p>
              <a:pPr marL="0" indent="0">
                <a:buNone/>
              </a:pPr>
              <a:r>
                <a:rPr lang="fr-FR" sz="1000" b="1" noProof="0" dirty="0">
                  <a:solidFill>
                    <a:srgbClr val="1E2A38"/>
                  </a:solidFill>
                  <a:latin typeface="Calibri" pitchFamily="34" charset="0"/>
                  <a:ea typeface="Calibri" pitchFamily="34" charset="-122"/>
                  <a:cs typeface="Calibri" pitchFamily="34" charset="-120"/>
                </a:rPr>
                <a:t>Interopérabilité</a:t>
              </a:r>
              <a:endParaRPr lang="fr-FR" sz="1000" noProof="0" dirty="0"/>
            </a:p>
          </p:txBody>
        </p:sp>
        <p:sp>
          <p:nvSpPr>
            <p:cNvPr id="138" name="Text 21">
              <a:extLst>
                <a:ext uri="{FF2B5EF4-FFF2-40B4-BE49-F238E27FC236}">
                  <a16:creationId xmlns:a16="http://schemas.microsoft.com/office/drawing/2014/main" id="{8F225D70-42F5-5DEA-1E69-59480721F166}"/>
                </a:ext>
              </a:extLst>
            </p:cNvPr>
            <p:cNvSpPr/>
            <p:nvPr/>
          </p:nvSpPr>
          <p:spPr>
            <a:xfrm>
              <a:off x="4553712" y="5120640"/>
              <a:ext cx="3063240" cy="594360"/>
            </a:xfrm>
            <a:prstGeom prst="rect">
              <a:avLst/>
            </a:prstGeom>
            <a:noFill/>
            <a:ln/>
          </p:spPr>
          <p:txBody>
            <a:bodyPr wrap="square" lIns="0" tIns="0" rIns="0" bIns="0" rtlCol="0" anchor="ctr"/>
            <a:lstStyle/>
            <a:p>
              <a:pPr marL="0" indent="0">
                <a:buNone/>
              </a:pPr>
              <a:r>
                <a:rPr lang="fr-FR" sz="900" noProof="0" dirty="0">
                  <a:solidFill>
                    <a:srgbClr val="5B6B79"/>
                  </a:solidFill>
                  <a:latin typeface="Calibri" pitchFamily="34" charset="0"/>
                  <a:ea typeface="Calibri" pitchFamily="34" charset="-122"/>
                  <a:cs typeface="Calibri" pitchFamily="34" charset="-120"/>
                </a:rPr>
                <a:t>Faire communiquer les applications entre elles et avec des tiers.</a:t>
              </a:r>
              <a:endParaRPr lang="fr-FR" sz="900" noProof="0" dirty="0"/>
            </a:p>
          </p:txBody>
        </p:sp>
        <p:sp>
          <p:nvSpPr>
            <p:cNvPr id="140" name="Shape 22">
              <a:extLst>
                <a:ext uri="{FF2B5EF4-FFF2-40B4-BE49-F238E27FC236}">
                  <a16:creationId xmlns:a16="http://schemas.microsoft.com/office/drawing/2014/main" id="{607EAC8A-73FD-1EC4-213C-F1A06AFAC501}"/>
                </a:ext>
              </a:extLst>
            </p:cNvPr>
            <p:cNvSpPr/>
            <p:nvPr/>
          </p:nvSpPr>
          <p:spPr>
            <a:xfrm>
              <a:off x="8101584" y="3822192"/>
              <a:ext cx="3520440" cy="1965960"/>
            </a:xfrm>
            <a:prstGeom prst="roundRect">
              <a:avLst>
                <a:gd name="adj" fmla="val 4651"/>
              </a:avLst>
            </a:prstGeom>
            <a:solidFill>
              <a:srgbClr val="EAF3F7"/>
            </a:solidFill>
            <a:ln/>
            <a:effectLst>
              <a:outerShdw blurRad="88900" dist="38100" dir="5400000" algn="bl" rotWithShape="0">
                <a:srgbClr val="000000">
                  <a:alpha val="12000"/>
                </a:srgbClr>
              </a:outerShdw>
            </a:effectLst>
          </p:spPr>
          <p:txBody>
            <a:bodyPr/>
            <a:lstStyle/>
            <a:p>
              <a:endParaRPr lang="fr-FR" sz="1100" noProof="0" dirty="0"/>
            </a:p>
          </p:txBody>
        </p:sp>
        <p:sp>
          <p:nvSpPr>
            <p:cNvPr id="142" name="Shape 23">
              <a:extLst>
                <a:ext uri="{FF2B5EF4-FFF2-40B4-BE49-F238E27FC236}">
                  <a16:creationId xmlns:a16="http://schemas.microsoft.com/office/drawing/2014/main" id="{084DE081-FAE3-C132-E34D-FF329CA5E372}"/>
                </a:ext>
              </a:extLst>
            </p:cNvPr>
            <p:cNvSpPr/>
            <p:nvPr/>
          </p:nvSpPr>
          <p:spPr>
            <a:xfrm>
              <a:off x="8330184" y="4050792"/>
              <a:ext cx="566928" cy="566928"/>
            </a:xfrm>
            <a:prstGeom prst="ellipse">
              <a:avLst/>
            </a:prstGeom>
            <a:solidFill>
              <a:srgbClr val="065A82"/>
            </a:solidFill>
            <a:ln/>
          </p:spPr>
          <p:txBody>
            <a:bodyPr/>
            <a:lstStyle/>
            <a:p>
              <a:endParaRPr lang="fr-FR" sz="1100" noProof="0" dirty="0"/>
            </a:p>
          </p:txBody>
        </p:sp>
        <p:pic>
          <p:nvPicPr>
            <p:cNvPr id="144" name="Image 5" descr="/home/claude/si_deck/icons/projectDiagram_white.png">
              <a:extLst>
                <a:ext uri="{FF2B5EF4-FFF2-40B4-BE49-F238E27FC236}">
                  <a16:creationId xmlns:a16="http://schemas.microsoft.com/office/drawing/2014/main" id="{21FDF1C3-5EFC-84BF-135F-B3A0A19614BB}"/>
                </a:ext>
              </a:extLst>
            </p:cNvPr>
            <p:cNvPicPr>
              <a:picLocks noChangeAspect="1"/>
            </p:cNvPicPr>
            <p:nvPr/>
          </p:nvPicPr>
          <p:blipFill>
            <a:blip r:embed="rId12"/>
            <a:stretch>
              <a:fillRect/>
            </a:stretch>
          </p:blipFill>
          <p:spPr>
            <a:xfrm>
              <a:off x="8403885" y="4124493"/>
              <a:ext cx="419527" cy="419527"/>
            </a:xfrm>
            <a:prstGeom prst="rect">
              <a:avLst/>
            </a:prstGeom>
          </p:spPr>
        </p:pic>
        <p:sp>
          <p:nvSpPr>
            <p:cNvPr id="146" name="Text 24">
              <a:extLst>
                <a:ext uri="{FF2B5EF4-FFF2-40B4-BE49-F238E27FC236}">
                  <a16:creationId xmlns:a16="http://schemas.microsoft.com/office/drawing/2014/main" id="{50AD1E97-EE37-B7B7-7234-8CE6C1EB71D7}"/>
                </a:ext>
              </a:extLst>
            </p:cNvPr>
            <p:cNvSpPr/>
            <p:nvPr/>
          </p:nvSpPr>
          <p:spPr>
            <a:xfrm>
              <a:off x="8330184" y="4736592"/>
              <a:ext cx="3063240" cy="365760"/>
            </a:xfrm>
            <a:prstGeom prst="rect">
              <a:avLst/>
            </a:prstGeom>
            <a:noFill/>
            <a:ln/>
          </p:spPr>
          <p:txBody>
            <a:bodyPr wrap="square" lIns="0" tIns="0" rIns="0" bIns="0" rtlCol="0" anchor="ctr"/>
            <a:lstStyle/>
            <a:p>
              <a:pPr marL="0" indent="0">
                <a:buNone/>
              </a:pPr>
              <a:r>
                <a:rPr lang="fr-FR" sz="1000" b="1" noProof="0" dirty="0">
                  <a:solidFill>
                    <a:srgbClr val="1E2A38"/>
                  </a:solidFill>
                  <a:latin typeface="Calibri" pitchFamily="34" charset="0"/>
                  <a:ea typeface="Calibri" pitchFamily="34" charset="-122"/>
                  <a:cs typeface="Calibri" pitchFamily="34" charset="-120"/>
                </a:rPr>
                <a:t>Aide à la décision</a:t>
              </a:r>
              <a:endParaRPr lang="fr-FR" sz="1000" noProof="0" dirty="0"/>
            </a:p>
          </p:txBody>
        </p:sp>
        <p:sp>
          <p:nvSpPr>
            <p:cNvPr id="148" name="Text 25">
              <a:extLst>
                <a:ext uri="{FF2B5EF4-FFF2-40B4-BE49-F238E27FC236}">
                  <a16:creationId xmlns:a16="http://schemas.microsoft.com/office/drawing/2014/main" id="{97133D12-CF52-5BF9-2133-6215D9F227C7}"/>
                </a:ext>
              </a:extLst>
            </p:cNvPr>
            <p:cNvSpPr/>
            <p:nvPr/>
          </p:nvSpPr>
          <p:spPr>
            <a:xfrm>
              <a:off x="8330184" y="5120640"/>
              <a:ext cx="3063240" cy="594360"/>
            </a:xfrm>
            <a:prstGeom prst="rect">
              <a:avLst/>
            </a:prstGeom>
            <a:noFill/>
            <a:ln/>
          </p:spPr>
          <p:txBody>
            <a:bodyPr wrap="square" lIns="0" tIns="0" rIns="0" bIns="0" rtlCol="0" anchor="ctr"/>
            <a:lstStyle/>
            <a:p>
              <a:pPr marL="0" indent="0">
                <a:buNone/>
              </a:pPr>
              <a:r>
                <a:rPr lang="fr-FR" sz="900" noProof="0" dirty="0">
                  <a:solidFill>
                    <a:srgbClr val="5B6B79"/>
                  </a:solidFill>
                  <a:latin typeface="Calibri" pitchFamily="34" charset="0"/>
                  <a:ea typeface="Calibri" pitchFamily="34" charset="-122"/>
                  <a:cs typeface="Calibri" pitchFamily="34" charset="-120"/>
                </a:rPr>
                <a:t>Fournir une information fiable et à jour pour piloter l'activité.</a:t>
              </a:r>
              <a:endParaRPr lang="fr-FR" sz="900" noProof="0" dirty="0"/>
            </a:p>
          </p:txBody>
        </p:sp>
      </p:grpSp>
    </p:spTree>
    <p:extLst>
      <p:ext uri="{BB962C8B-B14F-4D97-AF65-F5344CB8AC3E}">
        <p14:creationId xmlns:p14="http://schemas.microsoft.com/office/powerpoint/2010/main" val="1123243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B69DB5C-7BA0-DE42-46BC-37ECABC0B131}"/>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FEAC7E34-307A-53D7-D07B-543558C5AC62}"/>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B1B7D5B9-5100-B1B9-F626-717FC50D9D05}"/>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08695928-EB6A-4F2D-9AFA-2CE51F62F7BE}"/>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68863DF6-AF4D-3D13-E5E6-34F60FCACBF6}"/>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860D8910-96B2-D28F-704D-473FF1D008B6}"/>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FB00BAD9-442E-159A-1DA4-DB926AEE58A8}"/>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ECD6D140-E3E1-5AC5-0297-22354E0B8DF5}"/>
              </a:ext>
            </a:extLst>
          </p:cNvPr>
          <p:cNvSpPr/>
          <p:nvPr/>
        </p:nvSpPr>
        <p:spPr>
          <a:xfrm>
            <a:off x="1993392" y="91440"/>
            <a:ext cx="6400800" cy="411480"/>
          </a:xfrm>
          <a:prstGeom prst="rect">
            <a:avLst/>
          </a:prstGeom>
          <a:noFill/>
          <a:ln/>
        </p:spPr>
        <p:txBody>
          <a:bodyPr wrap="square" lIns="0" tIns="0" rIns="0" bIns="0" rtlCol="0" anchor="ctr"/>
          <a:lstStyle/>
          <a:p>
            <a:r>
              <a:rPr lang="fr-FR" b="1" dirty="0">
                <a:solidFill>
                  <a:srgbClr val="0B1F3A"/>
                </a:solidFill>
                <a:latin typeface="Cambria" pitchFamily="34" charset="0"/>
                <a:ea typeface="Cambria" pitchFamily="34" charset="-122"/>
                <a:cs typeface="Cambria" pitchFamily="34" charset="-120"/>
              </a:rPr>
              <a:t>Le cycle de vie d'un logiciel</a:t>
            </a:r>
            <a:endParaRPr lang="fr-FR" dirty="0"/>
          </a:p>
        </p:txBody>
      </p:sp>
      <p:sp>
        <p:nvSpPr>
          <p:cNvPr id="10" name="Shape 3">
            <a:extLst>
              <a:ext uri="{FF2B5EF4-FFF2-40B4-BE49-F238E27FC236}">
                <a16:creationId xmlns:a16="http://schemas.microsoft.com/office/drawing/2014/main" id="{21A8F6C6-C38E-4FBA-61CD-747DBE24E4C5}"/>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77730EC8-6943-4BA9-A0C8-378FECD814DA}"/>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37C5B89C-BA3F-F308-0FFC-F46F9CAA0A0E}"/>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F28FAF2D-9946-FF2B-D983-D65603F42054}"/>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9</a:t>
            </a:r>
            <a:endParaRPr lang="en-US" sz="900" dirty="0"/>
          </a:p>
        </p:txBody>
      </p:sp>
      <p:pic>
        <p:nvPicPr>
          <p:cNvPr id="18" name="object 2">
            <a:extLst>
              <a:ext uri="{FF2B5EF4-FFF2-40B4-BE49-F238E27FC236}">
                <a16:creationId xmlns:a16="http://schemas.microsoft.com/office/drawing/2014/main" id="{4C49213B-F1B8-99E4-DFC7-4CFE85F6C84B}"/>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0569000A-56EE-986F-553A-575F48A4E0A6}"/>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7" name="Text 4">
            <a:extLst>
              <a:ext uri="{FF2B5EF4-FFF2-40B4-BE49-F238E27FC236}">
                <a16:creationId xmlns:a16="http://schemas.microsoft.com/office/drawing/2014/main" id="{0742A9EB-C441-80DA-5ED1-A07534EB525A}"/>
              </a:ext>
            </a:extLst>
          </p:cNvPr>
          <p:cNvSpPr/>
          <p:nvPr/>
        </p:nvSpPr>
        <p:spPr>
          <a:xfrm>
            <a:off x="320040" y="836538"/>
            <a:ext cx="8046720" cy="3954918"/>
          </a:xfrm>
          <a:prstGeom prst="rect">
            <a:avLst/>
          </a:prstGeom>
          <a:noFill/>
          <a:ln/>
        </p:spPr>
        <p:txBody>
          <a:bodyPr wrap="square" rtlCol="0" anchor="t"/>
          <a:lstStyle/>
          <a:p>
            <a:r>
              <a:rPr lang="fr-FR" sz="1200" dirty="0">
                <a:latin typeface="Calibri" pitchFamily="34" charset="0"/>
                <a:ea typeface="Calibri" pitchFamily="34" charset="-122"/>
                <a:cs typeface="Calibri" pitchFamily="34" charset="-120"/>
              </a:rPr>
              <a:t>À l'intérieur du SI, chaque application suit elle-même un cycle de développement propre</a:t>
            </a:r>
          </a:p>
          <a:p>
            <a:endParaRPr lang="fr-FR" sz="1200" dirty="0">
              <a:latin typeface="Calibri" pitchFamily="34" charset="0"/>
              <a:ea typeface="Calibri" pitchFamily="34" charset="-122"/>
              <a:cs typeface="Calibri" pitchFamily="34" charset="-120"/>
            </a:endParaRPr>
          </a:p>
          <a:p>
            <a:endParaRPr lang="fr-FR" sz="1200" dirty="0">
              <a:latin typeface="Calibri" pitchFamily="34" charset="0"/>
              <a:ea typeface="Calibri" pitchFamily="34" charset="-122"/>
              <a:cs typeface="Calibri" pitchFamily="34" charset="-120"/>
            </a:endParaRPr>
          </a:p>
          <a:p>
            <a:endParaRPr lang="fr-FR" sz="1200" dirty="0">
              <a:latin typeface="Calibri" pitchFamily="34" charset="0"/>
              <a:ea typeface="Calibri" pitchFamily="34" charset="-122"/>
              <a:cs typeface="Calibri" pitchFamily="34" charset="-120"/>
            </a:endParaRPr>
          </a:p>
          <a:p>
            <a:endParaRPr lang="fr-FR" sz="1200" dirty="0">
              <a:latin typeface="Calibri" pitchFamily="34" charset="0"/>
              <a:ea typeface="Calibri" pitchFamily="34" charset="-122"/>
              <a:cs typeface="Calibri" pitchFamily="34" charset="-120"/>
            </a:endParaRPr>
          </a:p>
          <a:p>
            <a:endParaRPr lang="fr-FR" sz="1200" dirty="0">
              <a:latin typeface="Calibri" pitchFamily="34" charset="0"/>
              <a:ea typeface="Calibri" pitchFamily="34" charset="-122"/>
              <a:cs typeface="Calibri" pitchFamily="34" charset="-120"/>
            </a:endParaRPr>
          </a:p>
          <a:p>
            <a:endParaRPr lang="fr-FR" sz="1200" dirty="0">
              <a:latin typeface="Calibri" pitchFamily="34" charset="0"/>
              <a:ea typeface="Calibri" pitchFamily="34" charset="-122"/>
              <a:cs typeface="Calibri" pitchFamily="34" charset="-120"/>
            </a:endParaRPr>
          </a:p>
          <a:p>
            <a:endParaRPr lang="fr-FR" sz="1200" dirty="0">
              <a:latin typeface="Calibri" pitchFamily="34" charset="0"/>
              <a:ea typeface="Calibri" pitchFamily="34" charset="-122"/>
              <a:cs typeface="Calibri" pitchFamily="34" charset="-120"/>
            </a:endParaRPr>
          </a:p>
          <a:p>
            <a:endParaRPr lang="fr-FR" sz="1200" dirty="0">
              <a:latin typeface="Calibri" pitchFamily="34" charset="0"/>
              <a:ea typeface="Calibri" pitchFamily="34" charset="-122"/>
              <a:cs typeface="Calibri" pitchFamily="34" charset="-120"/>
            </a:endParaRPr>
          </a:p>
          <a:p>
            <a:endParaRPr lang="fr-FR" sz="1200" dirty="0">
              <a:latin typeface="Calibri" pitchFamily="34" charset="0"/>
              <a:ea typeface="Calibri" pitchFamily="34" charset="-122"/>
              <a:cs typeface="Calibri" pitchFamily="34" charset="-120"/>
            </a:endParaRPr>
          </a:p>
          <a:p>
            <a:endParaRPr lang="fr-FR" sz="1200" dirty="0">
              <a:latin typeface="Calibri" pitchFamily="34" charset="0"/>
              <a:ea typeface="Calibri" pitchFamily="34" charset="-122"/>
              <a:cs typeface="Calibri" pitchFamily="34" charset="-120"/>
            </a:endParaRPr>
          </a:p>
          <a:p>
            <a:endParaRPr lang="fr-FR" sz="1200" dirty="0">
              <a:latin typeface="Calibri" pitchFamily="34" charset="0"/>
              <a:ea typeface="Calibri" pitchFamily="34" charset="-122"/>
              <a:cs typeface="Calibri" pitchFamily="34" charset="-120"/>
            </a:endParaRPr>
          </a:p>
          <a:p>
            <a:pPr>
              <a:lnSpc>
                <a:spcPct val="150000"/>
              </a:lnSpc>
            </a:pPr>
            <a:r>
              <a:rPr lang="fr-FR" sz="1200" dirty="0">
                <a:latin typeface="Calibri" pitchFamily="34" charset="0"/>
                <a:ea typeface="Calibri" pitchFamily="34" charset="-122"/>
                <a:cs typeface="Calibri" pitchFamily="34" charset="-120"/>
              </a:rPr>
              <a:t>NB : La documentation accompagne tout le cycle de vie du SI. Elle garantit la traçabilité des décisions, facilite la maintenance et assure la continuité des connaissances entre les équipes.</a:t>
            </a:r>
          </a:p>
          <a:p>
            <a:endParaRPr lang="fr-FR" sz="1200" dirty="0"/>
          </a:p>
        </p:txBody>
      </p:sp>
      <p:sp>
        <p:nvSpPr>
          <p:cNvPr id="11" name="TextBox 10">
            <a:extLst>
              <a:ext uri="{FF2B5EF4-FFF2-40B4-BE49-F238E27FC236}">
                <a16:creationId xmlns:a16="http://schemas.microsoft.com/office/drawing/2014/main" id="{AE988AA8-51EC-9E88-7B04-50749EB91153}"/>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grpSp>
        <p:nvGrpSpPr>
          <p:cNvPr id="90" name="Group 89">
            <a:extLst>
              <a:ext uri="{FF2B5EF4-FFF2-40B4-BE49-F238E27FC236}">
                <a16:creationId xmlns:a16="http://schemas.microsoft.com/office/drawing/2014/main" id="{0A87E6CD-7959-8FDE-CE2C-5D2000FA0054}"/>
              </a:ext>
            </a:extLst>
          </p:cNvPr>
          <p:cNvGrpSpPr/>
          <p:nvPr/>
        </p:nvGrpSpPr>
        <p:grpSpPr>
          <a:xfrm>
            <a:off x="594193" y="1499616"/>
            <a:ext cx="7955614" cy="1207008"/>
            <a:chOff x="411480" y="1995311"/>
            <a:chExt cx="10881360" cy="1728216"/>
          </a:xfrm>
        </p:grpSpPr>
        <p:sp>
          <p:nvSpPr>
            <p:cNvPr id="16" name="Shape 3">
              <a:extLst>
                <a:ext uri="{FF2B5EF4-FFF2-40B4-BE49-F238E27FC236}">
                  <a16:creationId xmlns:a16="http://schemas.microsoft.com/office/drawing/2014/main" id="{D8A46A59-C1ED-6698-5F14-C56EF9330F47}"/>
                </a:ext>
              </a:extLst>
            </p:cNvPr>
            <p:cNvSpPr/>
            <p:nvPr/>
          </p:nvSpPr>
          <p:spPr>
            <a:xfrm>
              <a:off x="1234440" y="2690255"/>
              <a:ext cx="9235440" cy="0"/>
            </a:xfrm>
            <a:prstGeom prst="line">
              <a:avLst/>
            </a:prstGeom>
            <a:noFill/>
            <a:ln w="38100">
              <a:solidFill>
                <a:srgbClr val="E3EDF1"/>
              </a:solidFill>
              <a:prstDash val="solid"/>
            </a:ln>
          </p:spPr>
          <p:txBody>
            <a:bodyPr/>
            <a:lstStyle/>
            <a:p>
              <a:endParaRPr lang="fr-FR" noProof="0" dirty="0"/>
            </a:p>
          </p:txBody>
        </p:sp>
        <p:sp>
          <p:nvSpPr>
            <p:cNvPr id="20" name="Shape 4">
              <a:extLst>
                <a:ext uri="{FF2B5EF4-FFF2-40B4-BE49-F238E27FC236}">
                  <a16:creationId xmlns:a16="http://schemas.microsoft.com/office/drawing/2014/main" id="{6CC23D78-A37F-4E03-F9FD-1489DFD9D936}"/>
                </a:ext>
              </a:extLst>
            </p:cNvPr>
            <p:cNvSpPr/>
            <p:nvPr/>
          </p:nvSpPr>
          <p:spPr>
            <a:xfrm>
              <a:off x="850392" y="2306207"/>
              <a:ext cx="768096" cy="768096"/>
            </a:xfrm>
            <a:prstGeom prst="ellipse">
              <a:avLst/>
            </a:prstGeom>
            <a:solidFill>
              <a:srgbClr val="0B5A8C"/>
            </a:solidFill>
            <a:ln/>
            <a:effectLst>
              <a:outerShdw blurRad="127000" dist="38100" dir="2700000" algn="bl" rotWithShape="0">
                <a:srgbClr val="1B2A4A">
                  <a:alpha val="14000"/>
                </a:srgbClr>
              </a:outerShdw>
            </a:effectLst>
          </p:spPr>
          <p:txBody>
            <a:bodyPr/>
            <a:lstStyle/>
            <a:p>
              <a:endParaRPr lang="fr-FR" noProof="0" dirty="0"/>
            </a:p>
          </p:txBody>
        </p:sp>
        <p:sp>
          <p:nvSpPr>
            <p:cNvPr id="22" name="Shape 5">
              <a:extLst>
                <a:ext uri="{FF2B5EF4-FFF2-40B4-BE49-F238E27FC236}">
                  <a16:creationId xmlns:a16="http://schemas.microsoft.com/office/drawing/2014/main" id="{0808BED1-5BEC-30A3-99ED-D82E0B5D578C}"/>
                </a:ext>
              </a:extLst>
            </p:cNvPr>
            <p:cNvSpPr/>
            <p:nvPr/>
          </p:nvSpPr>
          <p:spPr>
            <a:xfrm>
              <a:off x="950976" y="2406791"/>
              <a:ext cx="566928" cy="566928"/>
            </a:xfrm>
            <a:prstGeom prst="ellipse">
              <a:avLst/>
            </a:prstGeom>
            <a:solidFill>
              <a:srgbClr val="FFFFFF"/>
            </a:solidFill>
            <a:ln/>
          </p:spPr>
          <p:txBody>
            <a:bodyPr/>
            <a:lstStyle/>
            <a:p>
              <a:endParaRPr lang="fr-FR" noProof="0" dirty="0"/>
            </a:p>
          </p:txBody>
        </p:sp>
        <p:pic>
          <p:nvPicPr>
            <p:cNvPr id="24" name="Image 0" descr="preencoded.png">
              <a:extLst>
                <a:ext uri="{FF2B5EF4-FFF2-40B4-BE49-F238E27FC236}">
                  <a16:creationId xmlns:a16="http://schemas.microsoft.com/office/drawing/2014/main" id="{DCA5BFD5-98CF-9AD2-296B-D02F72E0B04C}"/>
                </a:ext>
              </a:extLst>
            </p:cNvPr>
            <p:cNvPicPr>
              <a:picLocks noChangeAspect="1"/>
            </p:cNvPicPr>
            <p:nvPr/>
          </p:nvPicPr>
          <p:blipFill>
            <a:blip r:embed="rId7"/>
            <a:stretch>
              <a:fillRect/>
            </a:stretch>
          </p:blipFill>
          <p:spPr>
            <a:xfrm>
              <a:off x="1060704" y="2516519"/>
              <a:ext cx="347472" cy="347472"/>
            </a:xfrm>
            <a:prstGeom prst="rect">
              <a:avLst/>
            </a:prstGeom>
          </p:spPr>
        </p:pic>
        <p:sp>
          <p:nvSpPr>
            <p:cNvPr id="26" name="Text 6">
              <a:extLst>
                <a:ext uri="{FF2B5EF4-FFF2-40B4-BE49-F238E27FC236}">
                  <a16:creationId xmlns:a16="http://schemas.microsoft.com/office/drawing/2014/main" id="{A2E867BD-980E-4820-C168-A5D90AB19E47}"/>
                </a:ext>
              </a:extLst>
            </p:cNvPr>
            <p:cNvSpPr/>
            <p:nvPr/>
          </p:nvSpPr>
          <p:spPr>
            <a:xfrm>
              <a:off x="411480" y="3220607"/>
              <a:ext cx="1645920" cy="502920"/>
            </a:xfrm>
            <a:prstGeom prst="rect">
              <a:avLst/>
            </a:prstGeom>
            <a:noFill/>
            <a:ln/>
          </p:spPr>
          <p:txBody>
            <a:bodyPr wrap="square" lIns="0" tIns="0" rIns="0" bIns="0" rtlCol="0" anchor="ctr"/>
            <a:lstStyle/>
            <a:p>
              <a:pPr marL="0" indent="0" algn="ctr">
                <a:lnSpc>
                  <a:spcPct val="105000"/>
                </a:lnSpc>
                <a:buNone/>
              </a:pPr>
              <a:r>
                <a:rPr lang="fr-FR" sz="1050" b="1" noProof="0" dirty="0">
                  <a:solidFill>
                    <a:srgbClr val="1B2A3A"/>
                  </a:solidFill>
                  <a:latin typeface="Calibri" pitchFamily="34" charset="0"/>
                  <a:ea typeface="Calibri" pitchFamily="34" charset="-122"/>
                  <a:cs typeface="Calibri" pitchFamily="34" charset="-120"/>
                </a:rPr>
                <a:t>Expression des besoins</a:t>
              </a:r>
              <a:endParaRPr lang="fr-FR" sz="1050" noProof="0" dirty="0"/>
            </a:p>
          </p:txBody>
        </p:sp>
        <p:sp>
          <p:nvSpPr>
            <p:cNvPr id="28" name="Text 7">
              <a:extLst>
                <a:ext uri="{FF2B5EF4-FFF2-40B4-BE49-F238E27FC236}">
                  <a16:creationId xmlns:a16="http://schemas.microsoft.com/office/drawing/2014/main" id="{92D9A81F-F2DA-C68D-B1C9-EDF130CF55B2}"/>
                </a:ext>
              </a:extLst>
            </p:cNvPr>
            <p:cNvSpPr/>
            <p:nvPr/>
          </p:nvSpPr>
          <p:spPr>
            <a:xfrm>
              <a:off x="850392" y="1995311"/>
              <a:ext cx="768096" cy="256032"/>
            </a:xfrm>
            <a:prstGeom prst="rect">
              <a:avLst/>
            </a:prstGeom>
            <a:noFill/>
            <a:ln/>
          </p:spPr>
          <p:txBody>
            <a:bodyPr wrap="square" lIns="0" tIns="0" rIns="0" bIns="0" rtlCol="0" anchor="ctr"/>
            <a:lstStyle/>
            <a:p>
              <a:pPr marL="0" indent="0" algn="ctr">
                <a:buNone/>
              </a:pPr>
              <a:r>
                <a:rPr lang="fr-FR" sz="900" b="1" noProof="0" dirty="0">
                  <a:solidFill>
                    <a:srgbClr val="5C7182"/>
                  </a:solidFill>
                  <a:latin typeface="Calibri" pitchFamily="34" charset="0"/>
                  <a:ea typeface="Calibri" pitchFamily="34" charset="-122"/>
                  <a:cs typeface="Calibri" pitchFamily="34" charset="-120"/>
                </a:rPr>
                <a:t>1</a:t>
              </a:r>
              <a:endParaRPr lang="fr-FR" sz="900" noProof="0" dirty="0"/>
            </a:p>
          </p:txBody>
        </p:sp>
        <p:sp>
          <p:nvSpPr>
            <p:cNvPr id="30" name="Shape 8">
              <a:extLst>
                <a:ext uri="{FF2B5EF4-FFF2-40B4-BE49-F238E27FC236}">
                  <a16:creationId xmlns:a16="http://schemas.microsoft.com/office/drawing/2014/main" id="{5A55E680-30B5-E08E-B688-95A5C86B4BD4}"/>
                </a:ext>
              </a:extLst>
            </p:cNvPr>
            <p:cNvSpPr/>
            <p:nvPr/>
          </p:nvSpPr>
          <p:spPr>
            <a:xfrm>
              <a:off x="2389632" y="2306207"/>
              <a:ext cx="768096" cy="768096"/>
            </a:xfrm>
            <a:prstGeom prst="ellipse">
              <a:avLst/>
            </a:prstGeom>
            <a:solidFill>
              <a:srgbClr val="0B5A8C"/>
            </a:solidFill>
            <a:ln/>
            <a:effectLst>
              <a:outerShdw blurRad="127000" dist="38100" dir="2700000" algn="bl" rotWithShape="0">
                <a:srgbClr val="1B2A4A">
                  <a:alpha val="14000"/>
                </a:srgbClr>
              </a:outerShdw>
            </a:effectLst>
          </p:spPr>
          <p:txBody>
            <a:bodyPr/>
            <a:lstStyle/>
            <a:p>
              <a:endParaRPr lang="fr-FR" noProof="0" dirty="0"/>
            </a:p>
          </p:txBody>
        </p:sp>
        <p:sp>
          <p:nvSpPr>
            <p:cNvPr id="32" name="Shape 9">
              <a:extLst>
                <a:ext uri="{FF2B5EF4-FFF2-40B4-BE49-F238E27FC236}">
                  <a16:creationId xmlns:a16="http://schemas.microsoft.com/office/drawing/2014/main" id="{0852D855-B07E-1B56-B5DC-2327ADC3DD39}"/>
                </a:ext>
              </a:extLst>
            </p:cNvPr>
            <p:cNvSpPr/>
            <p:nvPr/>
          </p:nvSpPr>
          <p:spPr>
            <a:xfrm>
              <a:off x="2490216" y="2406791"/>
              <a:ext cx="566928" cy="566928"/>
            </a:xfrm>
            <a:prstGeom prst="ellipse">
              <a:avLst/>
            </a:prstGeom>
            <a:solidFill>
              <a:srgbClr val="FFFFFF"/>
            </a:solidFill>
            <a:ln/>
          </p:spPr>
          <p:txBody>
            <a:bodyPr/>
            <a:lstStyle/>
            <a:p>
              <a:endParaRPr lang="fr-FR" noProof="0" dirty="0"/>
            </a:p>
          </p:txBody>
        </p:sp>
        <p:pic>
          <p:nvPicPr>
            <p:cNvPr id="34" name="Image 1" descr="preencoded.png">
              <a:extLst>
                <a:ext uri="{FF2B5EF4-FFF2-40B4-BE49-F238E27FC236}">
                  <a16:creationId xmlns:a16="http://schemas.microsoft.com/office/drawing/2014/main" id="{E678FF03-E615-434B-81FF-77627D9EA800}"/>
                </a:ext>
              </a:extLst>
            </p:cNvPr>
            <p:cNvPicPr>
              <a:picLocks noChangeAspect="1"/>
            </p:cNvPicPr>
            <p:nvPr/>
          </p:nvPicPr>
          <p:blipFill>
            <a:blip r:embed="rId8"/>
            <a:stretch>
              <a:fillRect/>
            </a:stretch>
          </p:blipFill>
          <p:spPr>
            <a:xfrm>
              <a:off x="2599944" y="2516519"/>
              <a:ext cx="347472" cy="347472"/>
            </a:xfrm>
            <a:prstGeom prst="rect">
              <a:avLst/>
            </a:prstGeom>
          </p:spPr>
        </p:pic>
        <p:sp>
          <p:nvSpPr>
            <p:cNvPr id="36" name="Text 10">
              <a:extLst>
                <a:ext uri="{FF2B5EF4-FFF2-40B4-BE49-F238E27FC236}">
                  <a16:creationId xmlns:a16="http://schemas.microsoft.com/office/drawing/2014/main" id="{BC887B1D-6A4F-2714-3D0A-B79055F7644F}"/>
                </a:ext>
              </a:extLst>
            </p:cNvPr>
            <p:cNvSpPr/>
            <p:nvPr/>
          </p:nvSpPr>
          <p:spPr>
            <a:xfrm>
              <a:off x="1950720" y="3220607"/>
              <a:ext cx="1645920" cy="502920"/>
            </a:xfrm>
            <a:prstGeom prst="rect">
              <a:avLst/>
            </a:prstGeom>
            <a:noFill/>
            <a:ln/>
          </p:spPr>
          <p:txBody>
            <a:bodyPr wrap="square" lIns="0" tIns="0" rIns="0" bIns="0" rtlCol="0" anchor="ctr"/>
            <a:lstStyle/>
            <a:p>
              <a:pPr marL="0" indent="0" algn="ctr">
                <a:lnSpc>
                  <a:spcPct val="105000"/>
                </a:lnSpc>
                <a:buNone/>
              </a:pPr>
              <a:r>
                <a:rPr lang="fr-FR" sz="1050" b="1" noProof="0" dirty="0">
                  <a:solidFill>
                    <a:srgbClr val="1B2A3A"/>
                  </a:solidFill>
                  <a:latin typeface="Calibri" pitchFamily="34" charset="0"/>
                  <a:ea typeface="Calibri" pitchFamily="34" charset="-122"/>
                  <a:cs typeface="Calibri" pitchFamily="34" charset="-120"/>
                </a:rPr>
                <a:t>Analyse</a:t>
              </a:r>
              <a:endParaRPr lang="fr-FR" sz="1050" noProof="0" dirty="0"/>
            </a:p>
          </p:txBody>
        </p:sp>
        <p:sp>
          <p:nvSpPr>
            <p:cNvPr id="38" name="Text 11">
              <a:extLst>
                <a:ext uri="{FF2B5EF4-FFF2-40B4-BE49-F238E27FC236}">
                  <a16:creationId xmlns:a16="http://schemas.microsoft.com/office/drawing/2014/main" id="{AA59FF32-5435-9CC0-1164-3ED311C8D253}"/>
                </a:ext>
              </a:extLst>
            </p:cNvPr>
            <p:cNvSpPr/>
            <p:nvPr/>
          </p:nvSpPr>
          <p:spPr>
            <a:xfrm>
              <a:off x="2389632" y="1995311"/>
              <a:ext cx="768096" cy="256032"/>
            </a:xfrm>
            <a:prstGeom prst="rect">
              <a:avLst/>
            </a:prstGeom>
            <a:noFill/>
            <a:ln/>
          </p:spPr>
          <p:txBody>
            <a:bodyPr wrap="square" lIns="0" tIns="0" rIns="0" bIns="0" rtlCol="0" anchor="ctr"/>
            <a:lstStyle/>
            <a:p>
              <a:pPr marL="0" indent="0" algn="ctr">
                <a:buNone/>
              </a:pPr>
              <a:r>
                <a:rPr lang="fr-FR" sz="900" b="1" noProof="0" dirty="0">
                  <a:solidFill>
                    <a:srgbClr val="5C7182"/>
                  </a:solidFill>
                  <a:latin typeface="Calibri" pitchFamily="34" charset="0"/>
                  <a:ea typeface="Calibri" pitchFamily="34" charset="-122"/>
                  <a:cs typeface="Calibri" pitchFamily="34" charset="-120"/>
                </a:rPr>
                <a:t>2</a:t>
              </a:r>
              <a:endParaRPr lang="fr-FR" sz="900" noProof="0" dirty="0"/>
            </a:p>
          </p:txBody>
        </p:sp>
        <p:sp>
          <p:nvSpPr>
            <p:cNvPr id="40" name="Shape 12">
              <a:extLst>
                <a:ext uri="{FF2B5EF4-FFF2-40B4-BE49-F238E27FC236}">
                  <a16:creationId xmlns:a16="http://schemas.microsoft.com/office/drawing/2014/main" id="{0EBAC8E7-5142-D46B-14D0-140A7CAB50D4}"/>
                </a:ext>
              </a:extLst>
            </p:cNvPr>
            <p:cNvSpPr/>
            <p:nvPr/>
          </p:nvSpPr>
          <p:spPr>
            <a:xfrm>
              <a:off x="3928872" y="2306207"/>
              <a:ext cx="768096" cy="768096"/>
            </a:xfrm>
            <a:prstGeom prst="ellipse">
              <a:avLst/>
            </a:prstGeom>
            <a:solidFill>
              <a:srgbClr val="0B5A8C"/>
            </a:solidFill>
            <a:ln/>
            <a:effectLst>
              <a:outerShdw blurRad="127000" dist="38100" dir="2700000" algn="bl" rotWithShape="0">
                <a:srgbClr val="1B2A4A">
                  <a:alpha val="14000"/>
                </a:srgbClr>
              </a:outerShdw>
            </a:effectLst>
          </p:spPr>
          <p:txBody>
            <a:bodyPr/>
            <a:lstStyle/>
            <a:p>
              <a:endParaRPr lang="fr-FR" noProof="0" dirty="0"/>
            </a:p>
          </p:txBody>
        </p:sp>
        <p:sp>
          <p:nvSpPr>
            <p:cNvPr id="42" name="Shape 13">
              <a:extLst>
                <a:ext uri="{FF2B5EF4-FFF2-40B4-BE49-F238E27FC236}">
                  <a16:creationId xmlns:a16="http://schemas.microsoft.com/office/drawing/2014/main" id="{AC3498C7-CFFD-31E6-2F27-B9110EEA5FDC}"/>
                </a:ext>
              </a:extLst>
            </p:cNvPr>
            <p:cNvSpPr/>
            <p:nvPr/>
          </p:nvSpPr>
          <p:spPr>
            <a:xfrm>
              <a:off x="4029456" y="2406791"/>
              <a:ext cx="566928" cy="566928"/>
            </a:xfrm>
            <a:prstGeom prst="ellipse">
              <a:avLst/>
            </a:prstGeom>
            <a:solidFill>
              <a:srgbClr val="FFFFFF"/>
            </a:solidFill>
            <a:ln/>
          </p:spPr>
          <p:txBody>
            <a:bodyPr/>
            <a:lstStyle/>
            <a:p>
              <a:endParaRPr lang="fr-FR" noProof="0" dirty="0"/>
            </a:p>
          </p:txBody>
        </p:sp>
        <p:pic>
          <p:nvPicPr>
            <p:cNvPr id="44" name="Image 2" descr="preencoded.png">
              <a:extLst>
                <a:ext uri="{FF2B5EF4-FFF2-40B4-BE49-F238E27FC236}">
                  <a16:creationId xmlns:a16="http://schemas.microsoft.com/office/drawing/2014/main" id="{E4C98B5B-851B-3E19-E17D-904072FA1023}"/>
                </a:ext>
              </a:extLst>
            </p:cNvPr>
            <p:cNvPicPr>
              <a:picLocks noChangeAspect="1"/>
            </p:cNvPicPr>
            <p:nvPr/>
          </p:nvPicPr>
          <p:blipFill>
            <a:blip r:embed="rId9"/>
            <a:stretch>
              <a:fillRect/>
            </a:stretch>
          </p:blipFill>
          <p:spPr>
            <a:xfrm>
              <a:off x="4139184" y="2516519"/>
              <a:ext cx="347472" cy="347472"/>
            </a:xfrm>
            <a:prstGeom prst="rect">
              <a:avLst/>
            </a:prstGeom>
          </p:spPr>
        </p:pic>
        <p:sp>
          <p:nvSpPr>
            <p:cNvPr id="46" name="Text 14">
              <a:extLst>
                <a:ext uri="{FF2B5EF4-FFF2-40B4-BE49-F238E27FC236}">
                  <a16:creationId xmlns:a16="http://schemas.microsoft.com/office/drawing/2014/main" id="{8A7ED4B2-4FE0-DBDA-307C-7017D7036ADF}"/>
                </a:ext>
              </a:extLst>
            </p:cNvPr>
            <p:cNvSpPr/>
            <p:nvPr/>
          </p:nvSpPr>
          <p:spPr>
            <a:xfrm>
              <a:off x="3489960" y="3220607"/>
              <a:ext cx="1645920" cy="502920"/>
            </a:xfrm>
            <a:prstGeom prst="rect">
              <a:avLst/>
            </a:prstGeom>
            <a:noFill/>
            <a:ln/>
          </p:spPr>
          <p:txBody>
            <a:bodyPr wrap="square" lIns="0" tIns="0" rIns="0" bIns="0" rtlCol="0" anchor="ctr"/>
            <a:lstStyle/>
            <a:p>
              <a:pPr marL="0" indent="0" algn="ctr">
                <a:lnSpc>
                  <a:spcPct val="105000"/>
                </a:lnSpc>
                <a:buNone/>
              </a:pPr>
              <a:r>
                <a:rPr lang="fr-FR" sz="1050" b="1" noProof="0" dirty="0">
                  <a:solidFill>
                    <a:srgbClr val="1B2A3A"/>
                  </a:solidFill>
                  <a:latin typeface="Calibri" pitchFamily="34" charset="0"/>
                  <a:ea typeface="Calibri" pitchFamily="34" charset="-122"/>
                  <a:cs typeface="Calibri" pitchFamily="34" charset="-120"/>
                </a:rPr>
                <a:t>Conception</a:t>
              </a:r>
              <a:endParaRPr lang="fr-FR" sz="1050" noProof="0" dirty="0"/>
            </a:p>
          </p:txBody>
        </p:sp>
        <p:sp>
          <p:nvSpPr>
            <p:cNvPr id="48" name="Text 15">
              <a:extLst>
                <a:ext uri="{FF2B5EF4-FFF2-40B4-BE49-F238E27FC236}">
                  <a16:creationId xmlns:a16="http://schemas.microsoft.com/office/drawing/2014/main" id="{E0BAEE6A-7537-340C-30C2-8E9899EE74A8}"/>
                </a:ext>
              </a:extLst>
            </p:cNvPr>
            <p:cNvSpPr/>
            <p:nvPr/>
          </p:nvSpPr>
          <p:spPr>
            <a:xfrm>
              <a:off x="3928872" y="1995311"/>
              <a:ext cx="768096" cy="256032"/>
            </a:xfrm>
            <a:prstGeom prst="rect">
              <a:avLst/>
            </a:prstGeom>
            <a:noFill/>
            <a:ln/>
          </p:spPr>
          <p:txBody>
            <a:bodyPr wrap="square" lIns="0" tIns="0" rIns="0" bIns="0" rtlCol="0" anchor="ctr"/>
            <a:lstStyle/>
            <a:p>
              <a:pPr marL="0" indent="0" algn="ctr">
                <a:buNone/>
              </a:pPr>
              <a:r>
                <a:rPr lang="fr-FR" sz="900" b="1" noProof="0" dirty="0">
                  <a:solidFill>
                    <a:srgbClr val="5C7182"/>
                  </a:solidFill>
                  <a:latin typeface="Calibri" pitchFamily="34" charset="0"/>
                  <a:ea typeface="Calibri" pitchFamily="34" charset="-122"/>
                  <a:cs typeface="Calibri" pitchFamily="34" charset="-120"/>
                </a:rPr>
                <a:t>3</a:t>
              </a:r>
              <a:endParaRPr lang="fr-FR" sz="900" noProof="0" dirty="0"/>
            </a:p>
          </p:txBody>
        </p:sp>
        <p:sp>
          <p:nvSpPr>
            <p:cNvPr id="51" name="Shape 16">
              <a:extLst>
                <a:ext uri="{FF2B5EF4-FFF2-40B4-BE49-F238E27FC236}">
                  <a16:creationId xmlns:a16="http://schemas.microsoft.com/office/drawing/2014/main" id="{A82E2DFC-21FF-B2B6-B70E-D8D0EC5E6F8F}"/>
                </a:ext>
              </a:extLst>
            </p:cNvPr>
            <p:cNvSpPr/>
            <p:nvPr/>
          </p:nvSpPr>
          <p:spPr>
            <a:xfrm>
              <a:off x="5468112" y="2306207"/>
              <a:ext cx="768096" cy="768096"/>
            </a:xfrm>
            <a:prstGeom prst="ellipse">
              <a:avLst/>
            </a:prstGeom>
            <a:solidFill>
              <a:srgbClr val="0B5A8C"/>
            </a:solidFill>
            <a:ln/>
            <a:effectLst>
              <a:outerShdw blurRad="127000" dist="38100" dir="2700000" algn="bl" rotWithShape="0">
                <a:srgbClr val="1B2A4A">
                  <a:alpha val="14000"/>
                </a:srgbClr>
              </a:outerShdw>
            </a:effectLst>
          </p:spPr>
          <p:txBody>
            <a:bodyPr/>
            <a:lstStyle/>
            <a:p>
              <a:endParaRPr lang="fr-FR" noProof="0" dirty="0"/>
            </a:p>
          </p:txBody>
        </p:sp>
        <p:sp>
          <p:nvSpPr>
            <p:cNvPr id="53" name="Shape 17">
              <a:extLst>
                <a:ext uri="{FF2B5EF4-FFF2-40B4-BE49-F238E27FC236}">
                  <a16:creationId xmlns:a16="http://schemas.microsoft.com/office/drawing/2014/main" id="{3D85AE43-737A-1126-2398-DADEDC614CDD}"/>
                </a:ext>
              </a:extLst>
            </p:cNvPr>
            <p:cNvSpPr/>
            <p:nvPr/>
          </p:nvSpPr>
          <p:spPr>
            <a:xfrm>
              <a:off x="5568696" y="2406791"/>
              <a:ext cx="566928" cy="566928"/>
            </a:xfrm>
            <a:prstGeom prst="ellipse">
              <a:avLst/>
            </a:prstGeom>
            <a:solidFill>
              <a:srgbClr val="FFFFFF"/>
            </a:solidFill>
            <a:ln/>
          </p:spPr>
          <p:txBody>
            <a:bodyPr/>
            <a:lstStyle/>
            <a:p>
              <a:endParaRPr lang="fr-FR" noProof="0" dirty="0"/>
            </a:p>
          </p:txBody>
        </p:sp>
        <p:pic>
          <p:nvPicPr>
            <p:cNvPr id="55" name="Image 3" descr="preencoded.png">
              <a:extLst>
                <a:ext uri="{FF2B5EF4-FFF2-40B4-BE49-F238E27FC236}">
                  <a16:creationId xmlns:a16="http://schemas.microsoft.com/office/drawing/2014/main" id="{75FC6F3C-BA42-AD12-9D2C-6C1B9AF3C898}"/>
                </a:ext>
              </a:extLst>
            </p:cNvPr>
            <p:cNvPicPr>
              <a:picLocks noChangeAspect="1"/>
            </p:cNvPicPr>
            <p:nvPr/>
          </p:nvPicPr>
          <p:blipFill>
            <a:blip r:embed="rId10"/>
            <a:stretch>
              <a:fillRect/>
            </a:stretch>
          </p:blipFill>
          <p:spPr>
            <a:xfrm>
              <a:off x="5678424" y="2516519"/>
              <a:ext cx="347472" cy="347472"/>
            </a:xfrm>
            <a:prstGeom prst="rect">
              <a:avLst/>
            </a:prstGeom>
          </p:spPr>
        </p:pic>
        <p:sp>
          <p:nvSpPr>
            <p:cNvPr id="57" name="Text 18">
              <a:extLst>
                <a:ext uri="{FF2B5EF4-FFF2-40B4-BE49-F238E27FC236}">
                  <a16:creationId xmlns:a16="http://schemas.microsoft.com/office/drawing/2014/main" id="{D85B9A3D-941F-2B77-1672-F28BA641309C}"/>
                </a:ext>
              </a:extLst>
            </p:cNvPr>
            <p:cNvSpPr/>
            <p:nvPr/>
          </p:nvSpPr>
          <p:spPr>
            <a:xfrm>
              <a:off x="5029200" y="3220607"/>
              <a:ext cx="1645920" cy="502920"/>
            </a:xfrm>
            <a:prstGeom prst="rect">
              <a:avLst/>
            </a:prstGeom>
            <a:noFill/>
            <a:ln/>
          </p:spPr>
          <p:txBody>
            <a:bodyPr wrap="square" lIns="0" tIns="0" rIns="0" bIns="0" rtlCol="0" anchor="ctr"/>
            <a:lstStyle/>
            <a:p>
              <a:pPr marL="0" indent="0" algn="ctr">
                <a:lnSpc>
                  <a:spcPct val="105000"/>
                </a:lnSpc>
                <a:buNone/>
              </a:pPr>
              <a:r>
                <a:rPr lang="fr-FR" sz="1050" b="1" noProof="0" dirty="0">
                  <a:solidFill>
                    <a:srgbClr val="1B2A3A"/>
                  </a:solidFill>
                  <a:latin typeface="Calibri" pitchFamily="34" charset="0"/>
                  <a:ea typeface="Calibri" pitchFamily="34" charset="-122"/>
                  <a:cs typeface="Calibri" pitchFamily="34" charset="-120"/>
                </a:rPr>
                <a:t>Développement</a:t>
              </a:r>
              <a:endParaRPr lang="fr-FR" sz="1050" noProof="0" dirty="0"/>
            </a:p>
          </p:txBody>
        </p:sp>
        <p:sp>
          <p:nvSpPr>
            <p:cNvPr id="59" name="Text 19">
              <a:extLst>
                <a:ext uri="{FF2B5EF4-FFF2-40B4-BE49-F238E27FC236}">
                  <a16:creationId xmlns:a16="http://schemas.microsoft.com/office/drawing/2014/main" id="{81214B21-ABD0-F79D-CCFB-81E92446F0DD}"/>
                </a:ext>
              </a:extLst>
            </p:cNvPr>
            <p:cNvSpPr/>
            <p:nvPr/>
          </p:nvSpPr>
          <p:spPr>
            <a:xfrm>
              <a:off x="5468112" y="1995311"/>
              <a:ext cx="768096" cy="256032"/>
            </a:xfrm>
            <a:prstGeom prst="rect">
              <a:avLst/>
            </a:prstGeom>
            <a:noFill/>
            <a:ln/>
          </p:spPr>
          <p:txBody>
            <a:bodyPr wrap="square" lIns="0" tIns="0" rIns="0" bIns="0" rtlCol="0" anchor="ctr"/>
            <a:lstStyle/>
            <a:p>
              <a:pPr marL="0" indent="0" algn="ctr">
                <a:buNone/>
              </a:pPr>
              <a:r>
                <a:rPr lang="fr-FR" sz="900" b="1" noProof="0" dirty="0">
                  <a:solidFill>
                    <a:srgbClr val="5C7182"/>
                  </a:solidFill>
                  <a:latin typeface="Calibri" pitchFamily="34" charset="0"/>
                  <a:ea typeface="Calibri" pitchFamily="34" charset="-122"/>
                  <a:cs typeface="Calibri" pitchFamily="34" charset="-120"/>
                </a:rPr>
                <a:t>4</a:t>
              </a:r>
              <a:endParaRPr lang="fr-FR" sz="900" noProof="0" dirty="0"/>
            </a:p>
          </p:txBody>
        </p:sp>
        <p:sp>
          <p:nvSpPr>
            <p:cNvPr id="61" name="Shape 20">
              <a:extLst>
                <a:ext uri="{FF2B5EF4-FFF2-40B4-BE49-F238E27FC236}">
                  <a16:creationId xmlns:a16="http://schemas.microsoft.com/office/drawing/2014/main" id="{8C962729-9FBD-6539-BDA5-756F9E003EE2}"/>
                </a:ext>
              </a:extLst>
            </p:cNvPr>
            <p:cNvSpPr/>
            <p:nvPr/>
          </p:nvSpPr>
          <p:spPr>
            <a:xfrm>
              <a:off x="7007352" y="2306207"/>
              <a:ext cx="768096" cy="768096"/>
            </a:xfrm>
            <a:prstGeom prst="ellipse">
              <a:avLst/>
            </a:prstGeom>
            <a:solidFill>
              <a:srgbClr val="0B5A8C"/>
            </a:solidFill>
            <a:ln/>
            <a:effectLst>
              <a:outerShdw blurRad="127000" dist="38100" dir="2700000" algn="bl" rotWithShape="0">
                <a:srgbClr val="1B2A4A">
                  <a:alpha val="14000"/>
                </a:srgbClr>
              </a:outerShdw>
            </a:effectLst>
          </p:spPr>
          <p:txBody>
            <a:bodyPr/>
            <a:lstStyle/>
            <a:p>
              <a:endParaRPr lang="fr-FR" noProof="0" dirty="0"/>
            </a:p>
          </p:txBody>
        </p:sp>
        <p:sp>
          <p:nvSpPr>
            <p:cNvPr id="63" name="Shape 21">
              <a:extLst>
                <a:ext uri="{FF2B5EF4-FFF2-40B4-BE49-F238E27FC236}">
                  <a16:creationId xmlns:a16="http://schemas.microsoft.com/office/drawing/2014/main" id="{1DE99A9A-C80D-BE0D-3A61-A0B6B11BA0E5}"/>
                </a:ext>
              </a:extLst>
            </p:cNvPr>
            <p:cNvSpPr/>
            <p:nvPr/>
          </p:nvSpPr>
          <p:spPr>
            <a:xfrm>
              <a:off x="7107936" y="2406791"/>
              <a:ext cx="566928" cy="566928"/>
            </a:xfrm>
            <a:prstGeom prst="ellipse">
              <a:avLst/>
            </a:prstGeom>
            <a:solidFill>
              <a:srgbClr val="FFFFFF"/>
            </a:solidFill>
            <a:ln/>
          </p:spPr>
          <p:txBody>
            <a:bodyPr/>
            <a:lstStyle/>
            <a:p>
              <a:endParaRPr lang="fr-FR" noProof="0" dirty="0"/>
            </a:p>
          </p:txBody>
        </p:sp>
        <p:pic>
          <p:nvPicPr>
            <p:cNvPr id="65" name="Image 4" descr="preencoded.png">
              <a:extLst>
                <a:ext uri="{FF2B5EF4-FFF2-40B4-BE49-F238E27FC236}">
                  <a16:creationId xmlns:a16="http://schemas.microsoft.com/office/drawing/2014/main" id="{7FE3BE34-884C-169B-AD1F-F9F4DA738677}"/>
                </a:ext>
              </a:extLst>
            </p:cNvPr>
            <p:cNvPicPr>
              <a:picLocks noChangeAspect="1"/>
            </p:cNvPicPr>
            <p:nvPr/>
          </p:nvPicPr>
          <p:blipFill>
            <a:blip r:embed="rId11"/>
            <a:stretch>
              <a:fillRect/>
            </a:stretch>
          </p:blipFill>
          <p:spPr>
            <a:xfrm>
              <a:off x="7217664" y="2516519"/>
              <a:ext cx="347472" cy="347472"/>
            </a:xfrm>
            <a:prstGeom prst="rect">
              <a:avLst/>
            </a:prstGeom>
          </p:spPr>
        </p:pic>
        <p:sp>
          <p:nvSpPr>
            <p:cNvPr id="67" name="Text 22">
              <a:extLst>
                <a:ext uri="{FF2B5EF4-FFF2-40B4-BE49-F238E27FC236}">
                  <a16:creationId xmlns:a16="http://schemas.microsoft.com/office/drawing/2014/main" id="{2C53DB17-50C7-90A8-0A81-040024F594E4}"/>
                </a:ext>
              </a:extLst>
            </p:cNvPr>
            <p:cNvSpPr/>
            <p:nvPr/>
          </p:nvSpPr>
          <p:spPr>
            <a:xfrm>
              <a:off x="6568440" y="3220607"/>
              <a:ext cx="1645920" cy="502920"/>
            </a:xfrm>
            <a:prstGeom prst="rect">
              <a:avLst/>
            </a:prstGeom>
            <a:noFill/>
            <a:ln/>
          </p:spPr>
          <p:txBody>
            <a:bodyPr wrap="square" lIns="0" tIns="0" rIns="0" bIns="0" rtlCol="0" anchor="ctr"/>
            <a:lstStyle/>
            <a:p>
              <a:pPr marL="0" indent="0" algn="ctr">
                <a:lnSpc>
                  <a:spcPct val="105000"/>
                </a:lnSpc>
                <a:buNone/>
              </a:pPr>
              <a:r>
                <a:rPr lang="fr-FR" sz="1050" b="1" noProof="0" dirty="0">
                  <a:solidFill>
                    <a:srgbClr val="1B2A3A"/>
                  </a:solidFill>
                  <a:latin typeface="Calibri" pitchFamily="34" charset="0"/>
                  <a:ea typeface="Calibri" pitchFamily="34" charset="-122"/>
                  <a:cs typeface="Calibri" pitchFamily="34" charset="-120"/>
                </a:rPr>
                <a:t>Tests</a:t>
              </a:r>
              <a:endParaRPr lang="fr-FR" sz="1050" noProof="0" dirty="0"/>
            </a:p>
          </p:txBody>
        </p:sp>
        <p:sp>
          <p:nvSpPr>
            <p:cNvPr id="69" name="Text 23">
              <a:extLst>
                <a:ext uri="{FF2B5EF4-FFF2-40B4-BE49-F238E27FC236}">
                  <a16:creationId xmlns:a16="http://schemas.microsoft.com/office/drawing/2014/main" id="{AEA22895-3C17-01C5-9CB6-0A5EAFA3A783}"/>
                </a:ext>
              </a:extLst>
            </p:cNvPr>
            <p:cNvSpPr/>
            <p:nvPr/>
          </p:nvSpPr>
          <p:spPr>
            <a:xfrm>
              <a:off x="7007352" y="1995311"/>
              <a:ext cx="768096" cy="256032"/>
            </a:xfrm>
            <a:prstGeom prst="rect">
              <a:avLst/>
            </a:prstGeom>
            <a:noFill/>
            <a:ln/>
          </p:spPr>
          <p:txBody>
            <a:bodyPr wrap="square" lIns="0" tIns="0" rIns="0" bIns="0" rtlCol="0" anchor="ctr"/>
            <a:lstStyle/>
            <a:p>
              <a:pPr marL="0" indent="0" algn="ctr">
                <a:buNone/>
              </a:pPr>
              <a:r>
                <a:rPr lang="fr-FR" sz="900" b="1" noProof="0" dirty="0">
                  <a:solidFill>
                    <a:srgbClr val="5C7182"/>
                  </a:solidFill>
                  <a:latin typeface="Calibri" pitchFamily="34" charset="0"/>
                  <a:ea typeface="Calibri" pitchFamily="34" charset="-122"/>
                  <a:cs typeface="Calibri" pitchFamily="34" charset="-120"/>
                </a:rPr>
                <a:t>5</a:t>
              </a:r>
              <a:endParaRPr lang="fr-FR" sz="900" noProof="0" dirty="0"/>
            </a:p>
          </p:txBody>
        </p:sp>
        <p:sp>
          <p:nvSpPr>
            <p:cNvPr id="71" name="Shape 24">
              <a:extLst>
                <a:ext uri="{FF2B5EF4-FFF2-40B4-BE49-F238E27FC236}">
                  <a16:creationId xmlns:a16="http://schemas.microsoft.com/office/drawing/2014/main" id="{F9002733-7D8C-EEE5-0785-96BA7241E038}"/>
                </a:ext>
              </a:extLst>
            </p:cNvPr>
            <p:cNvSpPr/>
            <p:nvPr/>
          </p:nvSpPr>
          <p:spPr>
            <a:xfrm>
              <a:off x="8546592" y="2306207"/>
              <a:ext cx="768096" cy="768096"/>
            </a:xfrm>
            <a:prstGeom prst="ellipse">
              <a:avLst/>
            </a:prstGeom>
            <a:solidFill>
              <a:srgbClr val="0B5A8C"/>
            </a:solidFill>
            <a:ln/>
            <a:effectLst>
              <a:outerShdw blurRad="127000" dist="38100" dir="2700000" algn="bl" rotWithShape="0">
                <a:srgbClr val="1B2A4A">
                  <a:alpha val="14000"/>
                </a:srgbClr>
              </a:outerShdw>
            </a:effectLst>
          </p:spPr>
          <p:txBody>
            <a:bodyPr/>
            <a:lstStyle/>
            <a:p>
              <a:endParaRPr lang="fr-FR" noProof="0" dirty="0"/>
            </a:p>
          </p:txBody>
        </p:sp>
        <p:sp>
          <p:nvSpPr>
            <p:cNvPr id="73" name="Shape 25">
              <a:extLst>
                <a:ext uri="{FF2B5EF4-FFF2-40B4-BE49-F238E27FC236}">
                  <a16:creationId xmlns:a16="http://schemas.microsoft.com/office/drawing/2014/main" id="{DAEB0672-06BA-B6DF-F96F-732A07CFD32A}"/>
                </a:ext>
              </a:extLst>
            </p:cNvPr>
            <p:cNvSpPr/>
            <p:nvPr/>
          </p:nvSpPr>
          <p:spPr>
            <a:xfrm>
              <a:off x="8647176" y="2406791"/>
              <a:ext cx="566928" cy="566928"/>
            </a:xfrm>
            <a:prstGeom prst="ellipse">
              <a:avLst/>
            </a:prstGeom>
            <a:solidFill>
              <a:srgbClr val="FFFFFF"/>
            </a:solidFill>
            <a:ln/>
          </p:spPr>
          <p:txBody>
            <a:bodyPr/>
            <a:lstStyle/>
            <a:p>
              <a:endParaRPr lang="fr-FR" noProof="0" dirty="0"/>
            </a:p>
          </p:txBody>
        </p:sp>
        <p:pic>
          <p:nvPicPr>
            <p:cNvPr id="75" name="Image 5" descr="preencoded.png">
              <a:extLst>
                <a:ext uri="{FF2B5EF4-FFF2-40B4-BE49-F238E27FC236}">
                  <a16:creationId xmlns:a16="http://schemas.microsoft.com/office/drawing/2014/main" id="{077AFB23-9D85-8CBD-E880-C1270AB010E7}"/>
                </a:ext>
              </a:extLst>
            </p:cNvPr>
            <p:cNvPicPr>
              <a:picLocks noChangeAspect="1"/>
            </p:cNvPicPr>
            <p:nvPr/>
          </p:nvPicPr>
          <p:blipFill>
            <a:blip r:embed="rId12"/>
            <a:stretch>
              <a:fillRect/>
            </a:stretch>
          </p:blipFill>
          <p:spPr>
            <a:xfrm>
              <a:off x="8756904" y="2516519"/>
              <a:ext cx="347472" cy="347472"/>
            </a:xfrm>
            <a:prstGeom prst="rect">
              <a:avLst/>
            </a:prstGeom>
          </p:spPr>
        </p:pic>
        <p:sp>
          <p:nvSpPr>
            <p:cNvPr id="77" name="Text 26">
              <a:extLst>
                <a:ext uri="{FF2B5EF4-FFF2-40B4-BE49-F238E27FC236}">
                  <a16:creationId xmlns:a16="http://schemas.microsoft.com/office/drawing/2014/main" id="{817CA6E1-2CD1-AF88-7BA0-727F007F7CE8}"/>
                </a:ext>
              </a:extLst>
            </p:cNvPr>
            <p:cNvSpPr/>
            <p:nvPr/>
          </p:nvSpPr>
          <p:spPr>
            <a:xfrm>
              <a:off x="8107680" y="3220607"/>
              <a:ext cx="1645920" cy="502920"/>
            </a:xfrm>
            <a:prstGeom prst="rect">
              <a:avLst/>
            </a:prstGeom>
            <a:noFill/>
            <a:ln/>
          </p:spPr>
          <p:txBody>
            <a:bodyPr wrap="square" lIns="0" tIns="0" rIns="0" bIns="0" rtlCol="0" anchor="ctr"/>
            <a:lstStyle/>
            <a:p>
              <a:pPr marL="0" indent="0" algn="ctr">
                <a:lnSpc>
                  <a:spcPct val="105000"/>
                </a:lnSpc>
                <a:buNone/>
              </a:pPr>
              <a:r>
                <a:rPr lang="fr-FR" sz="1050" b="1" noProof="0" dirty="0">
                  <a:solidFill>
                    <a:srgbClr val="1B2A3A"/>
                  </a:solidFill>
                  <a:latin typeface="Calibri" pitchFamily="34" charset="0"/>
                  <a:ea typeface="Calibri" pitchFamily="34" charset="-122"/>
                  <a:cs typeface="Calibri" pitchFamily="34" charset="-120"/>
                </a:rPr>
                <a:t>Déploiement</a:t>
              </a:r>
              <a:endParaRPr lang="fr-FR" sz="1050" noProof="0" dirty="0"/>
            </a:p>
          </p:txBody>
        </p:sp>
        <p:sp>
          <p:nvSpPr>
            <p:cNvPr id="79" name="Text 27">
              <a:extLst>
                <a:ext uri="{FF2B5EF4-FFF2-40B4-BE49-F238E27FC236}">
                  <a16:creationId xmlns:a16="http://schemas.microsoft.com/office/drawing/2014/main" id="{64B1558A-FE8C-EAA4-1C54-407C0103D89C}"/>
                </a:ext>
              </a:extLst>
            </p:cNvPr>
            <p:cNvSpPr/>
            <p:nvPr/>
          </p:nvSpPr>
          <p:spPr>
            <a:xfrm>
              <a:off x="8546592" y="1995311"/>
              <a:ext cx="768096" cy="256032"/>
            </a:xfrm>
            <a:prstGeom prst="rect">
              <a:avLst/>
            </a:prstGeom>
            <a:noFill/>
            <a:ln/>
          </p:spPr>
          <p:txBody>
            <a:bodyPr wrap="square" lIns="0" tIns="0" rIns="0" bIns="0" rtlCol="0" anchor="ctr"/>
            <a:lstStyle/>
            <a:p>
              <a:pPr marL="0" indent="0" algn="ctr">
                <a:buNone/>
              </a:pPr>
              <a:r>
                <a:rPr lang="fr-FR" sz="900" b="1" noProof="0" dirty="0">
                  <a:solidFill>
                    <a:srgbClr val="5C7182"/>
                  </a:solidFill>
                  <a:latin typeface="Calibri" pitchFamily="34" charset="0"/>
                  <a:ea typeface="Calibri" pitchFamily="34" charset="-122"/>
                  <a:cs typeface="Calibri" pitchFamily="34" charset="-120"/>
                </a:rPr>
                <a:t>6</a:t>
              </a:r>
              <a:endParaRPr lang="fr-FR" sz="900" noProof="0" dirty="0"/>
            </a:p>
          </p:txBody>
        </p:sp>
        <p:sp>
          <p:nvSpPr>
            <p:cNvPr id="81" name="Shape 28">
              <a:extLst>
                <a:ext uri="{FF2B5EF4-FFF2-40B4-BE49-F238E27FC236}">
                  <a16:creationId xmlns:a16="http://schemas.microsoft.com/office/drawing/2014/main" id="{034771EA-4ACE-FC92-AA05-E738880F3743}"/>
                </a:ext>
              </a:extLst>
            </p:cNvPr>
            <p:cNvSpPr/>
            <p:nvPr/>
          </p:nvSpPr>
          <p:spPr>
            <a:xfrm>
              <a:off x="10085832" y="2306207"/>
              <a:ext cx="768096" cy="768096"/>
            </a:xfrm>
            <a:prstGeom prst="ellipse">
              <a:avLst/>
            </a:prstGeom>
            <a:solidFill>
              <a:srgbClr val="3FAE9C"/>
            </a:solidFill>
            <a:ln/>
            <a:effectLst>
              <a:outerShdw blurRad="127000" dist="38100" dir="2700000" algn="bl" rotWithShape="0">
                <a:srgbClr val="1B2A4A">
                  <a:alpha val="14000"/>
                </a:srgbClr>
              </a:outerShdw>
            </a:effectLst>
          </p:spPr>
          <p:txBody>
            <a:bodyPr/>
            <a:lstStyle/>
            <a:p>
              <a:endParaRPr lang="fr-FR" noProof="0" dirty="0"/>
            </a:p>
          </p:txBody>
        </p:sp>
        <p:sp>
          <p:nvSpPr>
            <p:cNvPr id="83" name="Shape 29">
              <a:extLst>
                <a:ext uri="{FF2B5EF4-FFF2-40B4-BE49-F238E27FC236}">
                  <a16:creationId xmlns:a16="http://schemas.microsoft.com/office/drawing/2014/main" id="{F4270215-1521-9F96-E895-7138463A3A41}"/>
                </a:ext>
              </a:extLst>
            </p:cNvPr>
            <p:cNvSpPr/>
            <p:nvPr/>
          </p:nvSpPr>
          <p:spPr>
            <a:xfrm>
              <a:off x="10186416" y="2406791"/>
              <a:ext cx="566928" cy="566928"/>
            </a:xfrm>
            <a:prstGeom prst="ellipse">
              <a:avLst/>
            </a:prstGeom>
            <a:solidFill>
              <a:srgbClr val="FFFFFF"/>
            </a:solidFill>
            <a:ln/>
          </p:spPr>
          <p:txBody>
            <a:bodyPr/>
            <a:lstStyle/>
            <a:p>
              <a:endParaRPr lang="fr-FR" noProof="0" dirty="0"/>
            </a:p>
          </p:txBody>
        </p:sp>
        <p:pic>
          <p:nvPicPr>
            <p:cNvPr id="85" name="Image 6" descr="preencoded.png">
              <a:extLst>
                <a:ext uri="{FF2B5EF4-FFF2-40B4-BE49-F238E27FC236}">
                  <a16:creationId xmlns:a16="http://schemas.microsoft.com/office/drawing/2014/main" id="{97EC54C8-B2AA-0112-8358-F5530FC8819E}"/>
                </a:ext>
              </a:extLst>
            </p:cNvPr>
            <p:cNvPicPr>
              <a:picLocks noChangeAspect="1"/>
            </p:cNvPicPr>
            <p:nvPr/>
          </p:nvPicPr>
          <p:blipFill>
            <a:blip r:embed="rId13"/>
            <a:stretch>
              <a:fillRect/>
            </a:stretch>
          </p:blipFill>
          <p:spPr>
            <a:xfrm>
              <a:off x="10296144" y="2516519"/>
              <a:ext cx="347472" cy="347472"/>
            </a:xfrm>
            <a:prstGeom prst="rect">
              <a:avLst/>
            </a:prstGeom>
          </p:spPr>
        </p:pic>
        <p:sp>
          <p:nvSpPr>
            <p:cNvPr id="87" name="Text 30">
              <a:extLst>
                <a:ext uri="{FF2B5EF4-FFF2-40B4-BE49-F238E27FC236}">
                  <a16:creationId xmlns:a16="http://schemas.microsoft.com/office/drawing/2014/main" id="{633F0789-5434-74F0-C86B-9847D7E1D58A}"/>
                </a:ext>
              </a:extLst>
            </p:cNvPr>
            <p:cNvSpPr/>
            <p:nvPr/>
          </p:nvSpPr>
          <p:spPr>
            <a:xfrm>
              <a:off x="9646920" y="3220607"/>
              <a:ext cx="1645920" cy="502920"/>
            </a:xfrm>
            <a:prstGeom prst="rect">
              <a:avLst/>
            </a:prstGeom>
            <a:noFill/>
            <a:ln/>
          </p:spPr>
          <p:txBody>
            <a:bodyPr wrap="square" lIns="0" tIns="0" rIns="0" bIns="0" rtlCol="0" anchor="ctr"/>
            <a:lstStyle/>
            <a:p>
              <a:pPr marL="0" indent="0" algn="ctr">
                <a:lnSpc>
                  <a:spcPct val="105000"/>
                </a:lnSpc>
                <a:buNone/>
              </a:pPr>
              <a:r>
                <a:rPr lang="fr-FR" sz="1050" b="1" noProof="0" dirty="0">
                  <a:solidFill>
                    <a:srgbClr val="1B2A3A"/>
                  </a:solidFill>
                  <a:latin typeface="Calibri" pitchFamily="34" charset="0"/>
                  <a:ea typeface="Calibri" pitchFamily="34" charset="-122"/>
                  <a:cs typeface="Calibri" pitchFamily="34" charset="-120"/>
                </a:rPr>
                <a:t>Maintenance</a:t>
              </a:r>
              <a:endParaRPr lang="fr-FR" sz="1050" noProof="0" dirty="0"/>
            </a:p>
          </p:txBody>
        </p:sp>
        <p:sp>
          <p:nvSpPr>
            <p:cNvPr id="89" name="Text 31">
              <a:extLst>
                <a:ext uri="{FF2B5EF4-FFF2-40B4-BE49-F238E27FC236}">
                  <a16:creationId xmlns:a16="http://schemas.microsoft.com/office/drawing/2014/main" id="{DCD1FBAF-347C-C0D2-3275-29FCAB52C5F3}"/>
                </a:ext>
              </a:extLst>
            </p:cNvPr>
            <p:cNvSpPr/>
            <p:nvPr/>
          </p:nvSpPr>
          <p:spPr>
            <a:xfrm>
              <a:off x="10085832" y="1995311"/>
              <a:ext cx="768096" cy="256032"/>
            </a:xfrm>
            <a:prstGeom prst="rect">
              <a:avLst/>
            </a:prstGeom>
            <a:noFill/>
            <a:ln/>
          </p:spPr>
          <p:txBody>
            <a:bodyPr wrap="square" lIns="0" tIns="0" rIns="0" bIns="0" rtlCol="0" anchor="ctr"/>
            <a:lstStyle/>
            <a:p>
              <a:pPr marL="0" indent="0" algn="ctr">
                <a:buNone/>
              </a:pPr>
              <a:r>
                <a:rPr lang="fr-FR" sz="900" b="1" noProof="0" dirty="0">
                  <a:solidFill>
                    <a:srgbClr val="5C7182"/>
                  </a:solidFill>
                  <a:latin typeface="Calibri" pitchFamily="34" charset="0"/>
                  <a:ea typeface="Calibri" pitchFamily="34" charset="-122"/>
                  <a:cs typeface="Calibri" pitchFamily="34" charset="-120"/>
                </a:rPr>
                <a:t>7</a:t>
              </a:r>
              <a:endParaRPr lang="fr-FR" sz="900" noProof="0" dirty="0"/>
            </a:p>
          </p:txBody>
        </p:sp>
      </p:grpSp>
    </p:spTree>
    <p:extLst>
      <p:ext uri="{BB962C8B-B14F-4D97-AF65-F5344CB8AC3E}">
        <p14:creationId xmlns:p14="http://schemas.microsoft.com/office/powerpoint/2010/main" val="62650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5895A85-5DCF-05C4-6D23-DD7A846800C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1D2BB19-0B88-EF0C-73F6-37E3B5D09998}"/>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EB6D271E-3A42-9B97-4A7B-A554E6C21868}"/>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734B675A-8B13-C5E9-D8AA-F3F95B629CD2}"/>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CE38E7C6-D6E4-CE95-E54A-E4D86C8B763C}"/>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FAD05333-EC50-F349-F260-600296A0FE03}"/>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609D8DE5-3166-37D3-9932-1884A821D1BB}"/>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7E38BC80-80CE-BB82-7916-7AAB30E0AAF1}"/>
              </a:ext>
            </a:extLst>
          </p:cNvPr>
          <p:cNvSpPr/>
          <p:nvPr/>
        </p:nvSpPr>
        <p:spPr>
          <a:xfrm>
            <a:off x="1993392" y="91440"/>
            <a:ext cx="6400800" cy="411480"/>
          </a:xfrm>
          <a:prstGeom prst="rect">
            <a:avLst/>
          </a:prstGeom>
          <a:noFill/>
          <a:ln/>
        </p:spPr>
        <p:txBody>
          <a:bodyPr wrap="square" lIns="0" tIns="0" rIns="0" bIns="0" rtlCol="0" anchor="ctr"/>
          <a:lstStyle/>
          <a:p>
            <a:r>
              <a:rPr lang="fr-FR" b="1" dirty="0">
                <a:solidFill>
                  <a:srgbClr val="0B1F3A"/>
                </a:solidFill>
                <a:latin typeface="Cambria" pitchFamily="34" charset="0"/>
                <a:ea typeface="Cambria" pitchFamily="34" charset="-122"/>
                <a:cs typeface="Cambria" pitchFamily="34" charset="-120"/>
              </a:rPr>
              <a:t>Trois façons d'organiser ce cycle</a:t>
            </a:r>
            <a:endParaRPr lang="fr-FR" dirty="0"/>
          </a:p>
        </p:txBody>
      </p:sp>
      <p:sp>
        <p:nvSpPr>
          <p:cNvPr id="10" name="Shape 3">
            <a:extLst>
              <a:ext uri="{FF2B5EF4-FFF2-40B4-BE49-F238E27FC236}">
                <a16:creationId xmlns:a16="http://schemas.microsoft.com/office/drawing/2014/main" id="{E5A82381-86DC-CA84-E4CA-22822D264CF1}"/>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78BF307F-F537-AE32-973E-DF3DC9272540}"/>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20CCFA77-B696-91FE-80C5-16D9234C9C27}"/>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E7ECA55F-E8A5-BB1C-8E7F-E1A432068E7E}"/>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10</a:t>
            </a:r>
            <a:endParaRPr lang="en-US" sz="900" dirty="0"/>
          </a:p>
        </p:txBody>
      </p:sp>
      <p:pic>
        <p:nvPicPr>
          <p:cNvPr id="18" name="object 2">
            <a:extLst>
              <a:ext uri="{FF2B5EF4-FFF2-40B4-BE49-F238E27FC236}">
                <a16:creationId xmlns:a16="http://schemas.microsoft.com/office/drawing/2014/main" id="{DC25C3FD-1E3C-C0E1-DAF8-437516BDEDC8}"/>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B5FEA102-49B7-DB78-2F9F-A285DBFEF9ED}"/>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11" name="TextBox 10">
            <a:extLst>
              <a:ext uri="{FF2B5EF4-FFF2-40B4-BE49-F238E27FC236}">
                <a16:creationId xmlns:a16="http://schemas.microsoft.com/office/drawing/2014/main" id="{02057C12-20AC-7640-2E24-62FAFDE4A0AF}"/>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grpSp>
        <p:nvGrpSpPr>
          <p:cNvPr id="92" name="Group 91">
            <a:extLst>
              <a:ext uri="{FF2B5EF4-FFF2-40B4-BE49-F238E27FC236}">
                <a16:creationId xmlns:a16="http://schemas.microsoft.com/office/drawing/2014/main" id="{EDED5E9F-1441-6604-5EDD-CE0CE9734DFE}"/>
              </a:ext>
            </a:extLst>
          </p:cNvPr>
          <p:cNvGrpSpPr/>
          <p:nvPr/>
        </p:nvGrpSpPr>
        <p:grpSpPr>
          <a:xfrm>
            <a:off x="516373" y="1598234"/>
            <a:ext cx="7785987" cy="2314656"/>
            <a:chOff x="386851" y="1769789"/>
            <a:chExt cx="11180309" cy="3625171"/>
          </a:xfrm>
        </p:grpSpPr>
        <p:sp>
          <p:nvSpPr>
            <p:cNvPr id="15" name="Shape 4">
              <a:extLst>
                <a:ext uri="{FF2B5EF4-FFF2-40B4-BE49-F238E27FC236}">
                  <a16:creationId xmlns:a16="http://schemas.microsoft.com/office/drawing/2014/main" id="{E2E3BF7B-EA9D-F1B8-0545-7FEFA66770CA}"/>
                </a:ext>
              </a:extLst>
            </p:cNvPr>
            <p:cNvSpPr/>
            <p:nvPr/>
          </p:nvSpPr>
          <p:spPr>
            <a:xfrm>
              <a:off x="386851" y="1769789"/>
              <a:ext cx="10927080" cy="0"/>
            </a:xfrm>
            <a:prstGeom prst="line">
              <a:avLst/>
            </a:prstGeom>
            <a:noFill/>
            <a:ln w="12700">
              <a:solidFill>
                <a:srgbClr val="E4EAEF"/>
              </a:solidFill>
              <a:prstDash val="solid"/>
            </a:ln>
          </p:spPr>
          <p:txBody>
            <a:bodyPr/>
            <a:lstStyle/>
            <a:p>
              <a:endParaRPr lang="fr-FR" sz="1050" noProof="0" dirty="0"/>
            </a:p>
          </p:txBody>
        </p:sp>
        <p:sp>
          <p:nvSpPr>
            <p:cNvPr id="21" name="Shape 5">
              <a:extLst>
                <a:ext uri="{FF2B5EF4-FFF2-40B4-BE49-F238E27FC236}">
                  <a16:creationId xmlns:a16="http://schemas.microsoft.com/office/drawing/2014/main" id="{CBE9583F-BEA4-0EE6-9B71-18A74D2F9B68}"/>
                </a:ext>
              </a:extLst>
            </p:cNvPr>
            <p:cNvSpPr/>
            <p:nvPr/>
          </p:nvSpPr>
          <p:spPr>
            <a:xfrm>
              <a:off x="640080" y="2011680"/>
              <a:ext cx="3520440" cy="3383280"/>
            </a:xfrm>
            <a:prstGeom prst="roundRect">
              <a:avLst>
                <a:gd name="adj" fmla="val 2162"/>
              </a:avLst>
            </a:prstGeom>
            <a:solidFill>
              <a:srgbClr val="FFFFFF"/>
            </a:solidFill>
            <a:ln/>
            <a:effectLst>
              <a:outerShdw blurRad="101600" dist="38100" dir="2700000" algn="bl" rotWithShape="0">
                <a:srgbClr val="000000">
                  <a:alpha val="12000"/>
                </a:srgbClr>
              </a:outerShdw>
            </a:effectLst>
          </p:spPr>
          <p:txBody>
            <a:bodyPr/>
            <a:lstStyle/>
            <a:p>
              <a:endParaRPr lang="fr-FR" sz="1050" noProof="0" dirty="0"/>
            </a:p>
          </p:txBody>
        </p:sp>
        <p:sp>
          <p:nvSpPr>
            <p:cNvPr id="25" name="Shape 6">
              <a:extLst>
                <a:ext uri="{FF2B5EF4-FFF2-40B4-BE49-F238E27FC236}">
                  <a16:creationId xmlns:a16="http://schemas.microsoft.com/office/drawing/2014/main" id="{F49BFC8E-7E28-4624-EDE5-CC4ABAA4F7D9}"/>
                </a:ext>
              </a:extLst>
            </p:cNvPr>
            <p:cNvSpPr/>
            <p:nvPr/>
          </p:nvSpPr>
          <p:spPr>
            <a:xfrm>
              <a:off x="640080" y="2011680"/>
              <a:ext cx="3520440" cy="109728"/>
            </a:xfrm>
            <a:prstGeom prst="rect">
              <a:avLst/>
            </a:prstGeom>
            <a:solidFill>
              <a:srgbClr val="64748B"/>
            </a:solidFill>
            <a:ln/>
          </p:spPr>
          <p:txBody>
            <a:bodyPr/>
            <a:lstStyle/>
            <a:p>
              <a:endParaRPr lang="fr-FR" sz="1050" noProof="0" dirty="0"/>
            </a:p>
          </p:txBody>
        </p:sp>
        <p:sp>
          <p:nvSpPr>
            <p:cNvPr id="29" name="Shape 7">
              <a:extLst>
                <a:ext uri="{FF2B5EF4-FFF2-40B4-BE49-F238E27FC236}">
                  <a16:creationId xmlns:a16="http://schemas.microsoft.com/office/drawing/2014/main" id="{26841689-562D-F260-031B-02596D77AAFB}"/>
                </a:ext>
              </a:extLst>
            </p:cNvPr>
            <p:cNvSpPr/>
            <p:nvPr/>
          </p:nvSpPr>
          <p:spPr>
            <a:xfrm>
              <a:off x="868680" y="2331720"/>
              <a:ext cx="548640" cy="548640"/>
            </a:xfrm>
            <a:prstGeom prst="ellipse">
              <a:avLst/>
            </a:prstGeom>
            <a:solidFill>
              <a:srgbClr val="EFF4F7"/>
            </a:solidFill>
            <a:ln/>
          </p:spPr>
          <p:txBody>
            <a:bodyPr/>
            <a:lstStyle/>
            <a:p>
              <a:endParaRPr lang="fr-FR" sz="1050" noProof="0" dirty="0"/>
            </a:p>
          </p:txBody>
        </p:sp>
        <p:pic>
          <p:nvPicPr>
            <p:cNvPr id="33" name="Image 0" descr="icons/arrow_navy.png">
              <a:extLst>
                <a:ext uri="{FF2B5EF4-FFF2-40B4-BE49-F238E27FC236}">
                  <a16:creationId xmlns:a16="http://schemas.microsoft.com/office/drawing/2014/main" id="{418C06C4-616E-98C5-E10D-B54A9996F988}"/>
                </a:ext>
              </a:extLst>
            </p:cNvPr>
            <p:cNvPicPr>
              <a:picLocks noChangeAspect="1"/>
            </p:cNvPicPr>
            <p:nvPr/>
          </p:nvPicPr>
          <p:blipFill>
            <a:blip r:embed="rId7"/>
            <a:stretch>
              <a:fillRect/>
            </a:stretch>
          </p:blipFill>
          <p:spPr>
            <a:xfrm>
              <a:off x="1005840" y="2468880"/>
              <a:ext cx="274320" cy="274320"/>
            </a:xfrm>
            <a:prstGeom prst="rect">
              <a:avLst/>
            </a:prstGeom>
          </p:spPr>
        </p:pic>
        <p:sp>
          <p:nvSpPr>
            <p:cNvPr id="37" name="Text 8">
              <a:extLst>
                <a:ext uri="{FF2B5EF4-FFF2-40B4-BE49-F238E27FC236}">
                  <a16:creationId xmlns:a16="http://schemas.microsoft.com/office/drawing/2014/main" id="{0C16E819-9423-D808-E53B-F1C5533CA814}"/>
                </a:ext>
              </a:extLst>
            </p:cNvPr>
            <p:cNvSpPr/>
            <p:nvPr/>
          </p:nvSpPr>
          <p:spPr>
            <a:xfrm>
              <a:off x="868680" y="3017520"/>
              <a:ext cx="3063240" cy="411480"/>
            </a:xfrm>
            <a:prstGeom prst="rect">
              <a:avLst/>
            </a:prstGeom>
            <a:noFill/>
            <a:ln/>
          </p:spPr>
          <p:txBody>
            <a:bodyPr wrap="square" lIns="0" tIns="0" rIns="0" bIns="0" rtlCol="0" anchor="ctr"/>
            <a:lstStyle/>
            <a:p>
              <a:pPr marL="0" indent="0">
                <a:buNone/>
              </a:pPr>
              <a:r>
                <a:rPr lang="fr-FR" sz="1100" b="1" noProof="0" dirty="0">
                  <a:solidFill>
                    <a:srgbClr val="0B1F3A"/>
                  </a:solidFill>
                  <a:latin typeface="Cambria" pitchFamily="34" charset="0"/>
                  <a:ea typeface="Cambria" pitchFamily="34" charset="-122"/>
                  <a:cs typeface="Cambria" pitchFamily="34" charset="-120"/>
                </a:rPr>
                <a:t>Cascade</a:t>
              </a:r>
              <a:endParaRPr lang="fr-FR" sz="1100" noProof="0" dirty="0"/>
            </a:p>
          </p:txBody>
        </p:sp>
        <p:sp>
          <p:nvSpPr>
            <p:cNvPr id="41" name="Text 9">
              <a:extLst>
                <a:ext uri="{FF2B5EF4-FFF2-40B4-BE49-F238E27FC236}">
                  <a16:creationId xmlns:a16="http://schemas.microsoft.com/office/drawing/2014/main" id="{849F7D9F-4AAC-2E60-162F-5047A368A227}"/>
                </a:ext>
              </a:extLst>
            </p:cNvPr>
            <p:cNvSpPr/>
            <p:nvPr/>
          </p:nvSpPr>
          <p:spPr>
            <a:xfrm>
              <a:off x="868680" y="3474720"/>
              <a:ext cx="3063240" cy="1737360"/>
            </a:xfrm>
            <a:prstGeom prst="rect">
              <a:avLst/>
            </a:prstGeom>
            <a:noFill/>
            <a:ln/>
          </p:spPr>
          <p:txBody>
            <a:bodyPr wrap="square" lIns="0" tIns="0" rIns="0" bIns="0" rtlCol="0" anchor="ctr"/>
            <a:lstStyle/>
            <a:p>
              <a:pPr marL="0" indent="0">
                <a:lnSpc>
                  <a:spcPct val="130000"/>
                </a:lnSpc>
                <a:buNone/>
              </a:pPr>
              <a:r>
                <a:rPr lang="fr-FR" sz="900" noProof="0" dirty="0">
                  <a:solidFill>
                    <a:srgbClr val="64748B"/>
                  </a:solidFill>
                  <a:latin typeface="Calibri" pitchFamily="34" charset="0"/>
                  <a:ea typeface="Calibri" pitchFamily="34" charset="-122"/>
                  <a:cs typeface="Calibri" pitchFamily="34" charset="-120"/>
                </a:rPr>
                <a:t>Chaque phase se termine avant que la suivante démarre. Simple à piloter mais rigide face au changement — adapté à des besoins très stables.</a:t>
              </a:r>
              <a:endParaRPr lang="fr-FR" sz="900" noProof="0" dirty="0"/>
            </a:p>
          </p:txBody>
        </p:sp>
        <p:sp>
          <p:nvSpPr>
            <p:cNvPr id="45" name="Shape 10">
              <a:extLst>
                <a:ext uri="{FF2B5EF4-FFF2-40B4-BE49-F238E27FC236}">
                  <a16:creationId xmlns:a16="http://schemas.microsoft.com/office/drawing/2014/main" id="{F5A013B5-AC1E-07C6-9B36-39C6E6AC6CB2}"/>
                </a:ext>
              </a:extLst>
            </p:cNvPr>
            <p:cNvSpPr/>
            <p:nvPr/>
          </p:nvSpPr>
          <p:spPr>
            <a:xfrm>
              <a:off x="4343400" y="2011680"/>
              <a:ext cx="3520440" cy="3383280"/>
            </a:xfrm>
            <a:prstGeom prst="roundRect">
              <a:avLst>
                <a:gd name="adj" fmla="val 2162"/>
              </a:avLst>
            </a:prstGeom>
            <a:solidFill>
              <a:srgbClr val="FFFFFF"/>
            </a:solidFill>
            <a:ln/>
            <a:effectLst>
              <a:outerShdw blurRad="101600" dist="38100" dir="2700000" algn="bl" rotWithShape="0">
                <a:srgbClr val="000000">
                  <a:alpha val="12000"/>
                </a:srgbClr>
              </a:outerShdw>
            </a:effectLst>
          </p:spPr>
          <p:txBody>
            <a:bodyPr/>
            <a:lstStyle/>
            <a:p>
              <a:endParaRPr lang="fr-FR" sz="1050" noProof="0" dirty="0"/>
            </a:p>
          </p:txBody>
        </p:sp>
        <p:sp>
          <p:nvSpPr>
            <p:cNvPr id="50" name="Shape 11">
              <a:extLst>
                <a:ext uri="{FF2B5EF4-FFF2-40B4-BE49-F238E27FC236}">
                  <a16:creationId xmlns:a16="http://schemas.microsoft.com/office/drawing/2014/main" id="{1DCA0F44-899A-CC79-1FE4-72A16F543C01}"/>
                </a:ext>
              </a:extLst>
            </p:cNvPr>
            <p:cNvSpPr/>
            <p:nvPr/>
          </p:nvSpPr>
          <p:spPr>
            <a:xfrm>
              <a:off x="4343400" y="2011680"/>
              <a:ext cx="3520440" cy="109728"/>
            </a:xfrm>
            <a:prstGeom prst="rect">
              <a:avLst/>
            </a:prstGeom>
            <a:solidFill>
              <a:srgbClr val="1C7293"/>
            </a:solidFill>
            <a:ln/>
          </p:spPr>
          <p:txBody>
            <a:bodyPr/>
            <a:lstStyle/>
            <a:p>
              <a:endParaRPr lang="fr-FR" sz="1050" noProof="0" dirty="0"/>
            </a:p>
          </p:txBody>
        </p:sp>
        <p:sp>
          <p:nvSpPr>
            <p:cNvPr id="54" name="Shape 12">
              <a:extLst>
                <a:ext uri="{FF2B5EF4-FFF2-40B4-BE49-F238E27FC236}">
                  <a16:creationId xmlns:a16="http://schemas.microsoft.com/office/drawing/2014/main" id="{6227C3C3-CEEE-D41B-BE3C-FB2328AB9DA7}"/>
                </a:ext>
              </a:extLst>
            </p:cNvPr>
            <p:cNvSpPr/>
            <p:nvPr/>
          </p:nvSpPr>
          <p:spPr>
            <a:xfrm>
              <a:off x="4572000" y="2331720"/>
              <a:ext cx="548640" cy="548640"/>
            </a:xfrm>
            <a:prstGeom prst="ellipse">
              <a:avLst/>
            </a:prstGeom>
            <a:solidFill>
              <a:srgbClr val="EFF4F7"/>
            </a:solidFill>
            <a:ln/>
          </p:spPr>
          <p:txBody>
            <a:bodyPr/>
            <a:lstStyle/>
            <a:p>
              <a:endParaRPr lang="fr-FR" sz="1050" noProof="0" dirty="0"/>
            </a:p>
          </p:txBody>
        </p:sp>
        <p:pic>
          <p:nvPicPr>
            <p:cNvPr id="58" name="Image 1" descr="icons/check_teal.png">
              <a:extLst>
                <a:ext uri="{FF2B5EF4-FFF2-40B4-BE49-F238E27FC236}">
                  <a16:creationId xmlns:a16="http://schemas.microsoft.com/office/drawing/2014/main" id="{8705CD87-5A01-135B-19E5-AA4EF8BA65AB}"/>
                </a:ext>
              </a:extLst>
            </p:cNvPr>
            <p:cNvPicPr>
              <a:picLocks noChangeAspect="1"/>
            </p:cNvPicPr>
            <p:nvPr/>
          </p:nvPicPr>
          <p:blipFill>
            <a:blip r:embed="rId8"/>
            <a:stretch>
              <a:fillRect/>
            </a:stretch>
          </p:blipFill>
          <p:spPr>
            <a:xfrm>
              <a:off x="4709160" y="2468880"/>
              <a:ext cx="274320" cy="274320"/>
            </a:xfrm>
            <a:prstGeom prst="rect">
              <a:avLst/>
            </a:prstGeom>
          </p:spPr>
        </p:pic>
        <p:sp>
          <p:nvSpPr>
            <p:cNvPr id="62" name="Text 13">
              <a:extLst>
                <a:ext uri="{FF2B5EF4-FFF2-40B4-BE49-F238E27FC236}">
                  <a16:creationId xmlns:a16="http://schemas.microsoft.com/office/drawing/2014/main" id="{2828ECEC-75EF-E69F-F0A0-77B43DE45DFC}"/>
                </a:ext>
              </a:extLst>
            </p:cNvPr>
            <p:cNvSpPr/>
            <p:nvPr/>
          </p:nvSpPr>
          <p:spPr>
            <a:xfrm>
              <a:off x="4572000" y="3017520"/>
              <a:ext cx="3063240" cy="411480"/>
            </a:xfrm>
            <a:prstGeom prst="rect">
              <a:avLst/>
            </a:prstGeom>
            <a:noFill/>
            <a:ln/>
          </p:spPr>
          <p:txBody>
            <a:bodyPr wrap="square" lIns="0" tIns="0" rIns="0" bIns="0" rtlCol="0" anchor="ctr"/>
            <a:lstStyle/>
            <a:p>
              <a:pPr marL="0" indent="0">
                <a:buNone/>
              </a:pPr>
              <a:r>
                <a:rPr lang="fr-FR" sz="1100" b="1" noProof="0" dirty="0">
                  <a:solidFill>
                    <a:srgbClr val="0B1F3A"/>
                  </a:solidFill>
                  <a:latin typeface="Cambria" pitchFamily="34" charset="0"/>
                  <a:ea typeface="Cambria" pitchFamily="34" charset="-122"/>
                  <a:cs typeface="Cambria" pitchFamily="34" charset="-120"/>
                </a:rPr>
                <a:t>En V</a:t>
              </a:r>
              <a:endParaRPr lang="fr-FR" sz="1100" noProof="0" dirty="0"/>
            </a:p>
          </p:txBody>
        </p:sp>
        <p:sp>
          <p:nvSpPr>
            <p:cNvPr id="66" name="Text 14">
              <a:extLst>
                <a:ext uri="{FF2B5EF4-FFF2-40B4-BE49-F238E27FC236}">
                  <a16:creationId xmlns:a16="http://schemas.microsoft.com/office/drawing/2014/main" id="{63FF9334-A249-3397-0FC5-703FD881A582}"/>
                </a:ext>
              </a:extLst>
            </p:cNvPr>
            <p:cNvSpPr/>
            <p:nvPr/>
          </p:nvSpPr>
          <p:spPr>
            <a:xfrm>
              <a:off x="4572000" y="3474720"/>
              <a:ext cx="3063240" cy="1737360"/>
            </a:xfrm>
            <a:prstGeom prst="rect">
              <a:avLst/>
            </a:prstGeom>
            <a:noFill/>
            <a:ln/>
          </p:spPr>
          <p:txBody>
            <a:bodyPr wrap="square" lIns="0" tIns="0" rIns="0" bIns="0" rtlCol="0" anchor="ctr"/>
            <a:lstStyle/>
            <a:p>
              <a:pPr marL="0" indent="0">
                <a:lnSpc>
                  <a:spcPct val="130000"/>
                </a:lnSpc>
                <a:buNone/>
              </a:pPr>
              <a:r>
                <a:rPr lang="fr-FR" sz="900" noProof="0" dirty="0">
                  <a:solidFill>
                    <a:srgbClr val="64748B"/>
                  </a:solidFill>
                  <a:latin typeface="Calibri" pitchFamily="34" charset="0"/>
                  <a:ea typeface="Calibri" pitchFamily="34" charset="-122"/>
                  <a:cs typeface="Calibri" pitchFamily="34" charset="-120"/>
                </a:rPr>
                <a:t>Chaque phase de conception est associée à une phase de test miroir. Renforce la traçabilité — courant dans l'aéronautique et l'embarqué critique.</a:t>
              </a:r>
              <a:endParaRPr lang="fr-FR" sz="900" noProof="0" dirty="0"/>
            </a:p>
          </p:txBody>
        </p:sp>
        <p:sp>
          <p:nvSpPr>
            <p:cNvPr id="70" name="Shape 15">
              <a:extLst>
                <a:ext uri="{FF2B5EF4-FFF2-40B4-BE49-F238E27FC236}">
                  <a16:creationId xmlns:a16="http://schemas.microsoft.com/office/drawing/2014/main" id="{FA037873-36E3-4D53-FE4E-17DE8A0D9F5F}"/>
                </a:ext>
              </a:extLst>
            </p:cNvPr>
            <p:cNvSpPr/>
            <p:nvPr/>
          </p:nvSpPr>
          <p:spPr>
            <a:xfrm>
              <a:off x="8046720" y="2011680"/>
              <a:ext cx="3520440" cy="3383280"/>
            </a:xfrm>
            <a:prstGeom prst="roundRect">
              <a:avLst>
                <a:gd name="adj" fmla="val 2162"/>
              </a:avLst>
            </a:prstGeom>
            <a:solidFill>
              <a:srgbClr val="FFFFFF"/>
            </a:solidFill>
            <a:ln/>
            <a:effectLst>
              <a:outerShdw blurRad="101600" dist="38100" dir="2700000" algn="bl" rotWithShape="0">
                <a:srgbClr val="000000">
                  <a:alpha val="12000"/>
                </a:srgbClr>
              </a:outerShdw>
            </a:effectLst>
          </p:spPr>
          <p:txBody>
            <a:bodyPr/>
            <a:lstStyle/>
            <a:p>
              <a:endParaRPr lang="fr-FR" sz="1050" noProof="0" dirty="0"/>
            </a:p>
          </p:txBody>
        </p:sp>
        <p:sp>
          <p:nvSpPr>
            <p:cNvPr id="74" name="Shape 16">
              <a:extLst>
                <a:ext uri="{FF2B5EF4-FFF2-40B4-BE49-F238E27FC236}">
                  <a16:creationId xmlns:a16="http://schemas.microsoft.com/office/drawing/2014/main" id="{4D7A76D3-0258-B595-AF84-EAD51EC0B95A}"/>
                </a:ext>
              </a:extLst>
            </p:cNvPr>
            <p:cNvSpPr/>
            <p:nvPr/>
          </p:nvSpPr>
          <p:spPr>
            <a:xfrm>
              <a:off x="8046720" y="2011680"/>
              <a:ext cx="3520440" cy="109728"/>
            </a:xfrm>
            <a:prstGeom prst="rect">
              <a:avLst/>
            </a:prstGeom>
            <a:solidFill>
              <a:srgbClr val="F5A623"/>
            </a:solidFill>
            <a:ln/>
          </p:spPr>
          <p:txBody>
            <a:bodyPr/>
            <a:lstStyle/>
            <a:p>
              <a:endParaRPr lang="fr-FR" sz="1050" noProof="0" dirty="0"/>
            </a:p>
          </p:txBody>
        </p:sp>
        <p:sp>
          <p:nvSpPr>
            <p:cNvPr id="78" name="Shape 17">
              <a:extLst>
                <a:ext uri="{FF2B5EF4-FFF2-40B4-BE49-F238E27FC236}">
                  <a16:creationId xmlns:a16="http://schemas.microsoft.com/office/drawing/2014/main" id="{9384F4DA-ABCB-78C7-8784-86202901E999}"/>
                </a:ext>
              </a:extLst>
            </p:cNvPr>
            <p:cNvSpPr/>
            <p:nvPr/>
          </p:nvSpPr>
          <p:spPr>
            <a:xfrm>
              <a:off x="8275320" y="2331720"/>
              <a:ext cx="548640" cy="548640"/>
            </a:xfrm>
            <a:prstGeom prst="ellipse">
              <a:avLst/>
            </a:prstGeom>
            <a:solidFill>
              <a:srgbClr val="EFF4F7"/>
            </a:solidFill>
            <a:ln/>
          </p:spPr>
          <p:txBody>
            <a:bodyPr/>
            <a:lstStyle/>
            <a:p>
              <a:endParaRPr lang="fr-FR" sz="1050" noProof="0" dirty="0"/>
            </a:p>
          </p:txBody>
        </p:sp>
        <p:pic>
          <p:nvPicPr>
            <p:cNvPr id="82" name="Image 2" descr="icons/bolt_amber.png">
              <a:extLst>
                <a:ext uri="{FF2B5EF4-FFF2-40B4-BE49-F238E27FC236}">
                  <a16:creationId xmlns:a16="http://schemas.microsoft.com/office/drawing/2014/main" id="{2AAB1129-6479-AB2F-3A92-C4F07C130D52}"/>
                </a:ext>
              </a:extLst>
            </p:cNvPr>
            <p:cNvPicPr>
              <a:picLocks noChangeAspect="1"/>
            </p:cNvPicPr>
            <p:nvPr/>
          </p:nvPicPr>
          <p:blipFill>
            <a:blip r:embed="rId9"/>
            <a:stretch>
              <a:fillRect/>
            </a:stretch>
          </p:blipFill>
          <p:spPr>
            <a:xfrm>
              <a:off x="8412480" y="2468880"/>
              <a:ext cx="274320" cy="274320"/>
            </a:xfrm>
            <a:prstGeom prst="rect">
              <a:avLst/>
            </a:prstGeom>
          </p:spPr>
        </p:pic>
        <p:sp>
          <p:nvSpPr>
            <p:cNvPr id="86" name="Text 18">
              <a:extLst>
                <a:ext uri="{FF2B5EF4-FFF2-40B4-BE49-F238E27FC236}">
                  <a16:creationId xmlns:a16="http://schemas.microsoft.com/office/drawing/2014/main" id="{1C8952C9-79AF-C55D-3C3C-BFD7EB1DEEA6}"/>
                </a:ext>
              </a:extLst>
            </p:cNvPr>
            <p:cNvSpPr/>
            <p:nvPr/>
          </p:nvSpPr>
          <p:spPr>
            <a:xfrm>
              <a:off x="8275320" y="3017520"/>
              <a:ext cx="3063240" cy="411480"/>
            </a:xfrm>
            <a:prstGeom prst="rect">
              <a:avLst/>
            </a:prstGeom>
            <a:noFill/>
            <a:ln/>
          </p:spPr>
          <p:txBody>
            <a:bodyPr wrap="square" lIns="0" tIns="0" rIns="0" bIns="0" rtlCol="0" anchor="ctr"/>
            <a:lstStyle/>
            <a:p>
              <a:pPr marL="0" indent="0">
                <a:buNone/>
              </a:pPr>
              <a:r>
                <a:rPr lang="fr-FR" sz="1100" b="1" noProof="0" dirty="0">
                  <a:solidFill>
                    <a:srgbClr val="0B1F3A"/>
                  </a:solidFill>
                  <a:latin typeface="Cambria" pitchFamily="34" charset="0"/>
                  <a:ea typeface="Cambria" pitchFamily="34" charset="-122"/>
                  <a:cs typeface="Cambria" pitchFamily="34" charset="-120"/>
                </a:rPr>
                <a:t>Agile / itératif</a:t>
              </a:r>
              <a:endParaRPr lang="fr-FR" sz="1100" noProof="0" dirty="0"/>
            </a:p>
          </p:txBody>
        </p:sp>
        <p:sp>
          <p:nvSpPr>
            <p:cNvPr id="91" name="Text 19">
              <a:extLst>
                <a:ext uri="{FF2B5EF4-FFF2-40B4-BE49-F238E27FC236}">
                  <a16:creationId xmlns:a16="http://schemas.microsoft.com/office/drawing/2014/main" id="{7B370AC6-F37A-FFFF-2EB8-27DBCBB265D5}"/>
                </a:ext>
              </a:extLst>
            </p:cNvPr>
            <p:cNvSpPr/>
            <p:nvPr/>
          </p:nvSpPr>
          <p:spPr>
            <a:xfrm>
              <a:off x="8275320" y="3474720"/>
              <a:ext cx="3063240" cy="1737360"/>
            </a:xfrm>
            <a:prstGeom prst="rect">
              <a:avLst/>
            </a:prstGeom>
            <a:noFill/>
            <a:ln/>
          </p:spPr>
          <p:txBody>
            <a:bodyPr wrap="square" lIns="0" tIns="0" rIns="0" bIns="0" rtlCol="0" anchor="ctr"/>
            <a:lstStyle/>
            <a:p>
              <a:pPr marL="0" indent="0">
                <a:lnSpc>
                  <a:spcPct val="130000"/>
                </a:lnSpc>
                <a:buNone/>
              </a:pPr>
              <a:r>
                <a:rPr lang="fr-FR" sz="900" noProof="0" dirty="0">
                  <a:solidFill>
                    <a:srgbClr val="64748B"/>
                  </a:solidFill>
                  <a:latin typeface="Calibri" pitchFamily="34" charset="0"/>
                  <a:ea typeface="Calibri" pitchFamily="34" charset="-122"/>
                  <a:cs typeface="Calibri" pitchFamily="34" charset="-120"/>
                </a:rPr>
                <a:t>Cycles courts (sprints) livrant des incréments fonctionnels. Favorise l'adaptation au changement — c'est le modèle suivi par ce module, séance après séance.</a:t>
              </a:r>
              <a:endParaRPr lang="fr-FR" sz="900" noProof="0" dirty="0"/>
            </a:p>
          </p:txBody>
        </p:sp>
      </p:grpSp>
      <p:sp>
        <p:nvSpPr>
          <p:cNvPr id="94" name="TextBox 93">
            <a:extLst>
              <a:ext uri="{FF2B5EF4-FFF2-40B4-BE49-F238E27FC236}">
                <a16:creationId xmlns:a16="http://schemas.microsoft.com/office/drawing/2014/main" id="{8195D175-C30C-B632-9D0E-2AAE2F29590C}"/>
              </a:ext>
            </a:extLst>
          </p:cNvPr>
          <p:cNvSpPr txBox="1"/>
          <p:nvPr/>
        </p:nvSpPr>
        <p:spPr>
          <a:xfrm>
            <a:off x="320040" y="1140062"/>
            <a:ext cx="8178654" cy="307777"/>
          </a:xfrm>
          <a:prstGeom prst="rect">
            <a:avLst/>
          </a:prstGeom>
          <a:noFill/>
        </p:spPr>
        <p:txBody>
          <a:bodyPr wrap="square">
            <a:spAutoFit/>
          </a:bodyPr>
          <a:lstStyle/>
          <a:p>
            <a:pPr marL="0" indent="0">
              <a:buNone/>
            </a:pPr>
            <a:r>
              <a:rPr lang="fr-FR" sz="1400" dirty="0"/>
              <a:t>Le choix du modèle de cycle de vie dépend du niveau d'incertitude et du besoin de livraisons rapprochées</a:t>
            </a:r>
          </a:p>
        </p:txBody>
      </p:sp>
    </p:spTree>
    <p:extLst>
      <p:ext uri="{BB962C8B-B14F-4D97-AF65-F5344CB8AC3E}">
        <p14:creationId xmlns:p14="http://schemas.microsoft.com/office/powerpoint/2010/main" val="17763227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3B55D91-7EAF-A0DD-C3D0-85F6007EA7FD}"/>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DFFAC9D4-FFF9-5ABD-EA4D-4EB65DFEB27D}"/>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79FA4D02-D919-BE99-5572-4A722B314E6E}"/>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1C43B8E5-F51F-EDED-29BA-AA542E2BA809}"/>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43C59823-56F9-2635-8567-0C09FD12F0FF}"/>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BB76BFFE-8A3F-4994-E3DB-48AD4D26856D}"/>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9542CB6E-3CE3-9843-AA62-995EEC4D3C47}"/>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90300435-CE71-4D31-A4E7-D29C28BAE11E}"/>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Introduction : </a:t>
            </a:r>
            <a:r>
              <a:rPr lang="en-GB" b="1" dirty="0" err="1">
                <a:solidFill>
                  <a:srgbClr val="1A1A1A"/>
                </a:solidFill>
                <a:latin typeface="Calibri" pitchFamily="34" charset="0"/>
                <a:ea typeface="Calibri" pitchFamily="34" charset="-122"/>
                <a:cs typeface="Calibri" pitchFamily="34" charset="-120"/>
              </a:rPr>
              <a:t>Pourquoi</a:t>
            </a:r>
            <a:r>
              <a:rPr lang="en-GB" b="1" dirty="0">
                <a:solidFill>
                  <a:srgbClr val="1A1A1A"/>
                </a:solidFill>
                <a:latin typeface="Calibri" pitchFamily="34" charset="0"/>
                <a:ea typeface="Calibri" pitchFamily="34" charset="-122"/>
                <a:cs typeface="Calibri" pitchFamily="34" charset="-120"/>
              </a:rPr>
              <a:t> </a:t>
            </a:r>
            <a:r>
              <a:rPr lang="en-GB" b="1" dirty="0" err="1">
                <a:solidFill>
                  <a:srgbClr val="1A1A1A"/>
                </a:solidFill>
                <a:latin typeface="Calibri" pitchFamily="34" charset="0"/>
                <a:ea typeface="Calibri" pitchFamily="34" charset="-122"/>
                <a:cs typeface="Calibri" pitchFamily="34" charset="-120"/>
              </a:rPr>
              <a:t>architecturer</a:t>
            </a:r>
            <a:r>
              <a:rPr lang="en-GB" b="1" dirty="0">
                <a:solidFill>
                  <a:srgbClr val="1A1A1A"/>
                </a:solidFill>
                <a:latin typeface="Calibri" pitchFamily="34" charset="0"/>
                <a:ea typeface="Calibri" pitchFamily="34" charset="-122"/>
                <a:cs typeface="Calibri" pitchFamily="34" charset="-120"/>
              </a:rPr>
              <a:t> ? </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3C6AE6CA-754D-5CB8-F1BF-946F41B2A7BA}"/>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90109902-2330-765F-31EC-B2380A2B1F9D}"/>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E99BE293-8975-A810-4903-951C7898B810}"/>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1EBB6178-C1B4-58E9-FC20-884367C41BB9}"/>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11</a:t>
            </a:r>
            <a:endParaRPr lang="en-US" sz="900" dirty="0"/>
          </a:p>
        </p:txBody>
      </p:sp>
      <p:pic>
        <p:nvPicPr>
          <p:cNvPr id="18" name="object 2">
            <a:extLst>
              <a:ext uri="{FF2B5EF4-FFF2-40B4-BE49-F238E27FC236}">
                <a16:creationId xmlns:a16="http://schemas.microsoft.com/office/drawing/2014/main" id="{BEC29156-83C9-CD2D-4D2A-24DD723DC1CC}"/>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114DE29B-FEDA-6344-9158-4141A6340F30}"/>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7" name="Text 4">
            <a:extLst>
              <a:ext uri="{FF2B5EF4-FFF2-40B4-BE49-F238E27FC236}">
                <a16:creationId xmlns:a16="http://schemas.microsoft.com/office/drawing/2014/main" id="{6DFA08A8-62D4-1A05-153A-C779422A1532}"/>
              </a:ext>
            </a:extLst>
          </p:cNvPr>
          <p:cNvSpPr/>
          <p:nvPr/>
        </p:nvSpPr>
        <p:spPr>
          <a:xfrm>
            <a:off x="320040" y="836538"/>
            <a:ext cx="8046720" cy="3954918"/>
          </a:xfrm>
          <a:prstGeom prst="rect">
            <a:avLst/>
          </a:prstGeom>
          <a:noFill/>
          <a:ln/>
        </p:spPr>
        <p:txBody>
          <a:bodyPr wrap="square" rtlCol="0" anchor="t"/>
          <a:lstStyle/>
          <a:p>
            <a:pPr>
              <a:lnSpc>
                <a:spcPct val="150000"/>
              </a:lnSpc>
            </a:pPr>
            <a:r>
              <a:rPr lang="fr-FR" sz="1400" dirty="0"/>
              <a:t>Imaginez que vous êtes entrain de développer une application web de livraison.</a:t>
            </a:r>
            <a:r>
              <a:rPr lang="en-GB" sz="1400" dirty="0"/>
              <a:t> </a:t>
            </a:r>
            <a:r>
              <a:rPr lang="fr-FR" sz="1400" dirty="0"/>
              <a:t>Dès le départ, plusieurs questions se posent :</a:t>
            </a:r>
          </a:p>
          <a:p>
            <a:pPr marL="285750" indent="-285750">
              <a:lnSpc>
                <a:spcPct val="150000"/>
              </a:lnSpc>
              <a:buFont typeface="Arial" panose="020B0604020202020204" pitchFamily="34" charset="0"/>
              <a:buChar char="•"/>
            </a:pPr>
            <a:r>
              <a:rPr lang="fr-FR" sz="1400" dirty="0"/>
              <a:t>Comment séparer les responsabilités entre les différentes parties de l'application ?</a:t>
            </a:r>
          </a:p>
          <a:p>
            <a:pPr marL="285750" indent="-285750">
              <a:lnSpc>
                <a:spcPct val="150000"/>
              </a:lnSpc>
              <a:buFont typeface="Arial" panose="020B0604020202020204" pitchFamily="34" charset="0"/>
              <a:buChar char="•"/>
            </a:pPr>
            <a:r>
              <a:rPr lang="fr-FR" sz="1400" dirty="0"/>
              <a:t>Comment organiser le code pour qu'il reste maintenable ?</a:t>
            </a:r>
          </a:p>
          <a:p>
            <a:pPr marL="285750" indent="-285750">
              <a:lnSpc>
                <a:spcPct val="150000"/>
              </a:lnSpc>
              <a:buFont typeface="Arial" panose="020B0604020202020204" pitchFamily="34" charset="0"/>
              <a:buChar char="•"/>
            </a:pPr>
            <a:r>
              <a:rPr lang="fr-FR" sz="1400" dirty="0"/>
              <a:t>Comment faire évoluer l'application sans tout réécrire ?</a:t>
            </a:r>
          </a:p>
          <a:p>
            <a:pPr marL="285750" indent="-285750">
              <a:lnSpc>
                <a:spcPct val="150000"/>
              </a:lnSpc>
              <a:buFont typeface="Arial" panose="020B0604020202020204" pitchFamily="34" charset="0"/>
              <a:buChar char="•"/>
            </a:pPr>
            <a:endParaRPr lang="en-GB" sz="1400" dirty="0"/>
          </a:p>
          <a:p>
            <a:pPr marL="285750" indent="-285750">
              <a:lnSpc>
                <a:spcPct val="150000"/>
              </a:lnSpc>
              <a:buFont typeface="Arial" panose="020B0604020202020204" pitchFamily="34" charset="0"/>
              <a:buChar char="•"/>
            </a:pPr>
            <a:endParaRPr lang="en-GB" sz="1400" dirty="0"/>
          </a:p>
          <a:p>
            <a:pPr marL="285750" indent="-285750">
              <a:lnSpc>
                <a:spcPct val="150000"/>
              </a:lnSpc>
              <a:buFont typeface="Arial" panose="020B0604020202020204" pitchFamily="34" charset="0"/>
              <a:buChar char="•"/>
            </a:pPr>
            <a:endParaRPr lang="en-GB" sz="1400" dirty="0"/>
          </a:p>
          <a:p>
            <a:pPr>
              <a:lnSpc>
                <a:spcPct val="125000"/>
              </a:lnSpc>
              <a:buSzPct val="100000"/>
            </a:pPr>
            <a:endParaRPr lang="en-US" sz="1400" dirty="0"/>
          </a:p>
        </p:txBody>
      </p:sp>
      <p:pic>
        <p:nvPicPr>
          <p:cNvPr id="19" name="Picture 18">
            <a:extLst>
              <a:ext uri="{FF2B5EF4-FFF2-40B4-BE49-F238E27FC236}">
                <a16:creationId xmlns:a16="http://schemas.microsoft.com/office/drawing/2014/main" id="{7A661102-826B-0EC8-AAF2-FF77FAA7D1DB}"/>
              </a:ext>
            </a:extLst>
          </p:cNvPr>
          <p:cNvPicPr>
            <a:picLocks noChangeAspect="1"/>
          </p:cNvPicPr>
          <p:nvPr/>
        </p:nvPicPr>
        <p:blipFill>
          <a:blip r:embed="rId7"/>
          <a:stretch>
            <a:fillRect/>
          </a:stretch>
        </p:blipFill>
        <p:spPr>
          <a:xfrm>
            <a:off x="5393414" y="2243304"/>
            <a:ext cx="3476266" cy="2256524"/>
          </a:xfrm>
          <a:prstGeom prst="rect">
            <a:avLst/>
          </a:prstGeom>
          <a:ln w="6350" cap="sq">
            <a:solidFill>
              <a:srgbClr val="000000"/>
            </a:solidFill>
            <a:prstDash val="solid"/>
            <a:miter lim="800000"/>
          </a:ln>
          <a:effectLst>
            <a:outerShdw blurRad="50800" dist="38100" dir="2700000" algn="tl" rotWithShape="0">
              <a:srgbClr val="000000">
                <a:alpha val="43000"/>
              </a:srgbClr>
            </a:outerShdw>
          </a:effectLst>
        </p:spPr>
      </p:pic>
      <p:sp>
        <p:nvSpPr>
          <p:cNvPr id="21" name="TextBox 20">
            <a:extLst>
              <a:ext uri="{FF2B5EF4-FFF2-40B4-BE49-F238E27FC236}">
                <a16:creationId xmlns:a16="http://schemas.microsoft.com/office/drawing/2014/main" id="{F0D61C16-9BBF-EEE4-6227-CCD669D6C98A}"/>
              </a:ext>
            </a:extLst>
          </p:cNvPr>
          <p:cNvSpPr txBox="1"/>
          <p:nvPr/>
        </p:nvSpPr>
        <p:spPr>
          <a:xfrm>
            <a:off x="351065" y="2867398"/>
            <a:ext cx="4699362" cy="880369"/>
          </a:xfrm>
          <a:prstGeom prst="rect">
            <a:avLst/>
          </a:prstGeom>
          <a:noFill/>
        </p:spPr>
        <p:txBody>
          <a:bodyPr wrap="square">
            <a:spAutoFit/>
          </a:bodyPr>
          <a:lstStyle/>
          <a:p>
            <a:pPr algn="ctr">
              <a:lnSpc>
                <a:spcPct val="150000"/>
              </a:lnSpc>
            </a:pPr>
            <a:r>
              <a:rPr lang="fr-FR" sz="1800" dirty="0"/>
              <a:t>La réponse à ces questions passe par le choix d'une </a:t>
            </a:r>
            <a:r>
              <a:rPr lang="fr-FR" sz="1800" b="1" dirty="0"/>
              <a:t>architecture logicielle adaptée</a:t>
            </a:r>
            <a:r>
              <a:rPr lang="fr-FR" sz="1800" dirty="0"/>
              <a:t>.</a:t>
            </a:r>
          </a:p>
        </p:txBody>
      </p:sp>
      <p:sp>
        <p:nvSpPr>
          <p:cNvPr id="11" name="TextBox 10">
            <a:extLst>
              <a:ext uri="{FF2B5EF4-FFF2-40B4-BE49-F238E27FC236}">
                <a16:creationId xmlns:a16="http://schemas.microsoft.com/office/drawing/2014/main" id="{8C432243-CD8B-569C-E42E-445689119515}"/>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Tree>
    <p:extLst>
      <p:ext uri="{BB962C8B-B14F-4D97-AF65-F5344CB8AC3E}">
        <p14:creationId xmlns:p14="http://schemas.microsoft.com/office/powerpoint/2010/main" val="3613888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B55B97B-1196-23E5-F683-74D847597C9A}"/>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89C2F06A-87C8-AF90-14B5-9F22549F70BE}"/>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D975B8F0-BBE7-E304-8CFB-18AE695DB90D}"/>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BB9CC8C1-E698-16E3-516A-CF9717F6403C}"/>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E9089AEA-5FAE-56BF-AE86-6E2B62F6D49D}"/>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82EFDBB2-CAE5-57AE-22EB-E323582E92C7}"/>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17B08CEF-CFFA-F208-7A58-3FE1ADE5782C}"/>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D0FF205B-EB0A-6E9D-FE50-DCEA923061EB}"/>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Styles </a:t>
            </a:r>
            <a:r>
              <a:rPr lang="en-GB" b="1" dirty="0" err="1">
                <a:solidFill>
                  <a:srgbClr val="1A1A1A"/>
                </a:solidFill>
                <a:latin typeface="Calibri" pitchFamily="34" charset="0"/>
                <a:ea typeface="Calibri" pitchFamily="34" charset="-122"/>
                <a:cs typeface="Calibri" pitchFamily="34" charset="-120"/>
              </a:rPr>
              <a:t>architecturaux</a:t>
            </a:r>
            <a:r>
              <a:rPr lang="en-GB" b="1" dirty="0">
                <a:solidFill>
                  <a:srgbClr val="1A1A1A"/>
                </a:solidFill>
                <a:latin typeface="Calibri" pitchFamily="34" charset="0"/>
                <a:ea typeface="Calibri" pitchFamily="34" charset="-122"/>
                <a:cs typeface="Calibri" pitchFamily="34" charset="-120"/>
              </a:rPr>
              <a:t> - </a:t>
            </a:r>
            <a:r>
              <a:rPr lang="en-GB" b="1" dirty="0" err="1">
                <a:solidFill>
                  <a:srgbClr val="1A1A1A"/>
                </a:solidFill>
                <a:latin typeface="Calibri" pitchFamily="34" charset="0"/>
                <a:ea typeface="Calibri" pitchFamily="34" charset="-122"/>
                <a:cs typeface="Calibri" pitchFamily="34" charset="-120"/>
              </a:rPr>
              <a:t>Définition</a:t>
            </a:r>
            <a:r>
              <a:rPr lang="en-GB" b="1" dirty="0">
                <a:solidFill>
                  <a:srgbClr val="1A1A1A"/>
                </a:solidFill>
                <a:latin typeface="Calibri" pitchFamily="34" charset="0"/>
                <a:ea typeface="Calibri" pitchFamily="34" charset="-122"/>
                <a:cs typeface="Calibri" pitchFamily="34" charset="-120"/>
              </a:rPr>
              <a:t> </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6F1BA1C0-3AC9-60CD-6B8B-5C7FBD717411}"/>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D498E74E-90F1-831D-B3BA-879870CF681A}"/>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A56FF5B5-A534-23C7-B963-EDDCF123CB21}"/>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361B5375-A7AB-BE3C-A003-2975931FFC65}"/>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12</a:t>
            </a:r>
            <a:endParaRPr lang="en-US" sz="900" dirty="0"/>
          </a:p>
        </p:txBody>
      </p:sp>
      <p:pic>
        <p:nvPicPr>
          <p:cNvPr id="18" name="object 2">
            <a:extLst>
              <a:ext uri="{FF2B5EF4-FFF2-40B4-BE49-F238E27FC236}">
                <a16:creationId xmlns:a16="http://schemas.microsoft.com/office/drawing/2014/main" id="{346F5A63-BD47-E8DF-DF93-959F823B67CD}"/>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364C50E4-D143-E10A-DD1A-6D8CF58B50EB}"/>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7" name="Text 4">
            <a:extLst>
              <a:ext uri="{FF2B5EF4-FFF2-40B4-BE49-F238E27FC236}">
                <a16:creationId xmlns:a16="http://schemas.microsoft.com/office/drawing/2014/main" id="{F357D160-1E65-44C5-7225-E9ED4D3D5013}"/>
              </a:ext>
            </a:extLst>
          </p:cNvPr>
          <p:cNvSpPr/>
          <p:nvPr/>
        </p:nvSpPr>
        <p:spPr>
          <a:xfrm>
            <a:off x="365760" y="838893"/>
            <a:ext cx="8366760" cy="3506862"/>
          </a:xfrm>
          <a:prstGeom prst="rect">
            <a:avLst/>
          </a:prstGeom>
          <a:noFill/>
          <a:ln/>
        </p:spPr>
        <p:txBody>
          <a:bodyPr wrap="square" rtlCol="0" anchor="t"/>
          <a:lstStyle/>
          <a:p>
            <a:pPr>
              <a:lnSpc>
                <a:spcPct val="150000"/>
              </a:lnSpc>
            </a:pPr>
            <a:r>
              <a:rPr lang="fr-FR" sz="1200" dirty="0"/>
              <a:t>      Un </a:t>
            </a:r>
            <a:r>
              <a:rPr lang="fr-FR" sz="1200" b="1" dirty="0"/>
              <a:t>style architectural</a:t>
            </a:r>
            <a:r>
              <a:rPr lang="fr-FR" sz="1200" dirty="0"/>
              <a:t> est un ensemble de principes et de contraintes qui définissent la structure globale </a:t>
            </a:r>
            <a:br>
              <a:rPr lang="fr-FR" sz="1200" dirty="0"/>
            </a:br>
            <a:r>
              <a:rPr lang="fr-FR" sz="1200" dirty="0"/>
              <a:t>d'un système logiciel : comment ses composants sont organisés, comment ils communiquent et comment les responsabilités sont réparties. </a:t>
            </a:r>
            <a:r>
              <a:rPr lang="fr-FR" sz="1200" dirty="0">
                <a:solidFill>
                  <a:srgbClr val="1E293B"/>
                </a:solidFill>
                <a:latin typeface="Calibri" pitchFamily="34" charset="0"/>
                <a:ea typeface="Calibri" pitchFamily="34" charset="-122"/>
                <a:cs typeface="Calibri" pitchFamily="34" charset="-120"/>
              </a:rPr>
              <a:t>Une mauvaise architecture ne se voit pas immédiatement, elle se paie plus tard, sous forme de dette technique </a:t>
            </a:r>
            <a:r>
              <a:rPr lang="fr-FR" sz="1050" i="1" dirty="0">
                <a:solidFill>
                  <a:srgbClr val="1E293B"/>
                </a:solidFill>
                <a:latin typeface="Calibri" pitchFamily="34" charset="0"/>
                <a:ea typeface="Calibri" pitchFamily="34" charset="-122"/>
                <a:cs typeface="Calibri" pitchFamily="34" charset="-120"/>
              </a:rPr>
              <a:t>(approfondie en S13)</a:t>
            </a:r>
            <a:r>
              <a:rPr lang="fr-FR" sz="1200" dirty="0">
                <a:solidFill>
                  <a:srgbClr val="1E293B"/>
                </a:solidFill>
                <a:latin typeface="Calibri" pitchFamily="34" charset="0"/>
                <a:ea typeface="Calibri" pitchFamily="34" charset="-122"/>
                <a:cs typeface="Calibri" pitchFamily="34" charset="-120"/>
              </a:rPr>
              <a:t>. L'objectif est d'anticiper dès la conception.</a:t>
            </a:r>
            <a:br>
              <a:rPr lang="fr-FR" sz="1200" dirty="0"/>
            </a:br>
            <a:r>
              <a:rPr lang="fr-FR" sz="1200" dirty="0"/>
              <a:t>      </a:t>
            </a:r>
            <a:br>
              <a:rPr lang="fr-FR" sz="1200" dirty="0"/>
            </a:br>
            <a:r>
              <a:rPr lang="fr-FR" sz="1200" dirty="0"/>
              <a:t>Toute application, dès qu'elle dépasse un certain niveau de complexité, nécessite une organisation réfléchie. Sans architecture définie :</a:t>
            </a:r>
          </a:p>
          <a:p>
            <a:pPr marL="285750" indent="-285750">
              <a:lnSpc>
                <a:spcPct val="150000"/>
              </a:lnSpc>
              <a:buFont typeface="Arial" panose="020B0604020202020204" pitchFamily="34" charset="0"/>
              <a:buChar char="•"/>
            </a:pPr>
            <a:r>
              <a:rPr lang="fr-FR" sz="1200" dirty="0"/>
              <a:t>Le code devient difficile à maintenir et à faire évoluer</a:t>
            </a:r>
          </a:p>
          <a:p>
            <a:pPr marL="285750" indent="-285750">
              <a:lnSpc>
                <a:spcPct val="150000"/>
              </a:lnSpc>
              <a:buFont typeface="Arial" panose="020B0604020202020204" pitchFamily="34" charset="0"/>
              <a:buChar char="•"/>
            </a:pPr>
            <a:r>
              <a:rPr lang="fr-FR" sz="1200" dirty="0"/>
              <a:t>Les responsabilités se mélangent (logique métier, accès aux données, interface...)</a:t>
            </a:r>
          </a:p>
          <a:p>
            <a:pPr marL="285750" indent="-285750">
              <a:lnSpc>
                <a:spcPct val="150000"/>
              </a:lnSpc>
              <a:buFont typeface="Arial" panose="020B0604020202020204" pitchFamily="34" charset="0"/>
              <a:buChar char="•"/>
            </a:pPr>
            <a:r>
              <a:rPr lang="fr-FR" sz="1200" dirty="0"/>
              <a:t>Les pannes se propagent à l'ensemble du système</a:t>
            </a:r>
          </a:p>
          <a:p>
            <a:pPr marL="285750" indent="-285750">
              <a:lnSpc>
                <a:spcPct val="150000"/>
              </a:lnSpc>
              <a:buFont typeface="Arial" panose="020B0604020202020204" pitchFamily="34" charset="0"/>
              <a:buChar char="•"/>
            </a:pPr>
            <a:r>
              <a:rPr lang="fr-FR" sz="1200" dirty="0"/>
              <a:t>Le travail en équipe devient difficile à coordonner</a:t>
            </a:r>
          </a:p>
          <a:p>
            <a:pPr marL="285750" indent="-285750">
              <a:lnSpc>
                <a:spcPct val="150000"/>
              </a:lnSpc>
              <a:buFont typeface="Arial" panose="020B0604020202020204" pitchFamily="34" charset="0"/>
              <a:buChar char="•"/>
            </a:pPr>
            <a:endParaRPr lang="en-GB" sz="1200" dirty="0"/>
          </a:p>
          <a:p>
            <a:pPr marL="285750" indent="-285750">
              <a:lnSpc>
                <a:spcPct val="150000"/>
              </a:lnSpc>
              <a:buFont typeface="Arial" panose="020B0604020202020204" pitchFamily="34" charset="0"/>
              <a:buChar char="•"/>
            </a:pPr>
            <a:endParaRPr lang="en-GB" sz="1200" dirty="0"/>
          </a:p>
          <a:p>
            <a:pPr>
              <a:lnSpc>
                <a:spcPct val="150000"/>
              </a:lnSpc>
            </a:pPr>
            <a:endParaRPr lang="en-GB" sz="1200" dirty="0"/>
          </a:p>
          <a:p>
            <a:pPr>
              <a:lnSpc>
                <a:spcPct val="125000"/>
              </a:lnSpc>
              <a:buSzPct val="100000"/>
            </a:pPr>
            <a:endParaRPr lang="en-US" sz="1200" dirty="0"/>
          </a:p>
        </p:txBody>
      </p:sp>
      <p:sp>
        <p:nvSpPr>
          <p:cNvPr id="11" name="TextBox 10">
            <a:extLst>
              <a:ext uri="{FF2B5EF4-FFF2-40B4-BE49-F238E27FC236}">
                <a16:creationId xmlns:a16="http://schemas.microsoft.com/office/drawing/2014/main" id="{2DC3A8CA-B65F-D8BE-1EF9-096CA7CA017F}"/>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Tree>
    <p:extLst>
      <p:ext uri="{BB962C8B-B14F-4D97-AF65-F5344CB8AC3E}">
        <p14:creationId xmlns:p14="http://schemas.microsoft.com/office/powerpoint/2010/main" val="3349524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186F79B-A2AD-F615-7030-E8C414207E0A}"/>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667A8D48-A071-0EC9-F9F4-5F8994F75EF1}"/>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A676E784-85EB-4428-9475-379E0360DA38}"/>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EB7A0F59-8307-602E-8DFD-C567FB870ED0}"/>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E873DFF8-8387-9CB9-A09B-6C8188EAE8D6}"/>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A88E0FA6-8739-9502-91D5-076FD6722836}"/>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C4DBDCCF-8B9C-5952-49FF-2C5565CDC402}"/>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59B8EF78-901B-923A-7C89-C16F9F442A60}"/>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Styles </a:t>
            </a:r>
            <a:r>
              <a:rPr lang="en-GB" b="1" dirty="0" err="1">
                <a:solidFill>
                  <a:srgbClr val="1A1A1A"/>
                </a:solidFill>
                <a:latin typeface="Calibri" pitchFamily="34" charset="0"/>
                <a:ea typeface="Calibri" pitchFamily="34" charset="-122"/>
                <a:cs typeface="Calibri" pitchFamily="34" charset="-120"/>
              </a:rPr>
              <a:t>architecturaux</a:t>
            </a:r>
            <a:r>
              <a:rPr lang="en-GB" b="1" dirty="0">
                <a:solidFill>
                  <a:srgbClr val="1A1A1A"/>
                </a:solidFill>
                <a:latin typeface="Calibri" pitchFamily="34" charset="0"/>
                <a:ea typeface="Calibri" pitchFamily="34" charset="-122"/>
                <a:cs typeface="Calibri" pitchFamily="34" charset="-120"/>
              </a:rPr>
              <a:t> </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5E8F75A8-B704-6FB8-D8B8-5A399931B828}"/>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5EDD0B52-62B4-FC8A-89CE-FFB10A75724F}"/>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93759659-99A8-516D-181F-DB2CAEAA1B4E}"/>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9D49DD87-8225-6DCB-BAED-2F272FA2DD1E}"/>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13</a:t>
            </a:r>
            <a:endParaRPr lang="en-US" sz="900" dirty="0"/>
          </a:p>
        </p:txBody>
      </p:sp>
      <p:pic>
        <p:nvPicPr>
          <p:cNvPr id="18" name="object 2">
            <a:extLst>
              <a:ext uri="{FF2B5EF4-FFF2-40B4-BE49-F238E27FC236}">
                <a16:creationId xmlns:a16="http://schemas.microsoft.com/office/drawing/2014/main" id="{867852C9-6903-884D-27BB-2F5C02835211}"/>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4A24D0A4-6F4F-1880-90C9-B58718CB8199}"/>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7" name="Text 4">
            <a:extLst>
              <a:ext uri="{FF2B5EF4-FFF2-40B4-BE49-F238E27FC236}">
                <a16:creationId xmlns:a16="http://schemas.microsoft.com/office/drawing/2014/main" id="{98D0789F-79EC-FBE0-EFDD-59D3A6CCBDB7}"/>
              </a:ext>
            </a:extLst>
          </p:cNvPr>
          <p:cNvSpPr/>
          <p:nvPr/>
        </p:nvSpPr>
        <p:spPr>
          <a:xfrm>
            <a:off x="363338" y="1060635"/>
            <a:ext cx="8366760" cy="3506862"/>
          </a:xfrm>
          <a:prstGeom prst="rect">
            <a:avLst/>
          </a:prstGeom>
          <a:noFill/>
          <a:ln/>
        </p:spPr>
        <p:txBody>
          <a:bodyPr wrap="square" rtlCol="0" anchor="t"/>
          <a:lstStyle/>
          <a:p>
            <a:r>
              <a:rPr lang="fr-FR" sz="1200" dirty="0"/>
              <a:t>Un style architectural est une organisation générale, à grande échelle, des composants d'un système et de leurs relations.</a:t>
            </a:r>
          </a:p>
          <a:p>
            <a:pPr marL="285750" indent="-285750">
              <a:lnSpc>
                <a:spcPct val="150000"/>
              </a:lnSpc>
              <a:buFont typeface="Arial" panose="020B0604020202020204" pitchFamily="34" charset="0"/>
              <a:buChar char="•"/>
            </a:pPr>
            <a:endParaRPr lang="en-GB" sz="1200" dirty="0"/>
          </a:p>
          <a:p>
            <a:pPr marL="285750" indent="-285750">
              <a:lnSpc>
                <a:spcPct val="150000"/>
              </a:lnSpc>
              <a:buFont typeface="Arial" panose="020B0604020202020204" pitchFamily="34" charset="0"/>
              <a:buChar char="•"/>
            </a:pPr>
            <a:endParaRPr lang="en-GB" sz="1200" dirty="0"/>
          </a:p>
          <a:p>
            <a:pPr>
              <a:lnSpc>
                <a:spcPct val="150000"/>
              </a:lnSpc>
            </a:pPr>
            <a:endParaRPr lang="en-GB" sz="1200" dirty="0"/>
          </a:p>
          <a:p>
            <a:pPr>
              <a:lnSpc>
                <a:spcPct val="125000"/>
              </a:lnSpc>
              <a:buSzPct val="100000"/>
            </a:pPr>
            <a:endParaRPr lang="en-US" sz="1200" dirty="0"/>
          </a:p>
        </p:txBody>
      </p:sp>
      <p:sp>
        <p:nvSpPr>
          <p:cNvPr id="11" name="TextBox 10">
            <a:extLst>
              <a:ext uri="{FF2B5EF4-FFF2-40B4-BE49-F238E27FC236}">
                <a16:creationId xmlns:a16="http://schemas.microsoft.com/office/drawing/2014/main" id="{3AB7446D-29E4-A2A4-5F60-A1B8BD4B9774}"/>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grpSp>
        <p:nvGrpSpPr>
          <p:cNvPr id="95" name="Group 94">
            <a:extLst>
              <a:ext uri="{FF2B5EF4-FFF2-40B4-BE49-F238E27FC236}">
                <a16:creationId xmlns:a16="http://schemas.microsoft.com/office/drawing/2014/main" id="{03146B32-53DE-C702-9E4F-EE3B9B4E49A7}"/>
              </a:ext>
            </a:extLst>
          </p:cNvPr>
          <p:cNvGrpSpPr/>
          <p:nvPr/>
        </p:nvGrpSpPr>
        <p:grpSpPr>
          <a:xfrm>
            <a:off x="611215" y="1625277"/>
            <a:ext cx="7921569" cy="1953093"/>
            <a:chOff x="793189" y="2596257"/>
            <a:chExt cx="10149839" cy="2420190"/>
          </a:xfrm>
        </p:grpSpPr>
        <p:sp>
          <p:nvSpPr>
            <p:cNvPr id="56" name="Shape 4">
              <a:extLst>
                <a:ext uri="{FF2B5EF4-FFF2-40B4-BE49-F238E27FC236}">
                  <a16:creationId xmlns:a16="http://schemas.microsoft.com/office/drawing/2014/main" id="{361CFEAD-42C1-6860-AA0F-F5D7AA86C561}"/>
                </a:ext>
              </a:extLst>
            </p:cNvPr>
            <p:cNvSpPr/>
            <p:nvPr/>
          </p:nvSpPr>
          <p:spPr>
            <a:xfrm>
              <a:off x="793189" y="2596257"/>
              <a:ext cx="2011680" cy="2420190"/>
            </a:xfrm>
            <a:prstGeom prst="roundRect">
              <a:avLst>
                <a:gd name="adj" fmla="val 4286"/>
              </a:avLst>
            </a:prstGeom>
            <a:solidFill>
              <a:srgbClr val="EEF4F7"/>
            </a:solidFill>
            <a:ln/>
            <a:effectLst>
              <a:outerShdw blurRad="127000" dist="38100" dir="2700000" algn="bl" rotWithShape="0">
                <a:srgbClr val="1B2A4A">
                  <a:alpha val="14000"/>
                </a:srgbClr>
              </a:outerShdw>
            </a:effectLst>
          </p:spPr>
          <p:txBody>
            <a:bodyPr/>
            <a:lstStyle/>
            <a:p>
              <a:endParaRPr lang="fr-FR" sz="1400" noProof="0" dirty="0"/>
            </a:p>
          </p:txBody>
        </p:sp>
        <p:sp>
          <p:nvSpPr>
            <p:cNvPr id="58" name="Shape 5">
              <a:extLst>
                <a:ext uri="{FF2B5EF4-FFF2-40B4-BE49-F238E27FC236}">
                  <a16:creationId xmlns:a16="http://schemas.microsoft.com/office/drawing/2014/main" id="{C6330ED8-396C-1B1D-9F08-75B0F22B6EA9}"/>
                </a:ext>
              </a:extLst>
            </p:cNvPr>
            <p:cNvSpPr/>
            <p:nvPr/>
          </p:nvSpPr>
          <p:spPr>
            <a:xfrm>
              <a:off x="1478989" y="2944585"/>
              <a:ext cx="640080" cy="640080"/>
            </a:xfrm>
            <a:prstGeom prst="ellipse">
              <a:avLst/>
            </a:prstGeom>
            <a:solidFill>
              <a:srgbClr val="0B5A8C"/>
            </a:solidFill>
            <a:ln/>
          </p:spPr>
          <p:txBody>
            <a:bodyPr/>
            <a:lstStyle/>
            <a:p>
              <a:endParaRPr lang="fr-FR" sz="1600" noProof="0" dirty="0"/>
            </a:p>
          </p:txBody>
        </p:sp>
        <p:sp>
          <p:nvSpPr>
            <p:cNvPr id="60" name="Text 6">
              <a:extLst>
                <a:ext uri="{FF2B5EF4-FFF2-40B4-BE49-F238E27FC236}">
                  <a16:creationId xmlns:a16="http://schemas.microsoft.com/office/drawing/2014/main" id="{314409C4-6EB9-CD78-BE6C-7FD6BBA56BA2}"/>
                </a:ext>
              </a:extLst>
            </p:cNvPr>
            <p:cNvSpPr/>
            <p:nvPr/>
          </p:nvSpPr>
          <p:spPr>
            <a:xfrm>
              <a:off x="893354" y="3826159"/>
              <a:ext cx="1792224" cy="502920"/>
            </a:xfrm>
            <a:prstGeom prst="rect">
              <a:avLst/>
            </a:prstGeom>
            <a:noFill/>
            <a:ln/>
          </p:spPr>
          <p:txBody>
            <a:bodyPr wrap="square" lIns="0" tIns="0" rIns="0" bIns="0" rtlCol="0" anchor="ctr"/>
            <a:lstStyle/>
            <a:p>
              <a:pPr marL="0" indent="0" algn="ctr">
                <a:lnSpc>
                  <a:spcPct val="105000"/>
                </a:lnSpc>
                <a:buNone/>
              </a:pPr>
              <a:r>
                <a:rPr lang="fr-FR" sz="1200" b="1" noProof="0" dirty="0">
                  <a:solidFill>
                    <a:srgbClr val="1B2A3A"/>
                  </a:solidFill>
                  <a:latin typeface="Calibri" pitchFamily="34" charset="0"/>
                  <a:ea typeface="Calibri" pitchFamily="34" charset="-122"/>
                  <a:cs typeface="Calibri" pitchFamily="34" charset="-120"/>
                </a:rPr>
                <a:t>Monolithique</a:t>
              </a:r>
              <a:endParaRPr lang="fr-FR" sz="1200" noProof="0" dirty="0"/>
            </a:p>
          </p:txBody>
        </p:sp>
        <p:sp>
          <p:nvSpPr>
            <p:cNvPr id="62" name="Text 7">
              <a:extLst>
                <a:ext uri="{FF2B5EF4-FFF2-40B4-BE49-F238E27FC236}">
                  <a16:creationId xmlns:a16="http://schemas.microsoft.com/office/drawing/2014/main" id="{2F01B8CC-3E52-BCCC-07B3-CCB06218386B}"/>
                </a:ext>
              </a:extLst>
            </p:cNvPr>
            <p:cNvSpPr/>
            <p:nvPr/>
          </p:nvSpPr>
          <p:spPr>
            <a:xfrm>
              <a:off x="902917" y="4299169"/>
              <a:ext cx="1792224" cy="559386"/>
            </a:xfrm>
            <a:prstGeom prst="rect">
              <a:avLst/>
            </a:prstGeom>
            <a:noFill/>
            <a:ln/>
          </p:spPr>
          <p:txBody>
            <a:bodyPr wrap="square" lIns="0" tIns="0" rIns="0" bIns="0" rtlCol="0" anchor="ctr"/>
            <a:lstStyle/>
            <a:p>
              <a:pPr algn="ctr">
                <a:lnSpc>
                  <a:spcPct val="125000"/>
                </a:lnSpc>
              </a:pPr>
              <a:r>
                <a:rPr lang="fr-FR" sz="1050" noProof="0" dirty="0">
                  <a:solidFill>
                    <a:srgbClr val="5C7182"/>
                  </a:solidFill>
                  <a:latin typeface="Calibri" pitchFamily="34" charset="0"/>
                  <a:ea typeface="Calibri" pitchFamily="34" charset="-122"/>
                  <a:cs typeface="Calibri" pitchFamily="34" charset="-120"/>
                </a:rPr>
                <a:t>Une seule application, un seul déploiement</a:t>
              </a:r>
            </a:p>
          </p:txBody>
        </p:sp>
        <p:sp>
          <p:nvSpPr>
            <p:cNvPr id="64" name="Shape 8">
              <a:extLst>
                <a:ext uri="{FF2B5EF4-FFF2-40B4-BE49-F238E27FC236}">
                  <a16:creationId xmlns:a16="http://schemas.microsoft.com/office/drawing/2014/main" id="{94B619AB-4A7F-73B9-412A-CF42A59E242D}"/>
                </a:ext>
              </a:extLst>
            </p:cNvPr>
            <p:cNvSpPr/>
            <p:nvPr/>
          </p:nvSpPr>
          <p:spPr>
            <a:xfrm>
              <a:off x="3526826" y="2596257"/>
              <a:ext cx="2011680" cy="2420190"/>
            </a:xfrm>
            <a:prstGeom prst="roundRect">
              <a:avLst>
                <a:gd name="adj" fmla="val 4286"/>
              </a:avLst>
            </a:prstGeom>
            <a:solidFill>
              <a:srgbClr val="EEF4F7"/>
            </a:solidFill>
            <a:ln/>
            <a:effectLst>
              <a:outerShdw blurRad="127000" dist="38100" dir="2700000" algn="bl" rotWithShape="0">
                <a:srgbClr val="1B2A4A">
                  <a:alpha val="14000"/>
                </a:srgbClr>
              </a:outerShdw>
            </a:effectLst>
          </p:spPr>
          <p:txBody>
            <a:bodyPr/>
            <a:lstStyle/>
            <a:p>
              <a:endParaRPr lang="fr-FR" sz="1400" noProof="0" dirty="0"/>
            </a:p>
          </p:txBody>
        </p:sp>
        <p:sp>
          <p:nvSpPr>
            <p:cNvPr id="66" name="Shape 9">
              <a:extLst>
                <a:ext uri="{FF2B5EF4-FFF2-40B4-BE49-F238E27FC236}">
                  <a16:creationId xmlns:a16="http://schemas.microsoft.com/office/drawing/2014/main" id="{6B665A4D-D75E-44BA-2100-3B5685613E50}"/>
                </a:ext>
              </a:extLst>
            </p:cNvPr>
            <p:cNvSpPr/>
            <p:nvPr/>
          </p:nvSpPr>
          <p:spPr>
            <a:xfrm>
              <a:off x="4212626" y="2944585"/>
              <a:ext cx="640080" cy="640080"/>
            </a:xfrm>
            <a:prstGeom prst="ellipse">
              <a:avLst/>
            </a:prstGeom>
            <a:solidFill>
              <a:srgbClr val="1C8299"/>
            </a:solidFill>
            <a:ln/>
          </p:spPr>
          <p:txBody>
            <a:bodyPr/>
            <a:lstStyle/>
            <a:p>
              <a:endParaRPr lang="fr-FR" sz="1600" noProof="0" dirty="0"/>
            </a:p>
          </p:txBody>
        </p:sp>
        <p:sp>
          <p:nvSpPr>
            <p:cNvPr id="68" name="Text 10">
              <a:extLst>
                <a:ext uri="{FF2B5EF4-FFF2-40B4-BE49-F238E27FC236}">
                  <a16:creationId xmlns:a16="http://schemas.microsoft.com/office/drawing/2014/main" id="{DA8D2FC2-53AB-D50F-3537-4105B8197D88}"/>
                </a:ext>
              </a:extLst>
            </p:cNvPr>
            <p:cNvSpPr/>
            <p:nvPr/>
          </p:nvSpPr>
          <p:spPr>
            <a:xfrm>
              <a:off x="3636554" y="3801043"/>
              <a:ext cx="1792224" cy="502920"/>
            </a:xfrm>
            <a:prstGeom prst="rect">
              <a:avLst/>
            </a:prstGeom>
            <a:noFill/>
            <a:ln/>
          </p:spPr>
          <p:txBody>
            <a:bodyPr wrap="square" lIns="0" tIns="0" rIns="0" bIns="0" rtlCol="0" anchor="ctr"/>
            <a:lstStyle/>
            <a:p>
              <a:pPr marL="0" indent="0" algn="ctr">
                <a:lnSpc>
                  <a:spcPct val="105000"/>
                </a:lnSpc>
                <a:buNone/>
              </a:pPr>
              <a:r>
                <a:rPr lang="fr-FR" sz="1200" b="1" noProof="0" dirty="0">
                  <a:solidFill>
                    <a:srgbClr val="1B2A3A"/>
                  </a:solidFill>
                  <a:latin typeface="Calibri" pitchFamily="34" charset="0"/>
                  <a:ea typeface="Calibri" pitchFamily="34" charset="-122"/>
                  <a:cs typeface="Calibri" pitchFamily="34" charset="-120"/>
                </a:rPr>
                <a:t>SOA</a:t>
              </a:r>
              <a:endParaRPr lang="fr-FR" sz="1200" noProof="0" dirty="0"/>
            </a:p>
          </p:txBody>
        </p:sp>
        <p:sp>
          <p:nvSpPr>
            <p:cNvPr id="70" name="Text 11">
              <a:extLst>
                <a:ext uri="{FF2B5EF4-FFF2-40B4-BE49-F238E27FC236}">
                  <a16:creationId xmlns:a16="http://schemas.microsoft.com/office/drawing/2014/main" id="{EEDD5984-051D-99B0-AD09-5FD46D821CA7}"/>
                </a:ext>
              </a:extLst>
            </p:cNvPr>
            <p:cNvSpPr/>
            <p:nvPr/>
          </p:nvSpPr>
          <p:spPr>
            <a:xfrm>
              <a:off x="3621136" y="4329079"/>
              <a:ext cx="1792224" cy="591914"/>
            </a:xfrm>
            <a:prstGeom prst="rect">
              <a:avLst/>
            </a:prstGeom>
            <a:noFill/>
            <a:ln/>
          </p:spPr>
          <p:txBody>
            <a:bodyPr wrap="square" lIns="0" tIns="0" rIns="0" bIns="0" rtlCol="0" anchor="ctr"/>
            <a:lstStyle/>
            <a:p>
              <a:pPr algn="ctr">
                <a:lnSpc>
                  <a:spcPct val="125000"/>
                </a:lnSpc>
              </a:pPr>
              <a:r>
                <a:rPr lang="fr-FR" sz="1050" noProof="0" dirty="0">
                  <a:solidFill>
                    <a:srgbClr val="5C7182"/>
                  </a:solidFill>
                  <a:latin typeface="Calibri" pitchFamily="34" charset="0"/>
                  <a:ea typeface="Calibri" pitchFamily="34" charset="-122"/>
                  <a:cs typeface="Calibri" pitchFamily="34" charset="-120"/>
                </a:rPr>
                <a:t>Services orchestrés autour d'un bus (ESB)</a:t>
              </a:r>
            </a:p>
          </p:txBody>
        </p:sp>
        <p:pic>
          <p:nvPicPr>
            <p:cNvPr id="72" name="Image 2" descr="preencoded.png">
              <a:extLst>
                <a:ext uri="{FF2B5EF4-FFF2-40B4-BE49-F238E27FC236}">
                  <a16:creationId xmlns:a16="http://schemas.microsoft.com/office/drawing/2014/main" id="{12166472-50FB-B6F0-589A-BA79C918FC3E}"/>
                </a:ext>
              </a:extLst>
            </p:cNvPr>
            <p:cNvPicPr>
              <a:picLocks noChangeAspect="1"/>
            </p:cNvPicPr>
            <p:nvPr/>
          </p:nvPicPr>
          <p:blipFill>
            <a:blip r:embed="rId7"/>
            <a:stretch>
              <a:fillRect/>
            </a:stretch>
          </p:blipFill>
          <p:spPr>
            <a:xfrm>
              <a:off x="4352444" y="3081745"/>
              <a:ext cx="365760" cy="365760"/>
            </a:xfrm>
            <a:prstGeom prst="rect">
              <a:avLst/>
            </a:prstGeom>
          </p:spPr>
        </p:pic>
        <p:sp>
          <p:nvSpPr>
            <p:cNvPr id="74" name="Shape 16">
              <a:extLst>
                <a:ext uri="{FF2B5EF4-FFF2-40B4-BE49-F238E27FC236}">
                  <a16:creationId xmlns:a16="http://schemas.microsoft.com/office/drawing/2014/main" id="{948EE4BA-550F-C021-6D3A-E47C4A8BE46A}"/>
                </a:ext>
              </a:extLst>
            </p:cNvPr>
            <p:cNvSpPr/>
            <p:nvPr/>
          </p:nvSpPr>
          <p:spPr>
            <a:xfrm>
              <a:off x="6218983" y="2596257"/>
              <a:ext cx="2011680" cy="2420190"/>
            </a:xfrm>
            <a:prstGeom prst="roundRect">
              <a:avLst>
                <a:gd name="adj" fmla="val 4286"/>
              </a:avLst>
            </a:prstGeom>
            <a:solidFill>
              <a:srgbClr val="EEF4F7"/>
            </a:solidFill>
            <a:ln/>
            <a:effectLst>
              <a:outerShdw blurRad="127000" dist="38100" dir="2700000" algn="bl" rotWithShape="0">
                <a:srgbClr val="1B2A4A">
                  <a:alpha val="14000"/>
                </a:srgbClr>
              </a:outerShdw>
            </a:effectLst>
          </p:spPr>
          <p:txBody>
            <a:bodyPr/>
            <a:lstStyle/>
            <a:p>
              <a:endParaRPr lang="fr-FR" sz="1400" noProof="0" dirty="0"/>
            </a:p>
          </p:txBody>
        </p:sp>
        <p:sp>
          <p:nvSpPr>
            <p:cNvPr id="76" name="Shape 17">
              <a:extLst>
                <a:ext uri="{FF2B5EF4-FFF2-40B4-BE49-F238E27FC236}">
                  <a16:creationId xmlns:a16="http://schemas.microsoft.com/office/drawing/2014/main" id="{34DC6966-1CA4-FD1B-5E6C-5F4E0D1C98C2}"/>
                </a:ext>
              </a:extLst>
            </p:cNvPr>
            <p:cNvSpPr/>
            <p:nvPr/>
          </p:nvSpPr>
          <p:spPr>
            <a:xfrm>
              <a:off x="6904783" y="2944585"/>
              <a:ext cx="640080" cy="640080"/>
            </a:xfrm>
            <a:prstGeom prst="ellipse">
              <a:avLst/>
            </a:prstGeom>
            <a:solidFill>
              <a:srgbClr val="1C8299"/>
            </a:solidFill>
            <a:ln/>
          </p:spPr>
          <p:txBody>
            <a:bodyPr/>
            <a:lstStyle/>
            <a:p>
              <a:endParaRPr lang="fr-FR" sz="1600" noProof="0" dirty="0"/>
            </a:p>
          </p:txBody>
        </p:sp>
        <p:pic>
          <p:nvPicPr>
            <p:cNvPr id="78" name="Image 3" descr="preencoded.png">
              <a:extLst>
                <a:ext uri="{FF2B5EF4-FFF2-40B4-BE49-F238E27FC236}">
                  <a16:creationId xmlns:a16="http://schemas.microsoft.com/office/drawing/2014/main" id="{7F7D35D5-1C63-D6A2-1745-3762599060F5}"/>
                </a:ext>
              </a:extLst>
            </p:cNvPr>
            <p:cNvPicPr>
              <a:picLocks noChangeAspect="1"/>
            </p:cNvPicPr>
            <p:nvPr/>
          </p:nvPicPr>
          <p:blipFill>
            <a:blip r:embed="rId8"/>
            <a:stretch>
              <a:fillRect/>
            </a:stretch>
          </p:blipFill>
          <p:spPr>
            <a:xfrm>
              <a:off x="7041943" y="3081745"/>
              <a:ext cx="365760" cy="365760"/>
            </a:xfrm>
            <a:prstGeom prst="rect">
              <a:avLst/>
            </a:prstGeom>
          </p:spPr>
        </p:pic>
        <p:sp>
          <p:nvSpPr>
            <p:cNvPr id="80" name="Text 18">
              <a:extLst>
                <a:ext uri="{FF2B5EF4-FFF2-40B4-BE49-F238E27FC236}">
                  <a16:creationId xmlns:a16="http://schemas.microsoft.com/office/drawing/2014/main" id="{8907BC91-F75F-5C93-E052-D099E7BEFB64}"/>
                </a:ext>
              </a:extLst>
            </p:cNvPr>
            <p:cNvSpPr/>
            <p:nvPr/>
          </p:nvSpPr>
          <p:spPr>
            <a:xfrm>
              <a:off x="6328711" y="3823484"/>
              <a:ext cx="1792224" cy="502920"/>
            </a:xfrm>
            <a:prstGeom prst="rect">
              <a:avLst/>
            </a:prstGeom>
            <a:noFill/>
            <a:ln/>
          </p:spPr>
          <p:txBody>
            <a:bodyPr wrap="square" lIns="0" tIns="0" rIns="0" bIns="0" rtlCol="0" anchor="ctr"/>
            <a:lstStyle/>
            <a:p>
              <a:pPr marL="0" indent="0" algn="ctr">
                <a:lnSpc>
                  <a:spcPct val="105000"/>
                </a:lnSpc>
                <a:buNone/>
              </a:pPr>
              <a:r>
                <a:rPr lang="fr-FR" sz="1200" b="1" noProof="0" dirty="0" err="1">
                  <a:solidFill>
                    <a:srgbClr val="1B2A3A"/>
                  </a:solidFill>
                  <a:latin typeface="Calibri" pitchFamily="34" charset="0"/>
                  <a:ea typeface="Calibri" pitchFamily="34" charset="-122"/>
                  <a:cs typeface="Calibri" pitchFamily="34" charset="-120"/>
                </a:rPr>
                <a:t>Microservices</a:t>
              </a:r>
              <a:endParaRPr lang="fr-FR" sz="1200" noProof="0" dirty="0"/>
            </a:p>
          </p:txBody>
        </p:sp>
        <p:sp>
          <p:nvSpPr>
            <p:cNvPr id="82" name="Text 19">
              <a:extLst>
                <a:ext uri="{FF2B5EF4-FFF2-40B4-BE49-F238E27FC236}">
                  <a16:creationId xmlns:a16="http://schemas.microsoft.com/office/drawing/2014/main" id="{7B93BEA6-81F5-309D-AAF7-70D6757559C0}"/>
                </a:ext>
              </a:extLst>
            </p:cNvPr>
            <p:cNvSpPr/>
            <p:nvPr/>
          </p:nvSpPr>
          <p:spPr>
            <a:xfrm>
              <a:off x="6353166" y="4230683"/>
              <a:ext cx="1792224" cy="669080"/>
            </a:xfrm>
            <a:prstGeom prst="rect">
              <a:avLst/>
            </a:prstGeom>
            <a:noFill/>
            <a:ln/>
          </p:spPr>
          <p:txBody>
            <a:bodyPr wrap="square" lIns="0" tIns="0" rIns="0" bIns="0" rtlCol="0" anchor="ctr"/>
            <a:lstStyle/>
            <a:p>
              <a:pPr algn="ctr">
                <a:lnSpc>
                  <a:spcPct val="125000"/>
                </a:lnSpc>
              </a:pPr>
              <a:r>
                <a:rPr lang="fr-FR" sz="1050" noProof="0" dirty="0">
                  <a:solidFill>
                    <a:srgbClr val="5C7182"/>
                  </a:solidFill>
                  <a:latin typeface="Calibri" pitchFamily="34" charset="0"/>
                  <a:ea typeface="Calibri" pitchFamily="34" charset="-122"/>
                  <a:cs typeface="Calibri" pitchFamily="34" charset="-120"/>
                </a:rPr>
                <a:t>Services autonomes, déployés indépendamment</a:t>
              </a:r>
            </a:p>
          </p:txBody>
        </p:sp>
        <p:sp>
          <p:nvSpPr>
            <p:cNvPr id="84" name="Shape 20">
              <a:extLst>
                <a:ext uri="{FF2B5EF4-FFF2-40B4-BE49-F238E27FC236}">
                  <a16:creationId xmlns:a16="http://schemas.microsoft.com/office/drawing/2014/main" id="{5306A995-7316-EBB1-E3CC-0C6315E65CEF}"/>
                </a:ext>
              </a:extLst>
            </p:cNvPr>
            <p:cNvSpPr/>
            <p:nvPr/>
          </p:nvSpPr>
          <p:spPr>
            <a:xfrm>
              <a:off x="8931348" y="2596257"/>
              <a:ext cx="2011680" cy="2420190"/>
            </a:xfrm>
            <a:prstGeom prst="roundRect">
              <a:avLst>
                <a:gd name="adj" fmla="val 4286"/>
              </a:avLst>
            </a:prstGeom>
            <a:solidFill>
              <a:srgbClr val="EEF4F7"/>
            </a:solidFill>
            <a:ln/>
            <a:effectLst>
              <a:outerShdw blurRad="127000" dist="38100" dir="2700000" algn="bl" rotWithShape="0">
                <a:srgbClr val="1B2A4A">
                  <a:alpha val="14000"/>
                </a:srgbClr>
              </a:outerShdw>
            </a:effectLst>
          </p:spPr>
          <p:txBody>
            <a:bodyPr/>
            <a:lstStyle/>
            <a:p>
              <a:endParaRPr lang="fr-FR" sz="1400" noProof="0" dirty="0"/>
            </a:p>
          </p:txBody>
        </p:sp>
        <p:sp>
          <p:nvSpPr>
            <p:cNvPr id="86" name="Shape 21">
              <a:extLst>
                <a:ext uri="{FF2B5EF4-FFF2-40B4-BE49-F238E27FC236}">
                  <a16:creationId xmlns:a16="http://schemas.microsoft.com/office/drawing/2014/main" id="{E8F514D3-7F63-9FDD-63D6-F79DE65CE653}"/>
                </a:ext>
              </a:extLst>
            </p:cNvPr>
            <p:cNvSpPr/>
            <p:nvPr/>
          </p:nvSpPr>
          <p:spPr>
            <a:xfrm>
              <a:off x="9617148" y="2944585"/>
              <a:ext cx="640080" cy="640080"/>
            </a:xfrm>
            <a:prstGeom prst="ellipse">
              <a:avLst/>
            </a:prstGeom>
            <a:solidFill>
              <a:srgbClr val="0B5A8C"/>
            </a:solidFill>
            <a:ln/>
          </p:spPr>
          <p:txBody>
            <a:bodyPr/>
            <a:lstStyle/>
            <a:p>
              <a:endParaRPr lang="fr-FR" sz="1600" noProof="0" dirty="0"/>
            </a:p>
          </p:txBody>
        </p:sp>
        <p:pic>
          <p:nvPicPr>
            <p:cNvPr id="88" name="Image 4" descr="preencoded.png">
              <a:extLst>
                <a:ext uri="{FF2B5EF4-FFF2-40B4-BE49-F238E27FC236}">
                  <a16:creationId xmlns:a16="http://schemas.microsoft.com/office/drawing/2014/main" id="{5475F500-7347-D3A2-241C-EA2C896C1B1C}"/>
                </a:ext>
              </a:extLst>
            </p:cNvPr>
            <p:cNvPicPr>
              <a:picLocks noChangeAspect="1"/>
            </p:cNvPicPr>
            <p:nvPr/>
          </p:nvPicPr>
          <p:blipFill>
            <a:blip r:embed="rId9"/>
            <a:stretch>
              <a:fillRect/>
            </a:stretch>
          </p:blipFill>
          <p:spPr>
            <a:xfrm>
              <a:off x="9754308" y="3081745"/>
              <a:ext cx="365760" cy="365760"/>
            </a:xfrm>
            <a:prstGeom prst="rect">
              <a:avLst/>
            </a:prstGeom>
          </p:spPr>
        </p:pic>
        <p:sp>
          <p:nvSpPr>
            <p:cNvPr id="90" name="Text 22">
              <a:extLst>
                <a:ext uri="{FF2B5EF4-FFF2-40B4-BE49-F238E27FC236}">
                  <a16:creationId xmlns:a16="http://schemas.microsoft.com/office/drawing/2014/main" id="{5504D5F1-6ED0-53CB-3F00-7FA3053F5697}"/>
                </a:ext>
              </a:extLst>
            </p:cNvPr>
            <p:cNvSpPr/>
            <p:nvPr/>
          </p:nvSpPr>
          <p:spPr>
            <a:xfrm>
              <a:off x="9087858" y="3826159"/>
              <a:ext cx="1792224" cy="502920"/>
            </a:xfrm>
            <a:prstGeom prst="rect">
              <a:avLst/>
            </a:prstGeom>
            <a:noFill/>
            <a:ln/>
          </p:spPr>
          <p:txBody>
            <a:bodyPr wrap="square" lIns="0" tIns="0" rIns="0" bIns="0" rtlCol="0" anchor="ctr"/>
            <a:lstStyle/>
            <a:p>
              <a:pPr marL="0" indent="0" algn="ctr">
                <a:lnSpc>
                  <a:spcPct val="105000"/>
                </a:lnSpc>
                <a:buNone/>
              </a:pPr>
              <a:r>
                <a:rPr lang="fr-FR" sz="1200" b="1" noProof="0" dirty="0">
                  <a:solidFill>
                    <a:srgbClr val="1B2A3A"/>
                  </a:solidFill>
                  <a:latin typeface="Calibri" pitchFamily="34" charset="0"/>
                  <a:ea typeface="Calibri" pitchFamily="34" charset="-122"/>
                  <a:cs typeface="Calibri" pitchFamily="34" charset="-120"/>
                </a:rPr>
                <a:t>Événementiel</a:t>
              </a:r>
              <a:endParaRPr lang="fr-FR" sz="1200" noProof="0" dirty="0"/>
            </a:p>
          </p:txBody>
        </p:sp>
        <p:sp>
          <p:nvSpPr>
            <p:cNvPr id="92" name="Text 23">
              <a:extLst>
                <a:ext uri="{FF2B5EF4-FFF2-40B4-BE49-F238E27FC236}">
                  <a16:creationId xmlns:a16="http://schemas.microsoft.com/office/drawing/2014/main" id="{814ECD94-6987-8F6D-71D0-013DBC7FB8A1}"/>
                </a:ext>
              </a:extLst>
            </p:cNvPr>
            <p:cNvSpPr/>
            <p:nvPr/>
          </p:nvSpPr>
          <p:spPr>
            <a:xfrm>
              <a:off x="9041076" y="4303963"/>
              <a:ext cx="1792224" cy="561830"/>
            </a:xfrm>
            <a:prstGeom prst="rect">
              <a:avLst/>
            </a:prstGeom>
            <a:noFill/>
            <a:ln/>
          </p:spPr>
          <p:txBody>
            <a:bodyPr wrap="square" lIns="0" tIns="0" rIns="0" bIns="0" rtlCol="0" anchor="ctr"/>
            <a:lstStyle/>
            <a:p>
              <a:pPr algn="ctr">
                <a:lnSpc>
                  <a:spcPct val="125000"/>
                </a:lnSpc>
              </a:pPr>
              <a:r>
                <a:rPr lang="fr-FR" sz="1050" noProof="0" dirty="0">
                  <a:solidFill>
                    <a:srgbClr val="5C7182"/>
                  </a:solidFill>
                  <a:latin typeface="Calibri" pitchFamily="34" charset="0"/>
                  <a:ea typeface="Calibri" pitchFamily="34" charset="-122"/>
                  <a:cs typeface="Calibri" pitchFamily="34" charset="-120"/>
                </a:rPr>
                <a:t>Communication asynchrone par événements</a:t>
              </a:r>
            </a:p>
          </p:txBody>
        </p:sp>
        <p:pic>
          <p:nvPicPr>
            <p:cNvPr id="94" name="Image 1" descr="preencoded.png">
              <a:extLst>
                <a:ext uri="{FF2B5EF4-FFF2-40B4-BE49-F238E27FC236}">
                  <a16:creationId xmlns:a16="http://schemas.microsoft.com/office/drawing/2014/main" id="{C4E883B7-E475-DD16-ADFE-1549A571F55E}"/>
                </a:ext>
              </a:extLst>
            </p:cNvPr>
            <p:cNvPicPr>
              <a:picLocks noChangeAspect="1"/>
            </p:cNvPicPr>
            <p:nvPr/>
          </p:nvPicPr>
          <p:blipFill>
            <a:blip r:embed="rId10"/>
            <a:stretch>
              <a:fillRect/>
            </a:stretch>
          </p:blipFill>
          <p:spPr>
            <a:xfrm>
              <a:off x="1617207" y="3081745"/>
              <a:ext cx="365760" cy="365760"/>
            </a:xfrm>
            <a:prstGeom prst="rect">
              <a:avLst/>
            </a:prstGeom>
          </p:spPr>
        </p:pic>
      </p:grpSp>
    </p:spTree>
    <p:extLst>
      <p:ext uri="{BB962C8B-B14F-4D97-AF65-F5344CB8AC3E}">
        <p14:creationId xmlns:p14="http://schemas.microsoft.com/office/powerpoint/2010/main" val="31479605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2F1A104-3F7B-7C9D-3B31-C65172574D8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AF59B610-ECAD-F1E6-F0E4-DD3DDB282741}"/>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17A6FDA3-9F19-5F78-1A47-2F909D0B1701}"/>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BA76BCAC-3D62-6F88-5996-1CE7BD46CF74}"/>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D715B36F-44EB-357C-7D7F-6242DF500607}"/>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A7D8AAED-9537-A33E-4F99-5E9E121BD87A}"/>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34613295-E341-4105-6A86-39DC99613BFC}"/>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BB1907EF-54F0-F959-76F5-D68038F1929A}"/>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Style Architectural - Architecture </a:t>
            </a:r>
            <a:r>
              <a:rPr lang="en-GB" b="1" dirty="0" err="1">
                <a:solidFill>
                  <a:srgbClr val="1A1A1A"/>
                </a:solidFill>
                <a:latin typeface="Calibri" pitchFamily="34" charset="0"/>
                <a:ea typeface="Calibri" pitchFamily="34" charset="-122"/>
                <a:cs typeface="Calibri" pitchFamily="34" charset="-120"/>
              </a:rPr>
              <a:t>Monolithique</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BA06A074-260A-7412-FC45-EDF5179B48C7}"/>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99E46296-17DA-3D86-1333-BFA4F05A44E6}"/>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B52DC308-A81E-B02C-FB9B-1C70EEB66020}"/>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6A7EB647-6622-08C0-E3B4-C904EB876AB5}"/>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14</a:t>
            </a:r>
            <a:endParaRPr lang="en-US" sz="900" dirty="0"/>
          </a:p>
        </p:txBody>
      </p:sp>
      <p:pic>
        <p:nvPicPr>
          <p:cNvPr id="18" name="object 2">
            <a:extLst>
              <a:ext uri="{FF2B5EF4-FFF2-40B4-BE49-F238E27FC236}">
                <a16:creationId xmlns:a16="http://schemas.microsoft.com/office/drawing/2014/main" id="{0F00F00C-D744-02AB-25E3-C8669329D644}"/>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9C96D6E5-EC09-E36F-F54C-354F9F6BFB1D}"/>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7" name="Text 4">
            <a:extLst>
              <a:ext uri="{FF2B5EF4-FFF2-40B4-BE49-F238E27FC236}">
                <a16:creationId xmlns:a16="http://schemas.microsoft.com/office/drawing/2014/main" id="{38EE0D59-C31B-5D1D-EC9B-3E45AF4FAB20}"/>
              </a:ext>
            </a:extLst>
          </p:cNvPr>
          <p:cNvSpPr/>
          <p:nvPr/>
        </p:nvSpPr>
        <p:spPr>
          <a:xfrm>
            <a:off x="320040" y="836538"/>
            <a:ext cx="8046720" cy="1136554"/>
          </a:xfrm>
          <a:prstGeom prst="rect">
            <a:avLst/>
          </a:prstGeom>
          <a:noFill/>
          <a:ln/>
        </p:spPr>
        <p:txBody>
          <a:bodyPr wrap="square" rtlCol="0" anchor="t"/>
          <a:lstStyle/>
          <a:p>
            <a:pPr>
              <a:lnSpc>
                <a:spcPct val="150000"/>
              </a:lnSpc>
            </a:pPr>
            <a:r>
              <a:rPr lang="fr-FR" sz="1400" dirty="0"/>
              <a:t>      Un </a:t>
            </a:r>
            <a:r>
              <a:rPr lang="fr-FR" sz="1400" b="1" dirty="0"/>
              <a:t>monolithe</a:t>
            </a:r>
            <a:r>
              <a:rPr lang="fr-FR" sz="1400" dirty="0"/>
              <a:t> est une application dans laquelle toutes les fonctionnalités sont regroupées et déployées en une seule unité indivisible. La logique métier, l'accès aux données et l'exposition des services cohabitent dans le même bloc applicatif.</a:t>
            </a:r>
          </a:p>
          <a:p>
            <a:pPr>
              <a:lnSpc>
                <a:spcPct val="150000"/>
              </a:lnSpc>
            </a:pPr>
            <a:endParaRPr lang="en-GB" sz="1400" dirty="0"/>
          </a:p>
          <a:p>
            <a:pPr marL="285750" indent="-285750">
              <a:lnSpc>
                <a:spcPct val="150000"/>
              </a:lnSpc>
              <a:buFont typeface="Arial" panose="020B0604020202020204" pitchFamily="34" charset="0"/>
              <a:buChar char="•"/>
            </a:pPr>
            <a:endParaRPr lang="en-GB" sz="1400" dirty="0"/>
          </a:p>
          <a:p>
            <a:pPr marL="285750" indent="-285750">
              <a:lnSpc>
                <a:spcPct val="150000"/>
              </a:lnSpc>
              <a:buFont typeface="Arial" panose="020B0604020202020204" pitchFamily="34" charset="0"/>
              <a:buChar char="•"/>
            </a:pPr>
            <a:endParaRPr lang="en-GB" sz="1400" dirty="0"/>
          </a:p>
          <a:p>
            <a:pPr>
              <a:lnSpc>
                <a:spcPct val="125000"/>
              </a:lnSpc>
              <a:buSzPct val="100000"/>
            </a:pPr>
            <a:endParaRPr lang="en-US" sz="1400" dirty="0"/>
          </a:p>
        </p:txBody>
      </p:sp>
      <p:pic>
        <p:nvPicPr>
          <p:cNvPr id="14" name="Picture 13">
            <a:extLst>
              <a:ext uri="{FF2B5EF4-FFF2-40B4-BE49-F238E27FC236}">
                <a16:creationId xmlns:a16="http://schemas.microsoft.com/office/drawing/2014/main" id="{7F938A84-DFC9-9606-75B8-2A598574D857}"/>
              </a:ext>
            </a:extLst>
          </p:cNvPr>
          <p:cNvPicPr>
            <a:picLocks noChangeAspect="1"/>
          </p:cNvPicPr>
          <p:nvPr/>
        </p:nvPicPr>
        <p:blipFill>
          <a:blip r:embed="rId7"/>
          <a:srcRect t="16811" b="24469"/>
          <a:stretch>
            <a:fillRect/>
          </a:stretch>
        </p:blipFill>
        <p:spPr>
          <a:xfrm>
            <a:off x="5193792" y="2073174"/>
            <a:ext cx="4182853" cy="2069058"/>
          </a:xfrm>
          <a:prstGeom prst="rect">
            <a:avLst/>
          </a:prstGeom>
        </p:spPr>
      </p:pic>
      <p:sp>
        <p:nvSpPr>
          <p:cNvPr id="15" name="Text 4">
            <a:extLst>
              <a:ext uri="{FF2B5EF4-FFF2-40B4-BE49-F238E27FC236}">
                <a16:creationId xmlns:a16="http://schemas.microsoft.com/office/drawing/2014/main" id="{A37C2F66-F3CD-A164-B0D4-BAE53FDA981B}"/>
              </a:ext>
            </a:extLst>
          </p:cNvPr>
          <p:cNvSpPr/>
          <p:nvPr/>
        </p:nvSpPr>
        <p:spPr>
          <a:xfrm>
            <a:off x="295220" y="2073174"/>
            <a:ext cx="5120513" cy="2521686"/>
          </a:xfrm>
          <a:prstGeom prst="rect">
            <a:avLst/>
          </a:prstGeom>
          <a:noFill/>
          <a:ln/>
        </p:spPr>
        <p:txBody>
          <a:bodyPr wrap="square" rtlCol="0" anchor="t"/>
          <a:lstStyle/>
          <a:p>
            <a:pPr algn="just">
              <a:lnSpc>
                <a:spcPct val="150000"/>
              </a:lnSpc>
            </a:pPr>
            <a:r>
              <a:rPr lang="fr-FR" sz="1400" dirty="0"/>
              <a:t>      Dans cette architecture, l'intégralité du backend de l’application  est regroupée au sein d'un seul projet Spring Boot, compilé et déployé en un unique fichier JAR.</a:t>
            </a:r>
          </a:p>
          <a:p>
            <a:pPr algn="just">
              <a:lnSpc>
                <a:spcPct val="150000"/>
              </a:lnSpc>
            </a:pPr>
            <a:r>
              <a:rPr lang="fr-FR" sz="1400" dirty="0"/>
              <a:t>Le backend est structuré en trois couches superposées qui partagent une base de données unique, avec un schéma commun à tous les modules.</a:t>
            </a:r>
          </a:p>
          <a:p>
            <a:pPr>
              <a:lnSpc>
                <a:spcPct val="150000"/>
              </a:lnSpc>
            </a:pPr>
            <a:endParaRPr lang="en-GB" sz="1400" dirty="0"/>
          </a:p>
          <a:p>
            <a:pPr marL="285750" indent="-285750">
              <a:lnSpc>
                <a:spcPct val="150000"/>
              </a:lnSpc>
              <a:buFont typeface="Arial" panose="020B0604020202020204" pitchFamily="34" charset="0"/>
              <a:buChar char="•"/>
            </a:pPr>
            <a:endParaRPr lang="en-GB" sz="1400" dirty="0"/>
          </a:p>
          <a:p>
            <a:pPr marL="285750" indent="-285750">
              <a:lnSpc>
                <a:spcPct val="150000"/>
              </a:lnSpc>
              <a:buFont typeface="Arial" panose="020B0604020202020204" pitchFamily="34" charset="0"/>
              <a:buChar char="•"/>
            </a:pPr>
            <a:endParaRPr lang="en-GB" sz="1400" dirty="0"/>
          </a:p>
          <a:p>
            <a:pPr>
              <a:lnSpc>
                <a:spcPct val="125000"/>
              </a:lnSpc>
              <a:buSzPct val="100000"/>
            </a:pPr>
            <a:endParaRPr lang="en-US" sz="1400" dirty="0"/>
          </a:p>
        </p:txBody>
      </p:sp>
      <p:sp>
        <p:nvSpPr>
          <p:cNvPr id="11" name="TextBox 10">
            <a:extLst>
              <a:ext uri="{FF2B5EF4-FFF2-40B4-BE49-F238E27FC236}">
                <a16:creationId xmlns:a16="http://schemas.microsoft.com/office/drawing/2014/main" id="{3D2B56FA-47C8-2C6B-3CD2-424DCCA63929}"/>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Tree>
    <p:extLst>
      <p:ext uri="{BB962C8B-B14F-4D97-AF65-F5344CB8AC3E}">
        <p14:creationId xmlns:p14="http://schemas.microsoft.com/office/powerpoint/2010/main" val="2865388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8138160" y="-45720"/>
            <a:ext cx="1188720" cy="1188720"/>
          </a:xfrm>
          <a:prstGeom prst="rect">
            <a:avLst/>
          </a:prstGeom>
        </p:spPr>
      </p:pic>
      <p:sp>
        <p:nvSpPr>
          <p:cNvPr id="3" name="Shape 0"/>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p:cNvPicPr>
            <a:picLocks noChangeAspect="1"/>
          </p:cNvPicPr>
          <p:nvPr/>
        </p:nvPicPr>
        <p:blipFill>
          <a:blip r:embed="rId4"/>
          <a:stretch>
            <a:fillRect/>
          </a:stretch>
        </p:blipFill>
        <p:spPr>
          <a:xfrm>
            <a:off x="1664208" y="155448"/>
            <a:ext cx="256032" cy="256032"/>
          </a:xfrm>
          <a:prstGeom prst="rect">
            <a:avLst/>
          </a:prstGeom>
        </p:spPr>
      </p:pic>
      <p:sp>
        <p:nvSpPr>
          <p:cNvPr id="9" name="Text 2"/>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Style Architectural - Architecture </a:t>
            </a:r>
            <a:r>
              <a:rPr lang="en-GB" b="1" dirty="0" err="1">
                <a:solidFill>
                  <a:srgbClr val="1A1A1A"/>
                </a:solidFill>
                <a:latin typeface="Calibri" pitchFamily="34" charset="0"/>
                <a:ea typeface="Calibri" pitchFamily="34" charset="-122"/>
                <a:cs typeface="Calibri" pitchFamily="34" charset="-120"/>
              </a:rPr>
              <a:t>Monolithique</a:t>
            </a:r>
            <a:r>
              <a:rPr lang="en-GB" b="1" dirty="0">
                <a:solidFill>
                  <a:srgbClr val="1A1A1A"/>
                </a:solidFill>
                <a:latin typeface="Calibri" pitchFamily="34" charset="0"/>
                <a:ea typeface="Calibri" pitchFamily="34" charset="-122"/>
                <a:cs typeface="Calibri" pitchFamily="34" charset="-120"/>
              </a:rPr>
              <a:t> </a:t>
            </a:r>
            <a:endParaRPr lang="en-US" b="1" dirty="0">
              <a:solidFill>
                <a:srgbClr val="1A1A1A"/>
              </a:solidFill>
              <a:latin typeface="Calibri" pitchFamily="34" charset="0"/>
              <a:ea typeface="Calibri" pitchFamily="34" charset="-122"/>
              <a:cs typeface="Calibri" pitchFamily="34" charset="-120"/>
            </a:endParaRPr>
          </a:p>
        </p:txBody>
      </p:sp>
      <p:sp>
        <p:nvSpPr>
          <p:cNvPr id="10" name="Shape 3"/>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1" name="Shape 4"/>
          <p:cNvSpPr/>
          <p:nvPr/>
        </p:nvSpPr>
        <p:spPr>
          <a:xfrm>
            <a:off x="4343398" y="749808"/>
            <a:ext cx="27432" cy="3931920"/>
          </a:xfrm>
          <a:prstGeom prst="rect">
            <a:avLst/>
          </a:prstGeom>
          <a:solidFill>
            <a:srgbClr val="D9D9D9"/>
          </a:solidFill>
          <a:ln w="12700">
            <a:solidFill>
              <a:srgbClr val="D9D9D9"/>
            </a:solidFill>
            <a:prstDash val="solid"/>
          </a:ln>
        </p:spPr>
        <p:txBody>
          <a:bodyPr/>
          <a:lstStyle/>
          <a:p>
            <a:endParaRPr lang="en-GB"/>
          </a:p>
        </p:txBody>
      </p:sp>
      <p:sp>
        <p:nvSpPr>
          <p:cNvPr id="12" name="Text 5"/>
          <p:cNvSpPr/>
          <p:nvPr/>
        </p:nvSpPr>
        <p:spPr>
          <a:xfrm>
            <a:off x="1591056" y="762871"/>
            <a:ext cx="3931920" cy="365760"/>
          </a:xfrm>
          <a:prstGeom prst="rect">
            <a:avLst/>
          </a:prstGeom>
          <a:noFill/>
          <a:ln/>
        </p:spPr>
        <p:txBody>
          <a:bodyPr wrap="square" rtlCol="0" anchor="ctr"/>
          <a:lstStyle/>
          <a:p>
            <a:r>
              <a:rPr lang="en-GB" sz="1400" b="1" dirty="0" err="1">
                <a:solidFill>
                  <a:srgbClr val="C00000"/>
                </a:solidFill>
                <a:latin typeface="Calibri" pitchFamily="34" charset="0"/>
                <a:ea typeface="Calibri" pitchFamily="34" charset="-122"/>
                <a:cs typeface="Calibri" pitchFamily="34" charset="-120"/>
              </a:rPr>
              <a:t>Avantages</a:t>
            </a:r>
            <a:r>
              <a:rPr lang="en-GB" sz="1400" dirty="0"/>
              <a:t> </a:t>
            </a:r>
            <a:endParaRPr lang="en-US" sz="1400" dirty="0"/>
          </a:p>
        </p:txBody>
      </p:sp>
      <p:sp>
        <p:nvSpPr>
          <p:cNvPr id="13" name="Text 6"/>
          <p:cNvSpPr/>
          <p:nvPr/>
        </p:nvSpPr>
        <p:spPr>
          <a:xfrm>
            <a:off x="222070" y="1193945"/>
            <a:ext cx="3819572" cy="3383280"/>
          </a:xfrm>
          <a:prstGeom prst="rect">
            <a:avLst/>
          </a:prstGeom>
          <a:noFill/>
          <a:ln/>
        </p:spPr>
        <p:txBody>
          <a:bodyPr wrap="square" rtlCol="0" anchor="t"/>
          <a:lstStyle/>
          <a:p>
            <a:pPr marL="285750" indent="-285750" algn="just">
              <a:lnSpc>
                <a:spcPct val="150000"/>
              </a:lnSpc>
              <a:buFont typeface="Wingdings" panose="05000000000000000000" pitchFamily="2" charset="2"/>
              <a:buChar char="ü"/>
            </a:pPr>
            <a:r>
              <a:rPr lang="fr-FR" sz="1400" dirty="0"/>
              <a:t>Simple à développer et déployer au départ.</a:t>
            </a:r>
          </a:p>
          <a:p>
            <a:pPr marL="285750" indent="-285750" algn="just">
              <a:lnSpc>
                <a:spcPct val="150000"/>
              </a:lnSpc>
              <a:buFont typeface="Wingdings" panose="05000000000000000000" pitchFamily="2" charset="2"/>
              <a:buChar char="ü"/>
            </a:pPr>
            <a:r>
              <a:rPr lang="fr-FR" sz="1400" dirty="0"/>
              <a:t>Facile à déboguer et tester en local.</a:t>
            </a:r>
          </a:p>
          <a:p>
            <a:pPr marL="285750" indent="-285750" algn="just">
              <a:lnSpc>
                <a:spcPct val="150000"/>
              </a:lnSpc>
              <a:buFont typeface="Wingdings" panose="05000000000000000000" pitchFamily="2" charset="2"/>
              <a:buChar char="ü"/>
            </a:pPr>
            <a:r>
              <a:rPr lang="fr-FR" sz="1400" dirty="0"/>
              <a:t>Pas de complexité de communication entre composants.</a:t>
            </a:r>
          </a:p>
          <a:p>
            <a:pPr marL="285750" indent="-285750" algn="just">
              <a:lnSpc>
                <a:spcPct val="150000"/>
              </a:lnSpc>
              <a:buFont typeface="Wingdings" panose="05000000000000000000" pitchFamily="2" charset="2"/>
              <a:buChar char="ü"/>
            </a:pPr>
            <a:r>
              <a:rPr lang="fr-FR" sz="1400" dirty="0"/>
              <a:t>Un seul projet backend à gérer et à versionner.</a:t>
            </a:r>
          </a:p>
        </p:txBody>
      </p:sp>
      <p:sp>
        <p:nvSpPr>
          <p:cNvPr id="14" name="Text 7"/>
          <p:cNvSpPr/>
          <p:nvPr/>
        </p:nvSpPr>
        <p:spPr>
          <a:xfrm>
            <a:off x="6035040" y="768096"/>
            <a:ext cx="3931920" cy="365760"/>
          </a:xfrm>
          <a:prstGeom prst="rect">
            <a:avLst/>
          </a:prstGeom>
          <a:noFill/>
          <a:ln/>
        </p:spPr>
        <p:txBody>
          <a:bodyPr wrap="square" rtlCol="0" anchor="ctr"/>
          <a:lstStyle/>
          <a:p>
            <a:r>
              <a:rPr lang="en-GB" sz="1400" b="1" dirty="0" err="1">
                <a:solidFill>
                  <a:srgbClr val="C00000"/>
                </a:solidFill>
                <a:latin typeface="Calibri" pitchFamily="34" charset="0"/>
                <a:ea typeface="Calibri" pitchFamily="34" charset="-122"/>
                <a:cs typeface="Calibri" pitchFamily="34" charset="-120"/>
              </a:rPr>
              <a:t>Inconvénients</a:t>
            </a:r>
            <a:r>
              <a:rPr lang="en-GB" sz="1400" dirty="0"/>
              <a:t> </a:t>
            </a:r>
            <a:endParaRPr lang="en-US" sz="1400" dirty="0"/>
          </a:p>
        </p:txBody>
      </p:sp>
      <p:sp>
        <p:nvSpPr>
          <p:cNvPr id="15" name="Text 8"/>
          <p:cNvSpPr/>
          <p:nvPr/>
        </p:nvSpPr>
        <p:spPr>
          <a:xfrm>
            <a:off x="4617722" y="1188720"/>
            <a:ext cx="4069078" cy="3383280"/>
          </a:xfrm>
          <a:prstGeom prst="rect">
            <a:avLst/>
          </a:prstGeom>
          <a:noFill/>
          <a:ln/>
        </p:spPr>
        <p:txBody>
          <a:bodyPr wrap="square" rtlCol="0" anchor="t"/>
          <a:lstStyle/>
          <a:p>
            <a:pPr marL="285750" indent="-285750" algn="just">
              <a:lnSpc>
                <a:spcPct val="150000"/>
              </a:lnSpc>
              <a:buFont typeface="Calibri" panose="020F0502020204030204" pitchFamily="34" charset="0"/>
              <a:buChar char="₋"/>
            </a:pPr>
            <a:r>
              <a:rPr lang="fr-FR" sz="1400" dirty="0"/>
              <a:t>Un bug dans un module peut faire tomber tout le backend.</a:t>
            </a:r>
          </a:p>
          <a:p>
            <a:pPr marL="285750" indent="-285750" algn="just">
              <a:lnSpc>
                <a:spcPct val="150000"/>
              </a:lnSpc>
              <a:buFont typeface="Calibri" panose="020F0502020204030204" pitchFamily="34" charset="0"/>
              <a:buChar char="₋"/>
            </a:pPr>
            <a:r>
              <a:rPr lang="fr-FR" sz="1400" dirty="0"/>
              <a:t>Scalabilité globale uniquement, impossible de </a:t>
            </a:r>
            <a:r>
              <a:rPr lang="fr-FR" sz="1400" dirty="0" err="1"/>
              <a:t>scaler</a:t>
            </a:r>
            <a:r>
              <a:rPr lang="fr-FR" sz="1400" dirty="0"/>
              <a:t> un seul module.</a:t>
            </a:r>
          </a:p>
          <a:p>
            <a:pPr marL="285750" indent="-285750" algn="just">
              <a:lnSpc>
                <a:spcPct val="150000"/>
              </a:lnSpc>
              <a:buFont typeface="Calibri" panose="020F0502020204030204" pitchFamily="34" charset="0"/>
              <a:buChar char="₋"/>
            </a:pPr>
            <a:r>
              <a:rPr lang="fr-FR" sz="1400" dirty="0"/>
              <a:t>Plus l'application grandit, plus le code devient difficile à maintenir.</a:t>
            </a:r>
          </a:p>
          <a:p>
            <a:pPr marL="285750" indent="-285750" algn="just">
              <a:lnSpc>
                <a:spcPct val="150000"/>
              </a:lnSpc>
              <a:buFont typeface="Calibri" panose="020F0502020204030204" pitchFamily="34" charset="0"/>
              <a:buChar char="₋"/>
            </a:pPr>
            <a:r>
              <a:rPr lang="fr-FR" sz="1400" dirty="0"/>
              <a:t>Le déploiement d'une petite modification nécessite de redéployer tout le backend.</a:t>
            </a:r>
          </a:p>
          <a:p>
            <a:pPr marL="285750" indent="-285750" algn="just">
              <a:lnSpc>
                <a:spcPct val="150000"/>
              </a:lnSpc>
              <a:buFont typeface="Calibri" panose="020F0502020204030204" pitchFamily="34" charset="0"/>
              <a:buChar char="₋"/>
            </a:pPr>
            <a:r>
              <a:rPr lang="fr-FR" sz="1400" dirty="0"/>
              <a:t>Le travail en équipe devient compliqué sur un seul et même projet.</a:t>
            </a:r>
          </a:p>
        </p:txBody>
      </p:sp>
      <p:sp>
        <p:nvSpPr>
          <p:cNvPr id="16" name="Shape 9"/>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7" name="Shape 10"/>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pic>
        <p:nvPicPr>
          <p:cNvPr id="22" name="object 2">
            <a:extLst>
              <a:ext uri="{FF2B5EF4-FFF2-40B4-BE49-F238E27FC236}">
                <a16:creationId xmlns:a16="http://schemas.microsoft.com/office/drawing/2014/main" id="{C6D6DB55-378F-D8BA-A63F-978B4A1A55D5}"/>
              </a:ext>
            </a:extLst>
          </p:cNvPr>
          <p:cNvPicPr/>
          <p:nvPr/>
        </p:nvPicPr>
        <p:blipFill>
          <a:blip r:embed="rId5" cstate="print"/>
          <a:stretch>
            <a:fillRect/>
          </a:stretch>
        </p:blipFill>
        <p:spPr>
          <a:xfrm>
            <a:off x="0" y="88479"/>
            <a:ext cx="1591056" cy="537747"/>
          </a:xfrm>
          <a:prstGeom prst="rect">
            <a:avLst/>
          </a:prstGeom>
        </p:spPr>
      </p:pic>
      <p:sp>
        <p:nvSpPr>
          <p:cNvPr id="24" name="Text 7">
            <a:extLst>
              <a:ext uri="{FF2B5EF4-FFF2-40B4-BE49-F238E27FC236}">
                <a16:creationId xmlns:a16="http://schemas.microsoft.com/office/drawing/2014/main" id="{5D03138F-BFC0-31B7-CC57-9E541845BBD2}"/>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15</a:t>
            </a:r>
            <a:endParaRPr lang="en-US" sz="900" dirty="0"/>
          </a:p>
        </p:txBody>
      </p:sp>
      <p:sp>
        <p:nvSpPr>
          <p:cNvPr id="7" name="TextBox 6">
            <a:extLst>
              <a:ext uri="{FF2B5EF4-FFF2-40B4-BE49-F238E27FC236}">
                <a16:creationId xmlns:a16="http://schemas.microsoft.com/office/drawing/2014/main" id="{59DC10C4-B7E4-57B9-F5B1-E3B6C4A09F6B}"/>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87D0D86-4F29-D29C-57E0-1611FF8ACE61}"/>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2C1B493F-CE79-168D-98B2-FC074F2D9103}"/>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D28CBB67-40C3-8340-CBBC-7F82FB9A7201}"/>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3AF10386-C149-E810-0FDB-F7677BE3188D}"/>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42C9AA15-AABC-560D-FD23-B9F8D053F1D0}"/>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0103AD34-139C-7B1E-72A5-819D35D69322}"/>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396C2B0D-B025-8E7D-8C65-4D0ABF541362}"/>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DE60CA24-3970-C10B-1EF0-781BC3635CC1}"/>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Style Architectural - SOA (Service Oriented Architecture) </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FA37228F-9A2A-8184-9A89-066E2960250A}"/>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EC527CAB-9385-90F2-AB71-4F3D5DDEB2B6}"/>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816716EE-9FFB-E365-B4D3-21441C3CCA76}"/>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C350332E-2990-4915-5BE1-47D39E9ECBA5}"/>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16</a:t>
            </a:r>
            <a:endParaRPr lang="en-US" sz="900" dirty="0"/>
          </a:p>
        </p:txBody>
      </p:sp>
      <p:pic>
        <p:nvPicPr>
          <p:cNvPr id="18" name="object 2">
            <a:extLst>
              <a:ext uri="{FF2B5EF4-FFF2-40B4-BE49-F238E27FC236}">
                <a16:creationId xmlns:a16="http://schemas.microsoft.com/office/drawing/2014/main" id="{E78508F4-DABD-D428-A0A9-694F5F5D56E5}"/>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A3046BEF-7CE5-2025-4267-0DC9A2724A2D}"/>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7" name="Text 4">
            <a:extLst>
              <a:ext uri="{FF2B5EF4-FFF2-40B4-BE49-F238E27FC236}">
                <a16:creationId xmlns:a16="http://schemas.microsoft.com/office/drawing/2014/main" id="{D431D02C-EEC2-BB49-47D3-4B31702878F7}"/>
              </a:ext>
            </a:extLst>
          </p:cNvPr>
          <p:cNvSpPr/>
          <p:nvPr/>
        </p:nvSpPr>
        <p:spPr>
          <a:xfrm>
            <a:off x="320040" y="750478"/>
            <a:ext cx="8046720" cy="3954248"/>
          </a:xfrm>
          <a:prstGeom prst="rect">
            <a:avLst/>
          </a:prstGeom>
          <a:noFill/>
          <a:ln/>
        </p:spPr>
        <p:txBody>
          <a:bodyPr wrap="square" rtlCol="0" anchor="t"/>
          <a:lstStyle/>
          <a:p>
            <a:pPr>
              <a:lnSpc>
                <a:spcPct val="150000"/>
              </a:lnSpc>
            </a:pPr>
            <a:r>
              <a:rPr lang="fr-FR" sz="1200" dirty="0"/>
              <a:t>L'architecture SOA repose sur l'idée de </a:t>
            </a:r>
            <a:r>
              <a:rPr lang="fr-FR" sz="1200" b="1" dirty="0"/>
              <a:t>découpler les fonctionnalités métier</a:t>
            </a:r>
            <a:r>
              <a:rPr lang="fr-FR" sz="1200" dirty="0"/>
              <a:t> en services autonomes, chacun encapsulant une capacité métier précise </a:t>
            </a:r>
            <a:r>
              <a:rPr lang="fr-FR" sz="1050" i="1" dirty="0"/>
              <a:t>(facturation, gestion des commandes, authentification, etc.). </a:t>
            </a:r>
            <a:r>
              <a:rPr lang="fr-FR" sz="1200" dirty="0"/>
              <a:t>Chaque service :</a:t>
            </a:r>
          </a:p>
          <a:p>
            <a:pPr marL="228600" indent="-228600">
              <a:lnSpc>
                <a:spcPct val="150000"/>
              </a:lnSpc>
              <a:buFont typeface="Arial" panose="020B0604020202020204" pitchFamily="34" charset="0"/>
              <a:buChar char="•"/>
            </a:pPr>
            <a:r>
              <a:rPr lang="fr-FR" sz="1200" dirty="0"/>
              <a:t>expose une interface standardisée </a:t>
            </a:r>
            <a:r>
              <a:rPr lang="fr-FR" sz="1050" i="1" dirty="0"/>
              <a:t>(souvent via des contrats WSDL/SOAP ou des API REST),</a:t>
            </a:r>
          </a:p>
          <a:p>
            <a:pPr marL="228600" indent="-228600">
              <a:lnSpc>
                <a:spcPct val="150000"/>
              </a:lnSpc>
              <a:buFont typeface="Arial" panose="020B0604020202020204" pitchFamily="34" charset="0"/>
              <a:buChar char="•"/>
            </a:pPr>
            <a:r>
              <a:rPr lang="fr-FR" sz="1200" dirty="0"/>
              <a:t>est autonome dans son exécution et son cycle de vie,</a:t>
            </a:r>
          </a:p>
          <a:p>
            <a:pPr marL="228600" indent="-228600">
              <a:lnSpc>
                <a:spcPct val="150000"/>
              </a:lnSpc>
              <a:buFont typeface="Arial" panose="020B0604020202020204" pitchFamily="34" charset="0"/>
              <a:buChar char="•"/>
            </a:pPr>
            <a:r>
              <a:rPr lang="fr-FR" sz="1200" dirty="0"/>
              <a:t>est réutilisable par plusieurs applications ou processus métier,</a:t>
            </a:r>
          </a:p>
          <a:p>
            <a:pPr marL="228600" indent="-228600">
              <a:lnSpc>
                <a:spcPct val="150000"/>
              </a:lnSpc>
              <a:buFont typeface="Arial" panose="020B0604020202020204" pitchFamily="34" charset="0"/>
              <a:buChar char="•"/>
            </a:pPr>
            <a:r>
              <a:rPr lang="fr-FR" sz="1200" dirty="0"/>
              <a:t>communique avec les autres services </a:t>
            </a:r>
            <a:r>
              <a:rPr lang="fr-FR" sz="1200" b="1" dirty="0"/>
              <a:t>sans connaissance de leur implémentation interne</a:t>
            </a:r>
            <a:r>
              <a:rPr lang="fr-FR" sz="1200" dirty="0"/>
              <a:t> </a:t>
            </a:r>
            <a:r>
              <a:rPr lang="fr-FR" sz="1050" i="1" dirty="0"/>
              <a:t>(principe de faible couplage).</a:t>
            </a:r>
          </a:p>
          <a:p>
            <a:pPr>
              <a:lnSpc>
                <a:spcPct val="150000"/>
              </a:lnSpc>
            </a:pPr>
            <a:endParaRPr lang="fr-FR" sz="300" i="1" dirty="0"/>
          </a:p>
          <a:p>
            <a:pPr>
              <a:lnSpc>
                <a:spcPct val="150000"/>
              </a:lnSpc>
            </a:pPr>
            <a:r>
              <a:rPr lang="fr-FR" sz="1200" b="1" dirty="0"/>
              <a:t>Les quatre principes clés (souvent enseignés comme piliers SOA)</a:t>
            </a:r>
          </a:p>
          <a:p>
            <a:pPr marL="228600" indent="-228600">
              <a:lnSpc>
                <a:spcPct val="150000"/>
              </a:lnSpc>
              <a:buFont typeface="Arial" panose="020B0604020202020204" pitchFamily="34" charset="0"/>
              <a:buChar char="•"/>
            </a:pPr>
            <a:r>
              <a:rPr lang="fr-FR" sz="1200" b="1" dirty="0"/>
              <a:t>Interopérabilité</a:t>
            </a:r>
            <a:r>
              <a:rPr lang="fr-FR" sz="1200" dirty="0"/>
              <a:t> : les services doivent pouvoir communiquer indépendamment du langage ou de la plateforme </a:t>
            </a:r>
            <a:r>
              <a:rPr lang="fr-FR" sz="1050" i="1" dirty="0"/>
              <a:t>(Java, .NET, etc.) </a:t>
            </a:r>
            <a:r>
              <a:rPr lang="fr-FR" sz="1200" dirty="0"/>
              <a:t>grâce à des standards ouverts </a:t>
            </a:r>
            <a:r>
              <a:rPr lang="fr-FR" sz="1050" i="1" dirty="0"/>
              <a:t>(XML, SOAP, WSDL).</a:t>
            </a:r>
          </a:p>
          <a:p>
            <a:pPr marL="228600" indent="-228600">
              <a:lnSpc>
                <a:spcPct val="150000"/>
              </a:lnSpc>
              <a:buFont typeface="Arial" panose="020B0604020202020204" pitchFamily="34" charset="0"/>
              <a:buChar char="•"/>
            </a:pPr>
            <a:r>
              <a:rPr lang="fr-FR" sz="1200" b="1" dirty="0"/>
              <a:t>Réutilisabilité</a:t>
            </a:r>
            <a:r>
              <a:rPr lang="fr-FR" sz="1200" dirty="0"/>
              <a:t> : un service métier conçu une fois (ex. « </a:t>
            </a:r>
            <a:r>
              <a:rPr lang="fr-FR" sz="1200" dirty="0" err="1"/>
              <a:t>CalculerTVA</a:t>
            </a:r>
            <a:r>
              <a:rPr lang="fr-FR" sz="1200" dirty="0"/>
              <a:t> ») peut être consommé par plusieurs applications.</a:t>
            </a:r>
          </a:p>
          <a:p>
            <a:pPr marL="228600" indent="-228600">
              <a:lnSpc>
                <a:spcPct val="150000"/>
              </a:lnSpc>
              <a:buFont typeface="Arial" panose="020B0604020202020204" pitchFamily="34" charset="0"/>
              <a:buChar char="•"/>
            </a:pPr>
            <a:r>
              <a:rPr lang="fr-FR" sz="1200" b="1" dirty="0"/>
              <a:t>Faible couplage (loose </a:t>
            </a:r>
            <a:r>
              <a:rPr lang="fr-FR" sz="1200" b="1" dirty="0" err="1"/>
              <a:t>coupling</a:t>
            </a:r>
            <a:r>
              <a:rPr lang="fr-FR" sz="1200" b="1" dirty="0"/>
              <a:t>)</a:t>
            </a:r>
            <a:r>
              <a:rPr lang="fr-FR" sz="1200" dirty="0"/>
              <a:t> : les services ne dépendent pas directement les uns des autres, ils communiquent via des contrats et un intermédiaire (l'ESB).</a:t>
            </a:r>
          </a:p>
          <a:p>
            <a:pPr marL="228600" indent="-228600">
              <a:lnSpc>
                <a:spcPct val="150000"/>
              </a:lnSpc>
              <a:buFont typeface="Arial" panose="020B0604020202020204" pitchFamily="34" charset="0"/>
              <a:buChar char="•"/>
            </a:pPr>
            <a:r>
              <a:rPr lang="fr-FR" sz="1200" b="1" dirty="0"/>
              <a:t>Abstraction / encapsulation</a:t>
            </a:r>
            <a:r>
              <a:rPr lang="fr-FR" sz="1200" dirty="0"/>
              <a:t> : le consommateur du service ignore les détails d'implémentation, seule l'interface compte.</a:t>
            </a:r>
          </a:p>
          <a:p>
            <a:pPr marL="228600" indent="-228600">
              <a:lnSpc>
                <a:spcPct val="150000"/>
              </a:lnSpc>
              <a:buFont typeface="Arial" panose="020B0604020202020204" pitchFamily="34" charset="0"/>
              <a:buChar char="•"/>
            </a:pPr>
            <a:endParaRPr lang="fr-FR" sz="1200" i="1" dirty="0"/>
          </a:p>
        </p:txBody>
      </p:sp>
      <p:sp>
        <p:nvSpPr>
          <p:cNvPr id="11" name="TextBox 10">
            <a:extLst>
              <a:ext uri="{FF2B5EF4-FFF2-40B4-BE49-F238E27FC236}">
                <a16:creationId xmlns:a16="http://schemas.microsoft.com/office/drawing/2014/main" id="{4D3DACC1-2A0B-CE52-D048-380E1FB6EED7}"/>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Tree>
    <p:extLst>
      <p:ext uri="{BB962C8B-B14F-4D97-AF65-F5344CB8AC3E}">
        <p14:creationId xmlns:p14="http://schemas.microsoft.com/office/powerpoint/2010/main" val="4197072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60F326E-A3A7-E038-4F6A-B15F8D2C93ED}"/>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EB8BE22-09B0-F273-9558-BC3B56B88321}"/>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E67BAB79-6885-8635-784C-89387EC3A71D}"/>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1C5F3811-4930-91D5-D0AF-3D9967AC45D4}"/>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4C1B4843-D1EC-30D3-F194-401EE914E83B}"/>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39279195-0979-BC9A-7DDE-88FC17CB8DBF}"/>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DA572936-0BA3-50CC-5C57-96684F8706FA}"/>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A8E0D4F9-78CC-9FFB-0454-9CE1BE756366}"/>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Style Architectural - SOA (Service Oriented Architecture) </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EDBBD485-D90A-02CF-CF8C-5464DFCEB2D0}"/>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3031A8C3-2406-04C7-53A4-783236AD5BE9}"/>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A5DC6C58-BB30-6357-6A98-2FD872DD70B6}"/>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78B151EC-B2BA-BC79-1098-AE7881F401E5}"/>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17</a:t>
            </a:r>
            <a:endParaRPr lang="en-US" sz="900" dirty="0"/>
          </a:p>
        </p:txBody>
      </p:sp>
      <p:pic>
        <p:nvPicPr>
          <p:cNvPr id="18" name="object 2">
            <a:extLst>
              <a:ext uri="{FF2B5EF4-FFF2-40B4-BE49-F238E27FC236}">
                <a16:creationId xmlns:a16="http://schemas.microsoft.com/office/drawing/2014/main" id="{6BFB3225-0E0D-85E8-A2D5-093DCD470899}"/>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E049FA68-BAC6-2383-52A2-CE85B1B00449}"/>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20" name="TextBox 19">
            <a:extLst>
              <a:ext uri="{FF2B5EF4-FFF2-40B4-BE49-F238E27FC236}">
                <a16:creationId xmlns:a16="http://schemas.microsoft.com/office/drawing/2014/main" id="{DB8D334E-C0C3-CA03-4370-B0F96D29C8D0}"/>
              </a:ext>
            </a:extLst>
          </p:cNvPr>
          <p:cNvSpPr txBox="1"/>
          <p:nvPr/>
        </p:nvSpPr>
        <p:spPr>
          <a:xfrm>
            <a:off x="342900" y="780506"/>
            <a:ext cx="8595360" cy="2002728"/>
          </a:xfrm>
          <a:prstGeom prst="rect">
            <a:avLst/>
          </a:prstGeom>
          <a:noFill/>
        </p:spPr>
        <p:txBody>
          <a:bodyPr wrap="square">
            <a:spAutoFit/>
          </a:bodyPr>
          <a:lstStyle/>
          <a:p>
            <a:pPr>
              <a:lnSpc>
                <a:spcPct val="150000"/>
              </a:lnSpc>
            </a:pPr>
            <a:r>
              <a:rPr lang="fr-FR" sz="1200" b="1" dirty="0"/>
              <a:t>Le rôle central de l’ESB : </a:t>
            </a:r>
            <a:r>
              <a:rPr lang="fr-FR" sz="1200" dirty="0"/>
              <a:t>L'ESB (Enterprise Service Bus) est la pièce maîtresse qui transforme un ensemble de services disparates en véritable architecture SOA cohérente. Il assure plusieurs fonctions :</a:t>
            </a:r>
          </a:p>
          <a:p>
            <a:pPr marL="228600" indent="-228600">
              <a:lnSpc>
                <a:spcPct val="150000"/>
              </a:lnSpc>
              <a:buFont typeface="Arial" panose="020B0604020202020204" pitchFamily="34" charset="0"/>
              <a:buChar char="•"/>
            </a:pPr>
            <a:r>
              <a:rPr lang="fr-FR" sz="1200" b="1" dirty="0"/>
              <a:t>Routage des messages</a:t>
            </a:r>
            <a:r>
              <a:rPr lang="fr-FR" sz="1200" dirty="0"/>
              <a:t> : achemine les requêtes vers le bon service.</a:t>
            </a:r>
          </a:p>
          <a:p>
            <a:pPr marL="228600" indent="-228600">
              <a:lnSpc>
                <a:spcPct val="150000"/>
              </a:lnSpc>
              <a:buFont typeface="Arial" panose="020B0604020202020204" pitchFamily="34" charset="0"/>
              <a:buChar char="•"/>
            </a:pPr>
            <a:r>
              <a:rPr lang="fr-FR" sz="1200" b="1" dirty="0"/>
              <a:t>Transformation de données</a:t>
            </a:r>
            <a:r>
              <a:rPr lang="fr-FR" sz="1200" dirty="0"/>
              <a:t> : convertit les formats (ex. XML vers JSON) entre services hétérogènes.</a:t>
            </a:r>
          </a:p>
          <a:p>
            <a:pPr marL="228600" indent="-228600">
              <a:lnSpc>
                <a:spcPct val="150000"/>
              </a:lnSpc>
              <a:buFont typeface="Arial" panose="020B0604020202020204" pitchFamily="34" charset="0"/>
              <a:buChar char="•"/>
            </a:pPr>
            <a:r>
              <a:rPr lang="fr-FR" sz="1200" b="1" dirty="0"/>
              <a:t>Orchestration</a:t>
            </a:r>
            <a:r>
              <a:rPr lang="fr-FR" sz="1200" dirty="0"/>
              <a:t> : coordonne l'enchaînement de plusieurs services pour réaliser un processus métier complexe </a:t>
            </a:r>
          </a:p>
          <a:p>
            <a:pPr marL="228600" indent="-228600">
              <a:lnSpc>
                <a:spcPct val="150000"/>
              </a:lnSpc>
              <a:buFont typeface="Arial" panose="020B0604020202020204" pitchFamily="34" charset="0"/>
              <a:buChar char="•"/>
            </a:pPr>
            <a:r>
              <a:rPr lang="fr-FR" sz="1200" b="1" dirty="0"/>
              <a:t>Sécurité et gouvernance</a:t>
            </a:r>
            <a:r>
              <a:rPr lang="fr-FR" sz="1200" dirty="0"/>
              <a:t> : authentification, autorisation, journalisation centralisée.</a:t>
            </a:r>
          </a:p>
          <a:p>
            <a:pPr marL="228600" indent="-228600">
              <a:lnSpc>
                <a:spcPct val="150000"/>
              </a:lnSpc>
              <a:buFont typeface="Arial" panose="020B0604020202020204" pitchFamily="34" charset="0"/>
              <a:buChar char="•"/>
            </a:pPr>
            <a:r>
              <a:rPr lang="fr-FR" sz="1200" b="1" dirty="0"/>
              <a:t>Gestion des protocoles</a:t>
            </a:r>
            <a:r>
              <a:rPr lang="fr-FR" sz="1200" dirty="0"/>
              <a:t> : fait le pont entre SOAP, FTP, HTTP, etc.</a:t>
            </a:r>
          </a:p>
        </p:txBody>
      </p:sp>
      <p:sp>
        <p:nvSpPr>
          <p:cNvPr id="22" name="TextBox 21">
            <a:extLst>
              <a:ext uri="{FF2B5EF4-FFF2-40B4-BE49-F238E27FC236}">
                <a16:creationId xmlns:a16="http://schemas.microsoft.com/office/drawing/2014/main" id="{33A2514E-1286-799C-9DFE-980C3AC10420}"/>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pic>
        <p:nvPicPr>
          <p:cNvPr id="11" name="Picture 10">
            <a:extLst>
              <a:ext uri="{FF2B5EF4-FFF2-40B4-BE49-F238E27FC236}">
                <a16:creationId xmlns:a16="http://schemas.microsoft.com/office/drawing/2014/main" id="{2B286669-B378-78B7-F43C-D91A74B6DE8B}"/>
              </a:ext>
            </a:extLst>
          </p:cNvPr>
          <p:cNvPicPr>
            <a:picLocks noChangeAspect="1"/>
          </p:cNvPicPr>
          <p:nvPr/>
        </p:nvPicPr>
        <p:blipFill>
          <a:blip r:embed="rId7"/>
          <a:stretch>
            <a:fillRect/>
          </a:stretch>
        </p:blipFill>
        <p:spPr>
          <a:xfrm>
            <a:off x="2178706" y="2607501"/>
            <a:ext cx="4786587" cy="2211194"/>
          </a:xfrm>
          <a:prstGeom prst="rect">
            <a:avLst/>
          </a:prstGeom>
        </p:spPr>
      </p:pic>
    </p:spTree>
    <p:extLst>
      <p:ext uri="{BB962C8B-B14F-4D97-AF65-F5344CB8AC3E}">
        <p14:creationId xmlns:p14="http://schemas.microsoft.com/office/powerpoint/2010/main" val="37717815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7181F85-3861-161F-7132-484DFED3A8FC}"/>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FCA3E635-F445-B7E0-392C-0CE2E520CF4D}"/>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0BA3DD85-A74E-CE4A-9818-7F026790AA73}"/>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2FA77AED-47B6-2356-FDE4-D047941D50F4}"/>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5FC4F808-5170-36BB-26BA-6E152316F1F0}"/>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338B9999-51FA-481D-EBB7-865BB06CFB10}"/>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44307BED-CFED-31F5-58C3-7FD80B00E61F}"/>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22C9C509-BBF7-570C-E24B-3CDCA3ED1B19}"/>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Style Architectural - Microservices</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ABD5AFC3-6089-C286-0BB2-76891F6E12A9}"/>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B9D03388-615E-9EEA-C163-96AE17145397}"/>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019AD68A-6A58-0B1B-50B6-1D89351A7EDC}"/>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7276A9AD-7044-99C5-F31F-C5CD64FDD7DF}"/>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18</a:t>
            </a:r>
            <a:endParaRPr lang="en-US" sz="900" dirty="0"/>
          </a:p>
        </p:txBody>
      </p:sp>
      <p:pic>
        <p:nvPicPr>
          <p:cNvPr id="18" name="object 2">
            <a:extLst>
              <a:ext uri="{FF2B5EF4-FFF2-40B4-BE49-F238E27FC236}">
                <a16:creationId xmlns:a16="http://schemas.microsoft.com/office/drawing/2014/main" id="{84D7BD57-C881-A2E2-E0CE-932E830BF6AB}"/>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07F06120-1826-4764-DCD4-998FA4AF266A}"/>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7" name="Text 4">
            <a:extLst>
              <a:ext uri="{FF2B5EF4-FFF2-40B4-BE49-F238E27FC236}">
                <a16:creationId xmlns:a16="http://schemas.microsoft.com/office/drawing/2014/main" id="{99F3B995-325D-76E8-EC1A-FC22D4E1A621}"/>
              </a:ext>
            </a:extLst>
          </p:cNvPr>
          <p:cNvSpPr/>
          <p:nvPr/>
        </p:nvSpPr>
        <p:spPr>
          <a:xfrm>
            <a:off x="320040" y="946266"/>
            <a:ext cx="8046720" cy="3506054"/>
          </a:xfrm>
          <a:prstGeom prst="rect">
            <a:avLst/>
          </a:prstGeom>
          <a:noFill/>
          <a:ln/>
        </p:spPr>
        <p:txBody>
          <a:bodyPr wrap="square" rtlCol="0" anchor="t"/>
          <a:lstStyle/>
          <a:p>
            <a:pPr algn="just">
              <a:lnSpc>
                <a:spcPct val="150000"/>
              </a:lnSpc>
            </a:pPr>
            <a:r>
              <a:rPr lang="fr-FR" sz="1200" dirty="0"/>
              <a:t>L'architecture </a:t>
            </a:r>
            <a:r>
              <a:rPr lang="fr-FR" sz="1200" dirty="0" err="1"/>
              <a:t>Microservices</a:t>
            </a:r>
            <a:r>
              <a:rPr lang="fr-FR" sz="1200" dirty="0"/>
              <a:t> décompose le backend en services autonomes et indépendants, chacun gérant un contexte métier précis, disposant de sa propre base de données et pouvant être déployé indépendamment des autres.</a:t>
            </a:r>
          </a:p>
          <a:p>
            <a:pPr algn="just">
              <a:lnSpc>
                <a:spcPct val="150000"/>
              </a:lnSpc>
            </a:pPr>
            <a:endParaRPr lang="fr-FR" sz="1200" dirty="0"/>
          </a:p>
          <a:p>
            <a:pPr algn="just">
              <a:lnSpc>
                <a:spcPct val="150000"/>
              </a:lnSpc>
            </a:pPr>
            <a:r>
              <a:rPr lang="fr-FR" sz="1200" dirty="0"/>
              <a:t>Contrairement au monolithe où tout est regroupé dans un seul JAR, chaque </a:t>
            </a:r>
            <a:r>
              <a:rPr lang="fr-FR" sz="1200" dirty="0" err="1"/>
              <a:t>microservice</a:t>
            </a:r>
            <a:r>
              <a:rPr lang="fr-FR" sz="1200" dirty="0"/>
              <a:t> est un projet à part entière, avec son propre cycle de vie. Les services ne communiquent pas directement entre eux par contre ils passent par des appels HTTP/REST ou des messages asynchrones.</a:t>
            </a:r>
          </a:p>
          <a:p>
            <a:pPr algn="just">
              <a:lnSpc>
                <a:spcPct val="150000"/>
              </a:lnSpc>
            </a:pPr>
            <a:endParaRPr lang="fr-FR" sz="1200" dirty="0"/>
          </a:p>
          <a:p>
            <a:pPr algn="just">
              <a:lnSpc>
                <a:spcPct val="150000"/>
              </a:lnSpc>
            </a:pPr>
            <a:r>
              <a:rPr lang="fr-FR" sz="1200" dirty="0"/>
              <a:t>Un API Gateway joue le rôle de point d'entrée unique : il reçoit toutes les requêtes du frontend et les route vers le bon </a:t>
            </a:r>
            <a:r>
              <a:rPr lang="fr-FR" sz="1200" dirty="0" err="1"/>
              <a:t>microservice</a:t>
            </a:r>
            <a:r>
              <a:rPr lang="fr-FR" sz="1200" dirty="0"/>
              <a:t>.</a:t>
            </a:r>
          </a:p>
          <a:p>
            <a:pPr algn="just">
              <a:lnSpc>
                <a:spcPct val="150000"/>
              </a:lnSpc>
            </a:pPr>
            <a:endParaRPr lang="en-US" sz="1200" dirty="0"/>
          </a:p>
        </p:txBody>
      </p:sp>
      <p:sp>
        <p:nvSpPr>
          <p:cNvPr id="16" name="TextBox 15">
            <a:extLst>
              <a:ext uri="{FF2B5EF4-FFF2-40B4-BE49-F238E27FC236}">
                <a16:creationId xmlns:a16="http://schemas.microsoft.com/office/drawing/2014/main" id="{2C5DDA13-CDD5-32D9-EC0B-71BAAD58F2AE}"/>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Tree>
    <p:extLst>
      <p:ext uri="{BB962C8B-B14F-4D97-AF65-F5344CB8AC3E}">
        <p14:creationId xmlns:p14="http://schemas.microsoft.com/office/powerpoint/2010/main" val="6400578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742A87C-7EE8-3DB0-328D-40E115B8343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C8B51A59-BFDC-2960-050D-C8F2B8090098}"/>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E561A2FA-4385-C4F8-F38B-8D0F562D443C}"/>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4075CD84-535A-E505-D1B2-1B36E30118A0}"/>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8441F5CF-A613-3A6A-00EB-62D8DEB99D63}"/>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4AB1F8C9-53F7-252A-21BC-8DCCB9341A38}"/>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61AFEA48-08B4-2679-0DA3-ECE95132402A}"/>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C8D12437-9DB3-6647-F83C-29C01718A4BF}"/>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Style Architectural - Microservices</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A85444D7-D77C-1EED-12D8-42BB599D1543}"/>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5C579B11-1B9E-3521-300A-9A8E2A4E2F76}"/>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A6A1C464-DF98-D593-8D36-897E6BF6DA24}"/>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7CF49FF7-2586-9A81-208F-5301193BABA3}"/>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19</a:t>
            </a:r>
            <a:endParaRPr lang="en-US" sz="900" dirty="0"/>
          </a:p>
        </p:txBody>
      </p:sp>
      <p:pic>
        <p:nvPicPr>
          <p:cNvPr id="18" name="object 2">
            <a:extLst>
              <a:ext uri="{FF2B5EF4-FFF2-40B4-BE49-F238E27FC236}">
                <a16:creationId xmlns:a16="http://schemas.microsoft.com/office/drawing/2014/main" id="{7027CDE1-1DE4-25E2-C0DB-0219E2932E19}"/>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389F6052-5C78-3D05-B1AC-91CFD4F0D10E}"/>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pic>
        <p:nvPicPr>
          <p:cNvPr id="11" name="Picture 10">
            <a:extLst>
              <a:ext uri="{FF2B5EF4-FFF2-40B4-BE49-F238E27FC236}">
                <a16:creationId xmlns:a16="http://schemas.microsoft.com/office/drawing/2014/main" id="{CC062AC4-70F9-A863-0ABE-6B2B11D1924A}"/>
              </a:ext>
            </a:extLst>
          </p:cNvPr>
          <p:cNvPicPr>
            <a:picLocks noChangeAspect="1"/>
          </p:cNvPicPr>
          <p:nvPr/>
        </p:nvPicPr>
        <p:blipFill>
          <a:blip r:embed="rId7"/>
          <a:srcRect b="33943"/>
          <a:stretch>
            <a:fillRect/>
          </a:stretch>
        </p:blipFill>
        <p:spPr>
          <a:xfrm>
            <a:off x="1530081" y="685800"/>
            <a:ext cx="6083836" cy="3822192"/>
          </a:xfrm>
          <a:prstGeom prst="rect">
            <a:avLst/>
          </a:prstGeom>
        </p:spPr>
      </p:pic>
      <p:pic>
        <p:nvPicPr>
          <p:cNvPr id="14" name="Picture 13">
            <a:extLst>
              <a:ext uri="{FF2B5EF4-FFF2-40B4-BE49-F238E27FC236}">
                <a16:creationId xmlns:a16="http://schemas.microsoft.com/office/drawing/2014/main" id="{56925540-7677-C7DA-AC6B-F8F2E737CD3E}"/>
              </a:ext>
            </a:extLst>
          </p:cNvPr>
          <p:cNvPicPr>
            <a:picLocks noChangeAspect="1"/>
          </p:cNvPicPr>
          <p:nvPr/>
        </p:nvPicPr>
        <p:blipFill>
          <a:blip r:embed="rId7"/>
          <a:srcRect t="66038" b="16952"/>
          <a:stretch>
            <a:fillRect/>
          </a:stretch>
        </p:blipFill>
        <p:spPr>
          <a:xfrm>
            <a:off x="5387351" y="685925"/>
            <a:ext cx="4153412" cy="671959"/>
          </a:xfrm>
          <a:prstGeom prst="rect">
            <a:avLst/>
          </a:prstGeom>
        </p:spPr>
      </p:pic>
      <p:sp>
        <p:nvSpPr>
          <p:cNvPr id="20" name="TextBox 19">
            <a:extLst>
              <a:ext uri="{FF2B5EF4-FFF2-40B4-BE49-F238E27FC236}">
                <a16:creationId xmlns:a16="http://schemas.microsoft.com/office/drawing/2014/main" id="{78B6CCE8-1BF8-BCE5-AFA3-C6E43413583F}"/>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Tree>
    <p:extLst>
      <p:ext uri="{BB962C8B-B14F-4D97-AF65-F5344CB8AC3E}">
        <p14:creationId xmlns:p14="http://schemas.microsoft.com/office/powerpoint/2010/main" val="10087078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A2AFA95-6965-FC90-44D8-9760B87CECF1}"/>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5412F67-7288-45AB-FFF8-AF1470F6F059}"/>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0F3B423A-75CE-97A9-2755-D679C5118F15}"/>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EEAB2C15-2BC9-B696-20D2-2B8106BEAD5F}"/>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D25DBCC5-3812-C921-DDDA-192090983966}"/>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B333DD8B-B13F-3F8A-D6B1-03F93FFA786C}"/>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F35E0CCB-6B52-47CC-64B3-C37F21818CEF}"/>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40CF2F3C-9997-67C9-9981-B7A416ABF111}"/>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Style Architectural - Microservices</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53AFC0F0-F016-7418-4D83-13A9AE023B1B}"/>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1" name="Shape 4">
            <a:extLst>
              <a:ext uri="{FF2B5EF4-FFF2-40B4-BE49-F238E27FC236}">
                <a16:creationId xmlns:a16="http://schemas.microsoft.com/office/drawing/2014/main" id="{49359ADE-91C0-49F6-1016-4A42D1DBBDC6}"/>
              </a:ext>
            </a:extLst>
          </p:cNvPr>
          <p:cNvSpPr/>
          <p:nvPr/>
        </p:nvSpPr>
        <p:spPr>
          <a:xfrm>
            <a:off x="4526280" y="749808"/>
            <a:ext cx="27432" cy="3931920"/>
          </a:xfrm>
          <a:prstGeom prst="rect">
            <a:avLst/>
          </a:prstGeom>
          <a:solidFill>
            <a:srgbClr val="D9D9D9"/>
          </a:solidFill>
          <a:ln w="12700">
            <a:solidFill>
              <a:srgbClr val="D9D9D9"/>
            </a:solidFill>
            <a:prstDash val="solid"/>
          </a:ln>
        </p:spPr>
        <p:txBody>
          <a:bodyPr/>
          <a:lstStyle/>
          <a:p>
            <a:endParaRPr lang="en-GB"/>
          </a:p>
        </p:txBody>
      </p:sp>
      <p:sp>
        <p:nvSpPr>
          <p:cNvPr id="12" name="Text 5">
            <a:extLst>
              <a:ext uri="{FF2B5EF4-FFF2-40B4-BE49-F238E27FC236}">
                <a16:creationId xmlns:a16="http://schemas.microsoft.com/office/drawing/2014/main" id="{B5FC1252-75D3-53E0-8F8C-826CCE02EEE1}"/>
              </a:ext>
            </a:extLst>
          </p:cNvPr>
          <p:cNvSpPr/>
          <p:nvPr/>
        </p:nvSpPr>
        <p:spPr>
          <a:xfrm>
            <a:off x="1508760" y="762871"/>
            <a:ext cx="3931920" cy="365760"/>
          </a:xfrm>
          <a:prstGeom prst="rect">
            <a:avLst/>
          </a:prstGeom>
          <a:noFill/>
          <a:ln/>
        </p:spPr>
        <p:txBody>
          <a:bodyPr wrap="square" rtlCol="0" anchor="ctr"/>
          <a:lstStyle/>
          <a:p>
            <a:r>
              <a:rPr lang="en-GB" sz="1400" b="1" dirty="0" err="1">
                <a:solidFill>
                  <a:srgbClr val="C00000"/>
                </a:solidFill>
                <a:latin typeface="Calibri" pitchFamily="34" charset="0"/>
                <a:ea typeface="Calibri" pitchFamily="34" charset="-122"/>
                <a:cs typeface="Calibri" pitchFamily="34" charset="-120"/>
              </a:rPr>
              <a:t>Avantages</a:t>
            </a:r>
            <a:r>
              <a:rPr lang="en-GB" sz="1400" dirty="0"/>
              <a:t> </a:t>
            </a:r>
            <a:endParaRPr lang="en-US" sz="1400" dirty="0"/>
          </a:p>
        </p:txBody>
      </p:sp>
      <p:sp>
        <p:nvSpPr>
          <p:cNvPr id="13" name="Text 6">
            <a:extLst>
              <a:ext uri="{FF2B5EF4-FFF2-40B4-BE49-F238E27FC236}">
                <a16:creationId xmlns:a16="http://schemas.microsoft.com/office/drawing/2014/main" id="{1FA45E96-E24A-79D1-8F12-06D21405149F}"/>
              </a:ext>
            </a:extLst>
          </p:cNvPr>
          <p:cNvSpPr/>
          <p:nvPr/>
        </p:nvSpPr>
        <p:spPr>
          <a:xfrm>
            <a:off x="222069" y="1188720"/>
            <a:ext cx="4130475" cy="3383280"/>
          </a:xfrm>
          <a:prstGeom prst="rect">
            <a:avLst/>
          </a:prstGeom>
          <a:noFill/>
          <a:ln/>
        </p:spPr>
        <p:txBody>
          <a:bodyPr wrap="square" rtlCol="0" anchor="t"/>
          <a:lstStyle/>
          <a:p>
            <a:pPr marL="285750" indent="-285750" algn="just">
              <a:lnSpc>
                <a:spcPct val="150000"/>
              </a:lnSpc>
              <a:buFont typeface="Wingdings" panose="05000000000000000000" pitchFamily="2" charset="2"/>
              <a:buChar char="ü"/>
            </a:pPr>
            <a:r>
              <a:rPr lang="fr-FR" sz="1400" dirty="0"/>
              <a:t>Scalabilité fine, on </a:t>
            </a:r>
            <a:r>
              <a:rPr lang="fr-FR" sz="1400" dirty="0" err="1"/>
              <a:t>scale</a:t>
            </a:r>
            <a:r>
              <a:rPr lang="fr-FR" sz="1400" dirty="0"/>
              <a:t> uniquement le service surchargé.</a:t>
            </a:r>
          </a:p>
          <a:p>
            <a:pPr marL="285750" indent="-285750" algn="just">
              <a:lnSpc>
                <a:spcPct val="150000"/>
              </a:lnSpc>
              <a:buFont typeface="Wingdings" panose="05000000000000000000" pitchFamily="2" charset="2"/>
              <a:buChar char="ü"/>
            </a:pPr>
            <a:r>
              <a:rPr lang="fr-FR" sz="1400" dirty="0"/>
              <a:t>Déploiement indépendant de chaque service.</a:t>
            </a:r>
          </a:p>
          <a:p>
            <a:pPr marL="285750" indent="-285750" algn="just">
              <a:lnSpc>
                <a:spcPct val="150000"/>
              </a:lnSpc>
              <a:buFont typeface="Wingdings" panose="05000000000000000000" pitchFamily="2" charset="2"/>
              <a:buChar char="ü"/>
            </a:pPr>
            <a:r>
              <a:rPr lang="fr-FR" sz="1400" dirty="0"/>
              <a:t>Résilience, une panne n'impacte pas tout </a:t>
            </a:r>
            <a:br>
              <a:rPr lang="fr-FR" sz="1400" dirty="0"/>
            </a:br>
            <a:r>
              <a:rPr lang="fr-FR" sz="1400" dirty="0"/>
              <a:t>le système.</a:t>
            </a:r>
          </a:p>
          <a:p>
            <a:pPr marL="285750" indent="-285750" algn="just">
              <a:lnSpc>
                <a:spcPct val="150000"/>
              </a:lnSpc>
              <a:buFont typeface="Wingdings" panose="05000000000000000000" pitchFamily="2" charset="2"/>
              <a:buChar char="ü"/>
            </a:pPr>
            <a:r>
              <a:rPr lang="en-GB" sz="1400" dirty="0"/>
              <a:t>Équipes </a:t>
            </a:r>
            <a:r>
              <a:rPr lang="en-GB" sz="1400" dirty="0" err="1"/>
              <a:t>autonomes</a:t>
            </a:r>
            <a:r>
              <a:rPr lang="en-GB" sz="1400" dirty="0"/>
              <a:t> par service.</a:t>
            </a:r>
          </a:p>
          <a:p>
            <a:pPr marL="285750" indent="-285750" algn="just">
              <a:lnSpc>
                <a:spcPct val="150000"/>
              </a:lnSpc>
              <a:buFont typeface="Wingdings" panose="05000000000000000000" pitchFamily="2" charset="2"/>
              <a:buChar char="ü"/>
            </a:pPr>
            <a:r>
              <a:rPr lang="en-GB" sz="1400" dirty="0"/>
              <a:t>Technologie libre par service.</a:t>
            </a:r>
            <a:endParaRPr lang="fr-FR" sz="1400" dirty="0"/>
          </a:p>
        </p:txBody>
      </p:sp>
      <p:sp>
        <p:nvSpPr>
          <p:cNvPr id="14" name="Text 7">
            <a:extLst>
              <a:ext uri="{FF2B5EF4-FFF2-40B4-BE49-F238E27FC236}">
                <a16:creationId xmlns:a16="http://schemas.microsoft.com/office/drawing/2014/main" id="{F3062E41-0A82-8B42-9BF0-7AA741C615B2}"/>
              </a:ext>
            </a:extLst>
          </p:cNvPr>
          <p:cNvSpPr/>
          <p:nvPr/>
        </p:nvSpPr>
        <p:spPr>
          <a:xfrm>
            <a:off x="6035040" y="768096"/>
            <a:ext cx="2807208" cy="365760"/>
          </a:xfrm>
          <a:prstGeom prst="rect">
            <a:avLst/>
          </a:prstGeom>
          <a:noFill/>
          <a:ln/>
        </p:spPr>
        <p:txBody>
          <a:bodyPr wrap="square" rtlCol="0" anchor="ctr"/>
          <a:lstStyle/>
          <a:p>
            <a:r>
              <a:rPr lang="en-GB" sz="1400" b="1" dirty="0" err="1">
                <a:solidFill>
                  <a:srgbClr val="C00000"/>
                </a:solidFill>
                <a:latin typeface="Calibri" pitchFamily="34" charset="0"/>
                <a:ea typeface="Calibri" pitchFamily="34" charset="-122"/>
                <a:cs typeface="Calibri" pitchFamily="34" charset="-120"/>
              </a:rPr>
              <a:t>Inconvénients</a:t>
            </a:r>
            <a:r>
              <a:rPr lang="en-GB" sz="1400" dirty="0"/>
              <a:t> </a:t>
            </a:r>
            <a:endParaRPr lang="en-US" sz="1400" dirty="0"/>
          </a:p>
        </p:txBody>
      </p:sp>
      <p:sp>
        <p:nvSpPr>
          <p:cNvPr id="15" name="Text 8">
            <a:extLst>
              <a:ext uri="{FF2B5EF4-FFF2-40B4-BE49-F238E27FC236}">
                <a16:creationId xmlns:a16="http://schemas.microsoft.com/office/drawing/2014/main" id="{281078C1-7DC9-D414-1E7E-036E6E01BF74}"/>
              </a:ext>
            </a:extLst>
          </p:cNvPr>
          <p:cNvSpPr/>
          <p:nvPr/>
        </p:nvSpPr>
        <p:spPr>
          <a:xfrm>
            <a:off x="4754880" y="1188720"/>
            <a:ext cx="3931920" cy="3383280"/>
          </a:xfrm>
          <a:prstGeom prst="rect">
            <a:avLst/>
          </a:prstGeom>
          <a:noFill/>
          <a:ln/>
        </p:spPr>
        <p:txBody>
          <a:bodyPr wrap="square" rtlCol="0" anchor="t"/>
          <a:lstStyle/>
          <a:p>
            <a:pPr marL="285750" indent="-285750" algn="just">
              <a:lnSpc>
                <a:spcPct val="150000"/>
              </a:lnSpc>
              <a:buFont typeface="Calibri" panose="020F0502020204030204" pitchFamily="34" charset="0"/>
              <a:buChar char="₋"/>
            </a:pPr>
            <a:r>
              <a:rPr lang="fr-FR" sz="1400" dirty="0"/>
              <a:t>Complexité opérationnelle élevée (Docker, </a:t>
            </a:r>
            <a:r>
              <a:rPr lang="fr-FR" sz="1400" dirty="0" err="1"/>
              <a:t>Kubernetes</a:t>
            </a:r>
            <a:r>
              <a:rPr lang="fr-FR" sz="1400" dirty="0"/>
              <a:t>).</a:t>
            </a:r>
          </a:p>
          <a:p>
            <a:pPr marL="285750" indent="-285750" algn="just">
              <a:lnSpc>
                <a:spcPct val="150000"/>
              </a:lnSpc>
              <a:buFont typeface="Calibri" panose="020F0502020204030204" pitchFamily="34" charset="0"/>
              <a:buChar char="₋"/>
            </a:pPr>
            <a:r>
              <a:rPr lang="fr-FR" sz="1400" dirty="0"/>
              <a:t>Communication réseau entre services avec latence.</a:t>
            </a:r>
          </a:p>
          <a:p>
            <a:pPr marL="285750" indent="-285750" algn="just">
              <a:lnSpc>
                <a:spcPct val="150000"/>
              </a:lnSpc>
              <a:buFont typeface="Calibri" panose="020F0502020204030204" pitchFamily="34" charset="0"/>
              <a:buChar char="₋"/>
            </a:pPr>
            <a:r>
              <a:rPr lang="fr-FR" sz="1400" dirty="0"/>
              <a:t>Gestion distribuée des transactions complexe.</a:t>
            </a:r>
          </a:p>
          <a:p>
            <a:pPr marL="285750" indent="-285750" algn="just">
              <a:lnSpc>
                <a:spcPct val="150000"/>
              </a:lnSpc>
              <a:buFont typeface="Calibri" panose="020F0502020204030204" pitchFamily="34" charset="0"/>
              <a:buChar char="₋"/>
            </a:pPr>
            <a:r>
              <a:rPr lang="fr-FR" sz="1400" dirty="0"/>
              <a:t>Multiplication des bases de données à gérer.</a:t>
            </a:r>
          </a:p>
          <a:p>
            <a:pPr marL="285750" indent="-285750" algn="just">
              <a:lnSpc>
                <a:spcPct val="150000"/>
              </a:lnSpc>
              <a:buFont typeface="Calibri" panose="020F0502020204030204" pitchFamily="34" charset="0"/>
              <a:buChar char="₋"/>
            </a:pPr>
            <a:r>
              <a:rPr lang="fr-FR" sz="1400" dirty="0"/>
              <a:t>Monitoring et </a:t>
            </a:r>
            <a:r>
              <a:rPr lang="fr-FR" sz="1400" dirty="0" err="1"/>
              <a:t>debug</a:t>
            </a:r>
            <a:r>
              <a:rPr lang="fr-FR" sz="1400" dirty="0"/>
              <a:t> distribués difficiles.</a:t>
            </a:r>
          </a:p>
        </p:txBody>
      </p:sp>
      <p:sp>
        <p:nvSpPr>
          <p:cNvPr id="16" name="Shape 9">
            <a:extLst>
              <a:ext uri="{FF2B5EF4-FFF2-40B4-BE49-F238E27FC236}">
                <a16:creationId xmlns:a16="http://schemas.microsoft.com/office/drawing/2014/main" id="{4F6331C4-67C6-D7F0-7B4C-628AD955706D}"/>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7" name="Shape 10">
            <a:extLst>
              <a:ext uri="{FF2B5EF4-FFF2-40B4-BE49-F238E27FC236}">
                <a16:creationId xmlns:a16="http://schemas.microsoft.com/office/drawing/2014/main" id="{F45793F7-B820-5174-6D94-4A71193666DC}"/>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pic>
        <p:nvPicPr>
          <p:cNvPr id="22" name="object 2">
            <a:extLst>
              <a:ext uri="{FF2B5EF4-FFF2-40B4-BE49-F238E27FC236}">
                <a16:creationId xmlns:a16="http://schemas.microsoft.com/office/drawing/2014/main" id="{6F3A328E-899E-7F60-2BF8-CD21BDE0D5D7}"/>
              </a:ext>
            </a:extLst>
          </p:cNvPr>
          <p:cNvPicPr/>
          <p:nvPr/>
        </p:nvPicPr>
        <p:blipFill>
          <a:blip r:embed="rId5" cstate="print"/>
          <a:stretch>
            <a:fillRect/>
          </a:stretch>
        </p:blipFill>
        <p:spPr>
          <a:xfrm>
            <a:off x="0" y="88479"/>
            <a:ext cx="1591056" cy="537747"/>
          </a:xfrm>
          <a:prstGeom prst="rect">
            <a:avLst/>
          </a:prstGeom>
        </p:spPr>
      </p:pic>
      <p:sp>
        <p:nvSpPr>
          <p:cNvPr id="24" name="Text 7">
            <a:extLst>
              <a:ext uri="{FF2B5EF4-FFF2-40B4-BE49-F238E27FC236}">
                <a16:creationId xmlns:a16="http://schemas.microsoft.com/office/drawing/2014/main" id="{66400C80-73BC-7DEB-0FAA-D95F5D70AE9B}"/>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20</a:t>
            </a:r>
            <a:endParaRPr lang="en-US" sz="900" dirty="0"/>
          </a:p>
        </p:txBody>
      </p:sp>
      <p:sp>
        <p:nvSpPr>
          <p:cNvPr id="7" name="TextBox 6">
            <a:extLst>
              <a:ext uri="{FF2B5EF4-FFF2-40B4-BE49-F238E27FC236}">
                <a16:creationId xmlns:a16="http://schemas.microsoft.com/office/drawing/2014/main" id="{DBD5368E-F829-4B04-497A-E059E6B551C2}"/>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Tree>
    <p:extLst>
      <p:ext uri="{BB962C8B-B14F-4D97-AF65-F5344CB8AC3E}">
        <p14:creationId xmlns:p14="http://schemas.microsoft.com/office/powerpoint/2010/main" val="33063929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07FCD2F-EA93-5C6D-70FA-44D589D0E6D5}"/>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62ECAEA7-3872-BD77-0360-FC2BC1DF7414}"/>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F1B58CA1-331E-F7C9-77D5-EE52D5210898}"/>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930E73E4-CB05-73B0-73DC-CC6526ED0F3A}"/>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263D56A5-B2C7-6B22-B67A-E0AA8382A979}"/>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775A4808-4446-9C7E-EAC9-53C4CA4D9A95}"/>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E5F36153-1D65-14D7-B5D9-2C4AF58A643D}"/>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BDBF6504-F2A7-6596-E10F-E63E12EB2D5A}"/>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Style Architectural </a:t>
            </a:r>
            <a:r>
              <a:rPr lang="fr-FR" b="1" dirty="0">
                <a:solidFill>
                  <a:srgbClr val="1A1A1A"/>
                </a:solidFill>
                <a:latin typeface="Calibri" pitchFamily="34" charset="0"/>
                <a:ea typeface="Calibri" pitchFamily="34" charset="-122"/>
                <a:cs typeface="Calibri" pitchFamily="34" charset="-120"/>
              </a:rPr>
              <a:t>- Event-Driven (Orienté Événements)</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1BFF1FB5-8CFD-EE87-818E-F3A449D6F9C6}"/>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2B24F4BE-2506-CCDD-B7E2-57DAF9968C4B}"/>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4885ADBC-1FE1-28C0-988A-43EB1EA2A060}"/>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DBB3AC76-51B0-799E-02A1-F27F4AEF4D8C}"/>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21</a:t>
            </a:r>
            <a:endParaRPr lang="en-US" sz="900" dirty="0"/>
          </a:p>
        </p:txBody>
      </p:sp>
      <p:pic>
        <p:nvPicPr>
          <p:cNvPr id="18" name="object 2">
            <a:extLst>
              <a:ext uri="{FF2B5EF4-FFF2-40B4-BE49-F238E27FC236}">
                <a16:creationId xmlns:a16="http://schemas.microsoft.com/office/drawing/2014/main" id="{B8CADA3E-1701-195B-2403-A697FAF11D12}"/>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2793E88D-1BAC-122E-82BA-B3C23CEA38A9}"/>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7" name="Text 4">
            <a:extLst>
              <a:ext uri="{FF2B5EF4-FFF2-40B4-BE49-F238E27FC236}">
                <a16:creationId xmlns:a16="http://schemas.microsoft.com/office/drawing/2014/main" id="{14CCD254-6A3F-F4C0-98AE-A4EAF5167024}"/>
              </a:ext>
            </a:extLst>
          </p:cNvPr>
          <p:cNvSpPr/>
          <p:nvPr/>
        </p:nvSpPr>
        <p:spPr>
          <a:xfrm>
            <a:off x="320040" y="883940"/>
            <a:ext cx="8046720" cy="3710920"/>
          </a:xfrm>
          <a:prstGeom prst="rect">
            <a:avLst/>
          </a:prstGeom>
          <a:noFill/>
          <a:ln/>
        </p:spPr>
        <p:txBody>
          <a:bodyPr wrap="square" rtlCol="0" anchor="t"/>
          <a:lstStyle/>
          <a:p>
            <a:pPr>
              <a:lnSpc>
                <a:spcPct val="150000"/>
              </a:lnSpc>
            </a:pPr>
            <a:r>
              <a:rPr lang="fr-FR" sz="1200" dirty="0"/>
              <a:t>Dans le pattern Event-Driven, les composants d'une application ne communiquent pas directement entre eux. Au lieu d'appeler un autre composant, un composant publie un événement, les autres composants intéressés réagissent à cet événement de manière indépendante.</a:t>
            </a:r>
          </a:p>
          <a:p>
            <a:pPr>
              <a:lnSpc>
                <a:spcPct val="150000"/>
              </a:lnSpc>
            </a:pPr>
            <a:r>
              <a:rPr lang="fr-FR" sz="1200" dirty="0"/>
              <a:t>Ce découplage est l'avantage fondamental de ce pattern : le producteur d'un événement ne connaît pas les consommateurs, et les consommateurs ne connaissent pas le producteur.</a:t>
            </a:r>
          </a:p>
          <a:p>
            <a:pPr algn="just">
              <a:lnSpc>
                <a:spcPct val="150000"/>
              </a:lnSpc>
            </a:pPr>
            <a:endParaRPr lang="en-US" sz="1400" dirty="0"/>
          </a:p>
        </p:txBody>
      </p:sp>
      <p:pic>
        <p:nvPicPr>
          <p:cNvPr id="15" name="Picture 14">
            <a:extLst>
              <a:ext uri="{FF2B5EF4-FFF2-40B4-BE49-F238E27FC236}">
                <a16:creationId xmlns:a16="http://schemas.microsoft.com/office/drawing/2014/main" id="{EA054A36-4CF5-17DA-E2E7-215ED93F5D72}"/>
              </a:ext>
            </a:extLst>
          </p:cNvPr>
          <p:cNvPicPr>
            <a:picLocks noChangeAspect="1"/>
          </p:cNvPicPr>
          <p:nvPr/>
        </p:nvPicPr>
        <p:blipFill>
          <a:blip r:embed="rId7"/>
          <a:srcRect b="82044"/>
          <a:stretch>
            <a:fillRect/>
          </a:stretch>
        </p:blipFill>
        <p:spPr>
          <a:xfrm>
            <a:off x="413904" y="2797223"/>
            <a:ext cx="7858992" cy="1188720"/>
          </a:xfrm>
          <a:prstGeom prst="rect">
            <a:avLst/>
          </a:prstGeom>
        </p:spPr>
      </p:pic>
      <p:sp>
        <p:nvSpPr>
          <p:cNvPr id="21" name="TextBox 20">
            <a:extLst>
              <a:ext uri="{FF2B5EF4-FFF2-40B4-BE49-F238E27FC236}">
                <a16:creationId xmlns:a16="http://schemas.microsoft.com/office/drawing/2014/main" id="{325CFAAC-FBAE-3413-1A5D-AB39D9AF5654}"/>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Tree>
    <p:extLst>
      <p:ext uri="{BB962C8B-B14F-4D97-AF65-F5344CB8AC3E}">
        <p14:creationId xmlns:p14="http://schemas.microsoft.com/office/powerpoint/2010/main" val="17270907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338D12B-CD23-1DA1-556A-258DB37CAB9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FC9D317A-3E2C-EC11-5359-9DF1C0ADEE99}"/>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1E6F6E64-48C8-FE2B-D91A-6033688C75F9}"/>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22885E55-AC17-3A4C-E9DD-8A051C2A46B3}"/>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5D37E926-7D24-5983-C111-83F33235BCB6}"/>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99663A6A-0ED0-93FC-36E8-373A9457915C}"/>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8F733160-853F-3F34-430C-A285C66BAF44}"/>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9E246A56-258F-6B5E-475D-F00EC13DB9C7}"/>
              </a:ext>
            </a:extLst>
          </p:cNvPr>
          <p:cNvSpPr/>
          <p:nvPr/>
        </p:nvSpPr>
        <p:spPr>
          <a:xfrm>
            <a:off x="1993392" y="91440"/>
            <a:ext cx="6400800" cy="411480"/>
          </a:xfrm>
          <a:prstGeom prst="rect">
            <a:avLst/>
          </a:prstGeom>
          <a:noFill/>
          <a:ln/>
        </p:spPr>
        <p:txBody>
          <a:bodyPr wrap="square" lIns="0" tIns="0" rIns="0" bIns="0" rtlCol="0" anchor="ctr"/>
          <a:lstStyle/>
          <a:p>
            <a:r>
              <a:rPr lang="en-GB" sz="1600" b="1" dirty="0">
                <a:solidFill>
                  <a:srgbClr val="1A1A1A"/>
                </a:solidFill>
                <a:latin typeface="Calibri" pitchFamily="34" charset="0"/>
                <a:ea typeface="Calibri" pitchFamily="34" charset="-122"/>
                <a:cs typeface="Calibri" pitchFamily="34" charset="-120"/>
              </a:rPr>
              <a:t>Style Architectural </a:t>
            </a:r>
            <a:r>
              <a:rPr lang="fr-FR" sz="1600" b="1" dirty="0">
                <a:solidFill>
                  <a:srgbClr val="1A1A1A"/>
                </a:solidFill>
                <a:latin typeface="Calibri" pitchFamily="34" charset="0"/>
                <a:ea typeface="Calibri" pitchFamily="34" charset="-122"/>
                <a:cs typeface="Calibri" pitchFamily="34" charset="-120"/>
              </a:rPr>
              <a:t>- Event-Driven Architecture (Orienté Événements)</a:t>
            </a:r>
            <a:endParaRPr lang="en-US" sz="1600"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0E63F445-3821-813A-5056-BC98D20B96B5}"/>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22D1A4B6-316B-C22D-26BE-0FB3D2E34439}"/>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05F3E6E5-A843-8A83-E71C-B813E9AE1594}"/>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B086B154-5E88-5F0B-2BDA-70DB836C1B87}"/>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22</a:t>
            </a:r>
            <a:endParaRPr lang="en-US" sz="900" dirty="0"/>
          </a:p>
        </p:txBody>
      </p:sp>
      <p:pic>
        <p:nvPicPr>
          <p:cNvPr id="18" name="object 2">
            <a:extLst>
              <a:ext uri="{FF2B5EF4-FFF2-40B4-BE49-F238E27FC236}">
                <a16:creationId xmlns:a16="http://schemas.microsoft.com/office/drawing/2014/main" id="{F76B26EC-1F36-89D9-8258-8B83C4FC2BB5}"/>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7CC5947C-D717-FCC0-6D05-6D73FB557911}"/>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7" name="Text 4">
            <a:extLst>
              <a:ext uri="{FF2B5EF4-FFF2-40B4-BE49-F238E27FC236}">
                <a16:creationId xmlns:a16="http://schemas.microsoft.com/office/drawing/2014/main" id="{1A72CED9-DD8C-7755-3C96-20BDEC92B619}"/>
              </a:ext>
            </a:extLst>
          </p:cNvPr>
          <p:cNvSpPr/>
          <p:nvPr/>
        </p:nvSpPr>
        <p:spPr>
          <a:xfrm>
            <a:off x="320040" y="723920"/>
            <a:ext cx="8046720" cy="3710920"/>
          </a:xfrm>
          <a:prstGeom prst="rect">
            <a:avLst/>
          </a:prstGeom>
          <a:noFill/>
          <a:ln/>
        </p:spPr>
        <p:txBody>
          <a:bodyPr wrap="square" rtlCol="0" anchor="t"/>
          <a:lstStyle/>
          <a:p>
            <a:pPr algn="just">
              <a:lnSpc>
                <a:spcPct val="150000"/>
              </a:lnSpc>
            </a:pPr>
            <a:r>
              <a:rPr lang="fr-FR" sz="1200" dirty="0" err="1"/>
              <a:t>CommandeService</a:t>
            </a:r>
            <a:r>
              <a:rPr lang="fr-FR" sz="1200" dirty="0"/>
              <a:t> ne connaît pas les services qui réagissent. Il se contente de dire "une commande vient d'être validée" ce qui se passe ensuite ne le concerne pas. C'est ce qu'on appelle le découplage. Le système publie un événement </a:t>
            </a:r>
            <a:r>
              <a:rPr lang="fr-FR" sz="1200" dirty="0" err="1"/>
              <a:t>CommandePassée</a:t>
            </a:r>
            <a:r>
              <a:rPr lang="fr-FR" sz="1200" dirty="0"/>
              <a:t>. Simultanément et indépendamment : le restaurant est notifié, un livreur est cherché, un email de confirmation est envoyé, le stock est mis à jour</a:t>
            </a:r>
          </a:p>
          <a:p>
            <a:pPr algn="just">
              <a:lnSpc>
                <a:spcPct val="150000"/>
              </a:lnSpc>
            </a:pPr>
            <a:endParaRPr lang="fr-FR" sz="1200" dirty="0"/>
          </a:p>
          <a:p>
            <a:pPr algn="just">
              <a:lnSpc>
                <a:spcPct val="150000"/>
              </a:lnSpc>
            </a:pPr>
            <a:r>
              <a:rPr lang="fr-FR" sz="1200" dirty="0"/>
              <a:t>Personne n'attend personne =&gt; tout se passe en parallèle.</a:t>
            </a:r>
          </a:p>
          <a:p>
            <a:pPr algn="just">
              <a:lnSpc>
                <a:spcPct val="150000"/>
              </a:lnSpc>
            </a:pPr>
            <a:endParaRPr lang="en-US" sz="1400" dirty="0"/>
          </a:p>
        </p:txBody>
      </p:sp>
      <p:pic>
        <p:nvPicPr>
          <p:cNvPr id="14" name="Picture 13">
            <a:extLst>
              <a:ext uri="{FF2B5EF4-FFF2-40B4-BE49-F238E27FC236}">
                <a16:creationId xmlns:a16="http://schemas.microsoft.com/office/drawing/2014/main" id="{126C97B5-40D9-C0DD-26F4-63CF7C53ADEA}"/>
              </a:ext>
            </a:extLst>
          </p:cNvPr>
          <p:cNvPicPr>
            <a:picLocks noChangeAspect="1"/>
          </p:cNvPicPr>
          <p:nvPr/>
        </p:nvPicPr>
        <p:blipFill>
          <a:blip r:embed="rId7"/>
          <a:srcRect t="18108" b="46496"/>
          <a:stretch>
            <a:fillRect/>
          </a:stretch>
        </p:blipFill>
        <p:spPr>
          <a:xfrm>
            <a:off x="-23442" y="2553965"/>
            <a:ext cx="5076084" cy="1513556"/>
          </a:xfrm>
          <a:prstGeom prst="rect">
            <a:avLst/>
          </a:prstGeom>
        </p:spPr>
      </p:pic>
      <p:pic>
        <p:nvPicPr>
          <p:cNvPr id="19" name="Picture 18">
            <a:extLst>
              <a:ext uri="{FF2B5EF4-FFF2-40B4-BE49-F238E27FC236}">
                <a16:creationId xmlns:a16="http://schemas.microsoft.com/office/drawing/2014/main" id="{3D75EE9F-003F-7778-5672-B78C994BF465}"/>
              </a:ext>
            </a:extLst>
          </p:cNvPr>
          <p:cNvPicPr>
            <a:picLocks noChangeAspect="1"/>
          </p:cNvPicPr>
          <p:nvPr/>
        </p:nvPicPr>
        <p:blipFill>
          <a:blip r:embed="rId7"/>
          <a:srcRect t="54039"/>
          <a:stretch>
            <a:fillRect/>
          </a:stretch>
        </p:blipFill>
        <p:spPr>
          <a:xfrm>
            <a:off x="4709160" y="2571750"/>
            <a:ext cx="4434840" cy="1717040"/>
          </a:xfrm>
          <a:prstGeom prst="rect">
            <a:avLst/>
          </a:prstGeom>
        </p:spPr>
      </p:pic>
      <p:sp>
        <p:nvSpPr>
          <p:cNvPr id="20" name="TextBox 19">
            <a:extLst>
              <a:ext uri="{FF2B5EF4-FFF2-40B4-BE49-F238E27FC236}">
                <a16:creationId xmlns:a16="http://schemas.microsoft.com/office/drawing/2014/main" id="{701CAC6F-1777-76FB-6C9F-1D02C14E9FF4}"/>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Tree>
    <p:extLst>
      <p:ext uri="{BB962C8B-B14F-4D97-AF65-F5344CB8AC3E}">
        <p14:creationId xmlns:p14="http://schemas.microsoft.com/office/powerpoint/2010/main" val="22550685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7E84BDF-F747-00A8-36EB-E4EBACFD8DEC}"/>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637CBFC2-3A5B-8DE8-56D7-B31FFA72053F}"/>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8D1891E2-4C9A-094E-F273-F2B78DCA360E}"/>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B43935DF-E145-4F65-F8DF-8C73F715E11B}"/>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7022E554-2878-1F4E-47CE-D7271AD47CFE}"/>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97019C75-9213-D65F-8C79-4081ABF7E63C}"/>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547D8594-1436-2742-BE80-31E2035C4DCB}"/>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BF6D5A3E-1395-8915-7342-16A28D33CBF0}"/>
              </a:ext>
            </a:extLst>
          </p:cNvPr>
          <p:cNvSpPr/>
          <p:nvPr/>
        </p:nvSpPr>
        <p:spPr>
          <a:xfrm>
            <a:off x="1993392" y="91440"/>
            <a:ext cx="6400800" cy="411480"/>
          </a:xfrm>
          <a:prstGeom prst="rect">
            <a:avLst/>
          </a:prstGeom>
          <a:noFill/>
          <a:ln/>
        </p:spPr>
        <p:txBody>
          <a:bodyPr wrap="square" lIns="0" tIns="0" rIns="0" bIns="0" rtlCol="0" anchor="ctr"/>
          <a:lstStyle/>
          <a:p>
            <a:r>
              <a:rPr lang="fr-FR" b="1" dirty="0">
                <a:solidFill>
                  <a:srgbClr val="1A1A1A"/>
                </a:solidFill>
                <a:latin typeface="Calibri" pitchFamily="34" charset="0"/>
                <a:ea typeface="Calibri" pitchFamily="34" charset="-122"/>
                <a:cs typeface="Calibri" pitchFamily="34" charset="-120"/>
              </a:rPr>
              <a:t>Tableau comparatif des 4 styles</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6C134B6B-0DDC-3E0F-AB91-F34C9F1B1441}"/>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09AB2B5F-22F7-CAA0-29C0-9351C8C5F188}"/>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66BEA5DA-E39C-7D44-FEAE-959F3EB2C1C5}"/>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85B7641C-0042-CFD5-84D0-87DA88773ED3}"/>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23</a:t>
            </a:r>
            <a:endParaRPr lang="en-US" sz="900" dirty="0"/>
          </a:p>
        </p:txBody>
      </p:sp>
      <p:pic>
        <p:nvPicPr>
          <p:cNvPr id="18" name="object 2">
            <a:extLst>
              <a:ext uri="{FF2B5EF4-FFF2-40B4-BE49-F238E27FC236}">
                <a16:creationId xmlns:a16="http://schemas.microsoft.com/office/drawing/2014/main" id="{CACCB16D-C32B-BA19-15FF-603EAECE8340}"/>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6299B913-FE3C-F383-8E8B-8FCCBD0996CD}"/>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20" name="TextBox 19">
            <a:extLst>
              <a:ext uri="{FF2B5EF4-FFF2-40B4-BE49-F238E27FC236}">
                <a16:creationId xmlns:a16="http://schemas.microsoft.com/office/drawing/2014/main" id="{160B453C-56AA-1152-6E53-D4EA5212C2C4}"/>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pic>
        <p:nvPicPr>
          <p:cNvPr id="16" name="Picture 15">
            <a:extLst>
              <a:ext uri="{FF2B5EF4-FFF2-40B4-BE49-F238E27FC236}">
                <a16:creationId xmlns:a16="http://schemas.microsoft.com/office/drawing/2014/main" id="{EBC358F5-5605-401D-EA1B-69A27F4AE17C}"/>
              </a:ext>
            </a:extLst>
          </p:cNvPr>
          <p:cNvPicPr>
            <a:picLocks noChangeAspect="1"/>
          </p:cNvPicPr>
          <p:nvPr/>
        </p:nvPicPr>
        <p:blipFill>
          <a:blip r:embed="rId7"/>
          <a:stretch>
            <a:fillRect/>
          </a:stretch>
        </p:blipFill>
        <p:spPr>
          <a:xfrm>
            <a:off x="2265684" y="723940"/>
            <a:ext cx="4612632" cy="3893780"/>
          </a:xfrm>
          <a:prstGeom prst="rect">
            <a:avLst/>
          </a:prstGeom>
        </p:spPr>
      </p:pic>
    </p:spTree>
    <p:extLst>
      <p:ext uri="{BB962C8B-B14F-4D97-AF65-F5344CB8AC3E}">
        <p14:creationId xmlns:p14="http://schemas.microsoft.com/office/powerpoint/2010/main" val="34243062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13C7CB5-586D-2762-B88F-F9BF334538A8}"/>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7347FE7B-2A45-2B69-68B2-C9566D25A2BE}"/>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632FD758-F288-DC02-EF9E-EAFFEA85CAE2}"/>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620F8B53-EC73-E6B7-5A23-E34916D7551D}"/>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1AB90A6B-FD9A-7F4A-AB0B-DA95ED720732}"/>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A4C52C96-CF13-F420-E161-A12EDCCE7DE1}"/>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CAF1CC77-DB3B-F06F-6BAE-4AF9BC33B3CE}"/>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7EC635F5-D071-0455-5CEB-DC87600E36B5}"/>
              </a:ext>
            </a:extLst>
          </p:cNvPr>
          <p:cNvSpPr/>
          <p:nvPr/>
        </p:nvSpPr>
        <p:spPr>
          <a:xfrm>
            <a:off x="1993392" y="91440"/>
            <a:ext cx="6400800" cy="411480"/>
          </a:xfrm>
          <a:prstGeom prst="rect">
            <a:avLst/>
          </a:prstGeom>
          <a:noFill/>
          <a:ln/>
        </p:spPr>
        <p:txBody>
          <a:bodyPr wrap="square" lIns="0" tIns="0" rIns="0" bIns="0" rtlCol="0" anchor="ctr"/>
          <a:lstStyle/>
          <a:p>
            <a:r>
              <a:rPr lang="fr-FR" b="1" dirty="0">
                <a:solidFill>
                  <a:srgbClr val="0B1F3A"/>
                </a:solidFill>
                <a:latin typeface="Cambria" pitchFamily="34" charset="0"/>
                <a:ea typeface="Cambria" pitchFamily="34" charset="-122"/>
                <a:cs typeface="Cambria" pitchFamily="34" charset="-120"/>
              </a:rPr>
              <a:t>Style architectural ou patron d'architecture ?</a:t>
            </a:r>
            <a:endParaRPr lang="fr-FR" dirty="0"/>
          </a:p>
        </p:txBody>
      </p:sp>
      <p:sp>
        <p:nvSpPr>
          <p:cNvPr id="10" name="Shape 3">
            <a:extLst>
              <a:ext uri="{FF2B5EF4-FFF2-40B4-BE49-F238E27FC236}">
                <a16:creationId xmlns:a16="http://schemas.microsoft.com/office/drawing/2014/main" id="{C5C73F7A-8159-A5AA-41FA-2B989B147B95}"/>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5EFAF750-EE43-0DDA-4273-B983CDA6793B}"/>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6817BCBA-E87E-8C62-9493-672385A5BAB1}"/>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D5213478-2319-948A-F138-68DEAB5701C1}"/>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24</a:t>
            </a:r>
            <a:endParaRPr lang="en-US" sz="900" dirty="0"/>
          </a:p>
        </p:txBody>
      </p:sp>
      <p:pic>
        <p:nvPicPr>
          <p:cNvPr id="18" name="object 2">
            <a:extLst>
              <a:ext uri="{FF2B5EF4-FFF2-40B4-BE49-F238E27FC236}">
                <a16:creationId xmlns:a16="http://schemas.microsoft.com/office/drawing/2014/main" id="{E3D28403-BCFC-87FB-A77B-A2D974267825}"/>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AD6AA019-F411-B417-FCF9-32884935BB9A}"/>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14" name="TextBox 13">
            <a:extLst>
              <a:ext uri="{FF2B5EF4-FFF2-40B4-BE49-F238E27FC236}">
                <a16:creationId xmlns:a16="http://schemas.microsoft.com/office/drawing/2014/main" id="{D6CAA54E-E00D-CB9C-D9D2-0415FCB4A73D}"/>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grpSp>
        <p:nvGrpSpPr>
          <p:cNvPr id="39" name="Group 38">
            <a:extLst>
              <a:ext uri="{FF2B5EF4-FFF2-40B4-BE49-F238E27FC236}">
                <a16:creationId xmlns:a16="http://schemas.microsoft.com/office/drawing/2014/main" id="{4344D427-61FE-E1ED-64D2-440445C9C260}"/>
              </a:ext>
            </a:extLst>
          </p:cNvPr>
          <p:cNvGrpSpPr/>
          <p:nvPr/>
        </p:nvGrpSpPr>
        <p:grpSpPr>
          <a:xfrm>
            <a:off x="932584" y="1146742"/>
            <a:ext cx="7297016" cy="1793629"/>
            <a:chOff x="640080" y="2011679"/>
            <a:chExt cx="10698480" cy="2932459"/>
          </a:xfrm>
        </p:grpSpPr>
        <p:sp>
          <p:nvSpPr>
            <p:cNvPr id="11" name="Shape 5">
              <a:extLst>
                <a:ext uri="{FF2B5EF4-FFF2-40B4-BE49-F238E27FC236}">
                  <a16:creationId xmlns:a16="http://schemas.microsoft.com/office/drawing/2014/main" id="{565BC6B5-77C9-5D05-7CD7-D30422958DF7}"/>
                </a:ext>
              </a:extLst>
            </p:cNvPr>
            <p:cNvSpPr/>
            <p:nvPr/>
          </p:nvSpPr>
          <p:spPr>
            <a:xfrm>
              <a:off x="640080" y="2011679"/>
              <a:ext cx="5257800" cy="2932459"/>
            </a:xfrm>
            <a:prstGeom prst="roundRect">
              <a:avLst>
                <a:gd name="adj" fmla="val 3810"/>
              </a:avLst>
            </a:prstGeom>
            <a:solidFill>
              <a:srgbClr val="EFF4F7"/>
            </a:solidFill>
            <a:ln/>
            <a:effectLst>
              <a:outerShdw blurRad="101600" dist="38100" dir="2700000" algn="bl" rotWithShape="0">
                <a:srgbClr val="000000">
                  <a:alpha val="12000"/>
                </a:srgbClr>
              </a:outerShdw>
            </a:effectLst>
          </p:spPr>
          <p:txBody>
            <a:bodyPr/>
            <a:lstStyle/>
            <a:p>
              <a:endParaRPr lang="fr-FR" sz="1050" noProof="0" dirty="0"/>
            </a:p>
          </p:txBody>
        </p:sp>
        <p:sp>
          <p:nvSpPr>
            <p:cNvPr id="16" name="Shape 6">
              <a:extLst>
                <a:ext uri="{FF2B5EF4-FFF2-40B4-BE49-F238E27FC236}">
                  <a16:creationId xmlns:a16="http://schemas.microsoft.com/office/drawing/2014/main" id="{156A0348-13B4-1BE0-9A8B-7FB3BC410686}"/>
                </a:ext>
              </a:extLst>
            </p:cNvPr>
            <p:cNvSpPr/>
            <p:nvPr/>
          </p:nvSpPr>
          <p:spPr>
            <a:xfrm>
              <a:off x="914400" y="2286000"/>
              <a:ext cx="548640" cy="548640"/>
            </a:xfrm>
            <a:prstGeom prst="ellipse">
              <a:avLst/>
            </a:prstGeom>
            <a:solidFill>
              <a:srgbClr val="FFFFFF"/>
            </a:solidFill>
            <a:ln/>
          </p:spPr>
          <p:txBody>
            <a:bodyPr/>
            <a:lstStyle/>
            <a:p>
              <a:endParaRPr lang="fr-FR" sz="1100" noProof="0" dirty="0"/>
            </a:p>
          </p:txBody>
        </p:sp>
        <p:pic>
          <p:nvPicPr>
            <p:cNvPr id="20" name="Image 0" descr="icons/network_navy.png">
              <a:extLst>
                <a:ext uri="{FF2B5EF4-FFF2-40B4-BE49-F238E27FC236}">
                  <a16:creationId xmlns:a16="http://schemas.microsoft.com/office/drawing/2014/main" id="{A2497232-DB30-360D-5AA7-484044C379A5}"/>
                </a:ext>
              </a:extLst>
            </p:cNvPr>
            <p:cNvPicPr>
              <a:picLocks noChangeAspect="1"/>
            </p:cNvPicPr>
            <p:nvPr/>
          </p:nvPicPr>
          <p:blipFill>
            <a:blip r:embed="rId7"/>
            <a:stretch>
              <a:fillRect/>
            </a:stretch>
          </p:blipFill>
          <p:spPr>
            <a:xfrm>
              <a:off x="1042416" y="2414016"/>
              <a:ext cx="292608" cy="292608"/>
            </a:xfrm>
            <a:prstGeom prst="rect">
              <a:avLst/>
            </a:prstGeom>
          </p:spPr>
        </p:pic>
        <p:sp>
          <p:nvSpPr>
            <p:cNvPr id="22" name="Text 7">
              <a:extLst>
                <a:ext uri="{FF2B5EF4-FFF2-40B4-BE49-F238E27FC236}">
                  <a16:creationId xmlns:a16="http://schemas.microsoft.com/office/drawing/2014/main" id="{7CB92270-D1D7-CAA2-33EF-B6599D3E020F}"/>
                </a:ext>
              </a:extLst>
            </p:cNvPr>
            <p:cNvSpPr/>
            <p:nvPr/>
          </p:nvSpPr>
          <p:spPr>
            <a:xfrm>
              <a:off x="1645920" y="2331720"/>
              <a:ext cx="4023360" cy="457200"/>
            </a:xfrm>
            <a:prstGeom prst="rect">
              <a:avLst/>
            </a:prstGeom>
            <a:noFill/>
            <a:ln/>
          </p:spPr>
          <p:txBody>
            <a:bodyPr wrap="square" lIns="0" tIns="0" rIns="0" bIns="0" rtlCol="0" anchor="ctr"/>
            <a:lstStyle/>
            <a:p>
              <a:pPr marL="0" indent="0">
                <a:buNone/>
              </a:pPr>
              <a:r>
                <a:rPr lang="fr-FR" sz="1050" b="1" noProof="0" dirty="0">
                  <a:solidFill>
                    <a:srgbClr val="0B1F3A"/>
                  </a:solidFill>
                  <a:latin typeface="Cambria" pitchFamily="34" charset="0"/>
                  <a:ea typeface="Cambria" pitchFamily="34" charset="-122"/>
                  <a:cs typeface="Cambria" pitchFamily="34" charset="-120"/>
                </a:rPr>
                <a:t>Style architectural</a:t>
              </a:r>
              <a:endParaRPr lang="fr-FR" sz="1050" noProof="0" dirty="0"/>
            </a:p>
          </p:txBody>
        </p:sp>
        <p:sp>
          <p:nvSpPr>
            <p:cNvPr id="26" name="Text 8">
              <a:extLst>
                <a:ext uri="{FF2B5EF4-FFF2-40B4-BE49-F238E27FC236}">
                  <a16:creationId xmlns:a16="http://schemas.microsoft.com/office/drawing/2014/main" id="{D5FB28A4-9B7E-0FB9-9960-328FF25D93AC}"/>
                </a:ext>
              </a:extLst>
            </p:cNvPr>
            <p:cNvSpPr/>
            <p:nvPr/>
          </p:nvSpPr>
          <p:spPr>
            <a:xfrm>
              <a:off x="914400" y="3017520"/>
              <a:ext cx="4709160" cy="1480052"/>
            </a:xfrm>
            <a:prstGeom prst="rect">
              <a:avLst/>
            </a:prstGeom>
            <a:noFill/>
            <a:ln/>
          </p:spPr>
          <p:txBody>
            <a:bodyPr wrap="square" lIns="0" tIns="0" rIns="0" bIns="0" rtlCol="0" anchor="ctr"/>
            <a:lstStyle/>
            <a:p>
              <a:pPr marL="0" indent="0">
                <a:lnSpc>
                  <a:spcPct val="130000"/>
                </a:lnSpc>
                <a:buNone/>
              </a:pPr>
              <a:r>
                <a:rPr lang="fr-FR" sz="1000" noProof="0" dirty="0">
                  <a:solidFill>
                    <a:srgbClr val="64748B"/>
                  </a:solidFill>
                  <a:latin typeface="Calibri" pitchFamily="34" charset="0"/>
                  <a:ea typeface="Calibri" pitchFamily="34" charset="-122"/>
                  <a:cs typeface="Calibri" pitchFamily="34" charset="-120"/>
                </a:rPr>
                <a:t>Décrit l'organisation globale du système et de son déploiement : comment les grandes parties du système communiquent entre elles (ex : </a:t>
              </a:r>
              <a:r>
                <a:rPr lang="fr-FR" sz="1000" noProof="0" dirty="0" err="1">
                  <a:solidFill>
                    <a:srgbClr val="64748B"/>
                  </a:solidFill>
                  <a:latin typeface="Calibri" pitchFamily="34" charset="0"/>
                  <a:ea typeface="Calibri" pitchFamily="34" charset="-122"/>
                  <a:cs typeface="Calibri" pitchFamily="34" charset="-120"/>
                </a:rPr>
                <a:t>microservices</a:t>
              </a:r>
              <a:r>
                <a:rPr lang="fr-FR" sz="1000" noProof="0" dirty="0">
                  <a:solidFill>
                    <a:srgbClr val="64748B"/>
                  </a:solidFill>
                  <a:latin typeface="Calibri" pitchFamily="34" charset="0"/>
                  <a:ea typeface="Calibri" pitchFamily="34" charset="-122"/>
                  <a:cs typeface="Calibri" pitchFamily="34" charset="-120"/>
                </a:rPr>
                <a:t>, événementiel).</a:t>
              </a:r>
              <a:endParaRPr lang="fr-FR" sz="1000" noProof="0" dirty="0"/>
            </a:p>
          </p:txBody>
        </p:sp>
        <p:sp>
          <p:nvSpPr>
            <p:cNvPr id="30" name="Shape 9">
              <a:extLst>
                <a:ext uri="{FF2B5EF4-FFF2-40B4-BE49-F238E27FC236}">
                  <a16:creationId xmlns:a16="http://schemas.microsoft.com/office/drawing/2014/main" id="{F4BD40C1-448D-2F45-E32D-D60D51F07DD7}"/>
                </a:ext>
              </a:extLst>
            </p:cNvPr>
            <p:cNvSpPr/>
            <p:nvPr/>
          </p:nvSpPr>
          <p:spPr>
            <a:xfrm>
              <a:off x="6080760" y="2011680"/>
              <a:ext cx="5257800" cy="2932458"/>
            </a:xfrm>
            <a:prstGeom prst="roundRect">
              <a:avLst>
                <a:gd name="adj" fmla="val 3810"/>
              </a:avLst>
            </a:prstGeom>
            <a:solidFill>
              <a:srgbClr val="EFF4F7"/>
            </a:solidFill>
            <a:ln/>
            <a:effectLst>
              <a:outerShdw blurRad="101600" dist="38100" dir="2700000" algn="bl" rotWithShape="0">
                <a:srgbClr val="000000">
                  <a:alpha val="12000"/>
                </a:srgbClr>
              </a:outerShdw>
            </a:effectLst>
          </p:spPr>
          <p:txBody>
            <a:bodyPr/>
            <a:lstStyle/>
            <a:p>
              <a:endParaRPr lang="fr-FR" sz="1050" noProof="0" dirty="0"/>
            </a:p>
          </p:txBody>
        </p:sp>
        <p:sp>
          <p:nvSpPr>
            <p:cNvPr id="32" name="Shape 10">
              <a:extLst>
                <a:ext uri="{FF2B5EF4-FFF2-40B4-BE49-F238E27FC236}">
                  <a16:creationId xmlns:a16="http://schemas.microsoft.com/office/drawing/2014/main" id="{2B596509-34FB-90C2-2522-A5D75483A094}"/>
                </a:ext>
              </a:extLst>
            </p:cNvPr>
            <p:cNvSpPr/>
            <p:nvPr/>
          </p:nvSpPr>
          <p:spPr>
            <a:xfrm>
              <a:off x="6355080" y="2286000"/>
              <a:ext cx="548640" cy="548640"/>
            </a:xfrm>
            <a:prstGeom prst="ellipse">
              <a:avLst/>
            </a:prstGeom>
            <a:solidFill>
              <a:srgbClr val="FFFFFF"/>
            </a:solidFill>
            <a:ln/>
          </p:spPr>
          <p:txBody>
            <a:bodyPr/>
            <a:lstStyle/>
            <a:p>
              <a:endParaRPr lang="fr-FR" sz="1100" noProof="0" dirty="0"/>
            </a:p>
          </p:txBody>
        </p:sp>
        <p:pic>
          <p:nvPicPr>
            <p:cNvPr id="34" name="Image 1" descr="icons/s12_a.png">
              <a:extLst>
                <a:ext uri="{FF2B5EF4-FFF2-40B4-BE49-F238E27FC236}">
                  <a16:creationId xmlns:a16="http://schemas.microsoft.com/office/drawing/2014/main" id="{8D46DEBB-0019-071C-CBD6-FCE8D4264614}"/>
                </a:ext>
              </a:extLst>
            </p:cNvPr>
            <p:cNvPicPr>
              <a:picLocks noChangeAspect="1"/>
            </p:cNvPicPr>
            <p:nvPr/>
          </p:nvPicPr>
          <p:blipFill>
            <a:blip r:embed="rId8"/>
            <a:stretch>
              <a:fillRect/>
            </a:stretch>
          </p:blipFill>
          <p:spPr>
            <a:xfrm>
              <a:off x="6483096" y="2414016"/>
              <a:ext cx="292608" cy="292608"/>
            </a:xfrm>
            <a:prstGeom prst="rect">
              <a:avLst/>
            </a:prstGeom>
          </p:spPr>
        </p:pic>
        <p:sp>
          <p:nvSpPr>
            <p:cNvPr id="36" name="Text 11">
              <a:extLst>
                <a:ext uri="{FF2B5EF4-FFF2-40B4-BE49-F238E27FC236}">
                  <a16:creationId xmlns:a16="http://schemas.microsoft.com/office/drawing/2014/main" id="{1377DF8C-04D5-1B9B-4979-8B98FA2676F6}"/>
                </a:ext>
              </a:extLst>
            </p:cNvPr>
            <p:cNvSpPr/>
            <p:nvPr/>
          </p:nvSpPr>
          <p:spPr>
            <a:xfrm>
              <a:off x="7086600" y="2331720"/>
              <a:ext cx="4023360" cy="457200"/>
            </a:xfrm>
            <a:prstGeom prst="rect">
              <a:avLst/>
            </a:prstGeom>
            <a:noFill/>
            <a:ln/>
          </p:spPr>
          <p:txBody>
            <a:bodyPr wrap="square" lIns="0" tIns="0" rIns="0" bIns="0" rtlCol="0" anchor="ctr"/>
            <a:lstStyle/>
            <a:p>
              <a:pPr marL="0" indent="0">
                <a:buNone/>
              </a:pPr>
              <a:r>
                <a:rPr lang="fr-FR" sz="1050" b="1" noProof="0" dirty="0">
                  <a:solidFill>
                    <a:srgbClr val="0B1F3A"/>
                  </a:solidFill>
                  <a:latin typeface="Cambria" pitchFamily="34" charset="0"/>
                  <a:ea typeface="Cambria" pitchFamily="34" charset="-122"/>
                  <a:cs typeface="Cambria" pitchFamily="34" charset="-120"/>
                </a:rPr>
                <a:t>Patron d'architecture</a:t>
              </a:r>
              <a:endParaRPr lang="fr-FR" sz="1050" noProof="0" dirty="0"/>
            </a:p>
          </p:txBody>
        </p:sp>
        <p:sp>
          <p:nvSpPr>
            <p:cNvPr id="38" name="Text 12">
              <a:extLst>
                <a:ext uri="{FF2B5EF4-FFF2-40B4-BE49-F238E27FC236}">
                  <a16:creationId xmlns:a16="http://schemas.microsoft.com/office/drawing/2014/main" id="{D3877C53-D8A4-D11D-8052-D6937E7007F8}"/>
                </a:ext>
              </a:extLst>
            </p:cNvPr>
            <p:cNvSpPr/>
            <p:nvPr/>
          </p:nvSpPr>
          <p:spPr>
            <a:xfrm>
              <a:off x="6355080" y="3017520"/>
              <a:ext cx="4709160" cy="1480052"/>
            </a:xfrm>
            <a:prstGeom prst="rect">
              <a:avLst/>
            </a:prstGeom>
            <a:noFill/>
            <a:ln/>
          </p:spPr>
          <p:txBody>
            <a:bodyPr wrap="square" lIns="0" tIns="0" rIns="0" bIns="0" rtlCol="0" anchor="ctr"/>
            <a:lstStyle/>
            <a:p>
              <a:pPr>
                <a:lnSpc>
                  <a:spcPct val="130000"/>
                </a:lnSpc>
              </a:pPr>
              <a:r>
                <a:rPr lang="fr-FR" sz="1000" noProof="0" dirty="0">
                  <a:solidFill>
                    <a:srgbClr val="64748B"/>
                  </a:solidFill>
                  <a:latin typeface="Calibri" pitchFamily="34" charset="0"/>
                  <a:ea typeface="Calibri" pitchFamily="34" charset="-122"/>
                  <a:cs typeface="Calibri" pitchFamily="34" charset="-120"/>
                </a:rPr>
                <a:t>Décrit une solution générale et réutilisable à un problème de conception récurrent, indépendamment de la technologie utilisée.</a:t>
              </a:r>
            </a:p>
          </p:txBody>
        </p:sp>
      </p:grpSp>
      <p:sp>
        <p:nvSpPr>
          <p:cNvPr id="41" name="TextBox 40">
            <a:extLst>
              <a:ext uri="{FF2B5EF4-FFF2-40B4-BE49-F238E27FC236}">
                <a16:creationId xmlns:a16="http://schemas.microsoft.com/office/drawing/2014/main" id="{8F66031B-D90C-189E-2AF1-F72F0DDE354A}"/>
              </a:ext>
            </a:extLst>
          </p:cNvPr>
          <p:cNvSpPr txBox="1"/>
          <p:nvPr/>
        </p:nvSpPr>
        <p:spPr>
          <a:xfrm>
            <a:off x="564463" y="3399550"/>
            <a:ext cx="8157994" cy="536942"/>
          </a:xfrm>
          <a:prstGeom prst="rect">
            <a:avLst/>
          </a:prstGeom>
          <a:noFill/>
        </p:spPr>
        <p:txBody>
          <a:bodyPr wrap="square">
            <a:spAutoFit/>
          </a:bodyPr>
          <a:lstStyle/>
          <a:p>
            <a:pPr marL="0" indent="0">
              <a:lnSpc>
                <a:spcPct val="125000"/>
              </a:lnSpc>
              <a:buNone/>
            </a:pPr>
            <a:r>
              <a:rPr lang="fr-FR" sz="1200" b="1" noProof="0" dirty="0">
                <a:latin typeface="Calibri" pitchFamily="34" charset="0"/>
                <a:ea typeface="Calibri" pitchFamily="34" charset="-122"/>
                <a:cs typeface="Calibri" pitchFamily="34" charset="-120"/>
              </a:rPr>
              <a:t>Analogie  :  </a:t>
            </a:r>
            <a:r>
              <a:rPr lang="fr-FR" sz="1200" noProof="0" dirty="0">
                <a:latin typeface="Calibri" pitchFamily="34" charset="0"/>
                <a:ea typeface="Calibri" pitchFamily="34" charset="-122"/>
                <a:cs typeface="Calibri" pitchFamily="34" charset="-120"/>
              </a:rPr>
              <a:t>le style architectural est le plan d'urbanisme d'une ville (quartiers, routes principales), le patron d'architecture est le plan d'un bâtiment précis à l'intérieur d'un quartier.</a:t>
            </a:r>
            <a:endParaRPr lang="fr-FR" sz="1200" noProof="0" dirty="0"/>
          </a:p>
        </p:txBody>
      </p:sp>
    </p:spTree>
    <p:extLst>
      <p:ext uri="{BB962C8B-B14F-4D97-AF65-F5344CB8AC3E}">
        <p14:creationId xmlns:p14="http://schemas.microsoft.com/office/powerpoint/2010/main" val="22461305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BD2BC8A-E2E1-458B-195B-F2EEB180C9CF}"/>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01A4108-98D2-22BF-7BDD-55E602372CF1}"/>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DEB9967C-6A89-BE5E-12AD-FDDC7958A64A}"/>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A078EC42-BDEF-43DE-0A60-39F8CF28E6F4}"/>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787143DC-DF95-B035-A7F3-D14E61C098A4}"/>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292FE10C-B40E-F8EB-A3D4-881EC3D4A24C}"/>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457501B7-9971-EFFE-91EB-C52EA8F5704C}"/>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E588655E-5202-26BE-D7A9-A28A378A6EF8}"/>
              </a:ext>
            </a:extLst>
          </p:cNvPr>
          <p:cNvSpPr/>
          <p:nvPr/>
        </p:nvSpPr>
        <p:spPr>
          <a:xfrm>
            <a:off x="1993392" y="91440"/>
            <a:ext cx="6400800" cy="411480"/>
          </a:xfrm>
          <a:prstGeom prst="rect">
            <a:avLst/>
          </a:prstGeom>
          <a:noFill/>
          <a:ln/>
        </p:spPr>
        <p:txBody>
          <a:bodyPr wrap="square" lIns="0" tIns="0" rIns="0" bIns="0" rtlCol="0" anchor="ctr"/>
          <a:lstStyle/>
          <a:p>
            <a:r>
              <a:rPr lang="fr-FR" b="1" dirty="0">
                <a:solidFill>
                  <a:srgbClr val="1A1A1A"/>
                </a:solidFill>
                <a:latin typeface="Calibri" pitchFamily="34" charset="0"/>
                <a:ea typeface="Calibri" pitchFamily="34" charset="-122"/>
                <a:cs typeface="Calibri" pitchFamily="34" charset="-120"/>
              </a:rPr>
              <a:t>Des Styles Architecturaux aux Patterns</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F6DC2B4F-5FF4-1B1F-AF12-8695F4499D9D}"/>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6B47FC31-2F74-C29C-5BCA-19C0FC84C610}"/>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ECF70266-B5FD-BE6B-2BCD-D02CBEE989C3}"/>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2585764C-41C0-1377-9C9E-72D9223884EE}"/>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25</a:t>
            </a:r>
            <a:endParaRPr lang="en-US" sz="900" dirty="0"/>
          </a:p>
        </p:txBody>
      </p:sp>
      <p:pic>
        <p:nvPicPr>
          <p:cNvPr id="18" name="object 2">
            <a:extLst>
              <a:ext uri="{FF2B5EF4-FFF2-40B4-BE49-F238E27FC236}">
                <a16:creationId xmlns:a16="http://schemas.microsoft.com/office/drawing/2014/main" id="{43E52A40-A2AD-AD11-45E9-7FD7A2A72F7D}"/>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91CCE5C8-4DEF-6080-C38F-3188DD5CCDEF}"/>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14" name="TextBox 13">
            <a:extLst>
              <a:ext uri="{FF2B5EF4-FFF2-40B4-BE49-F238E27FC236}">
                <a16:creationId xmlns:a16="http://schemas.microsoft.com/office/drawing/2014/main" id="{56B0BFC3-290F-0314-8545-4D9A6E3CA404}"/>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grpSp>
        <p:nvGrpSpPr>
          <p:cNvPr id="28" name="Group 27">
            <a:extLst>
              <a:ext uri="{FF2B5EF4-FFF2-40B4-BE49-F238E27FC236}">
                <a16:creationId xmlns:a16="http://schemas.microsoft.com/office/drawing/2014/main" id="{F98956C2-0A75-11EE-5AB0-46C9C1C9BCB6}"/>
              </a:ext>
            </a:extLst>
          </p:cNvPr>
          <p:cNvGrpSpPr/>
          <p:nvPr/>
        </p:nvGrpSpPr>
        <p:grpSpPr>
          <a:xfrm>
            <a:off x="1176386" y="802521"/>
            <a:ext cx="6641734" cy="3609960"/>
            <a:chOff x="739849" y="1828800"/>
            <a:chExt cx="10287000" cy="4984120"/>
          </a:xfrm>
        </p:grpSpPr>
        <p:pic>
          <p:nvPicPr>
            <p:cNvPr id="23" name="Image 18">
              <a:extLst>
                <a:ext uri="{FF2B5EF4-FFF2-40B4-BE49-F238E27FC236}">
                  <a16:creationId xmlns:a16="http://schemas.microsoft.com/office/drawing/2014/main" id="{22D3F021-872A-550B-D928-44478598D340}"/>
                </a:ext>
              </a:extLst>
            </p:cNvPr>
            <p:cNvPicPr>
              <a:picLocks noChangeAspect="1"/>
            </p:cNvPicPr>
            <p:nvPr/>
          </p:nvPicPr>
          <p:blipFill>
            <a:blip r:embed="rId7"/>
            <a:srcRect t="10735" b="16589"/>
            <a:stretch>
              <a:fillRect/>
            </a:stretch>
          </p:blipFill>
          <p:spPr>
            <a:xfrm>
              <a:off x="739849" y="1828800"/>
              <a:ext cx="10287000" cy="4984120"/>
            </a:xfrm>
            <a:prstGeom prst="rect">
              <a:avLst/>
            </a:prstGeom>
          </p:spPr>
        </p:pic>
        <p:sp>
          <p:nvSpPr>
            <p:cNvPr id="25" name="Rectangle 24">
              <a:extLst>
                <a:ext uri="{FF2B5EF4-FFF2-40B4-BE49-F238E27FC236}">
                  <a16:creationId xmlns:a16="http://schemas.microsoft.com/office/drawing/2014/main" id="{A377266A-10F3-3902-345D-CFE1DB15D909}"/>
                </a:ext>
              </a:extLst>
            </p:cNvPr>
            <p:cNvSpPr/>
            <p:nvPr/>
          </p:nvSpPr>
          <p:spPr>
            <a:xfrm flipV="1">
              <a:off x="1058333" y="3115733"/>
              <a:ext cx="1346200" cy="15239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7" name="Rectangle 26">
              <a:extLst>
                <a:ext uri="{FF2B5EF4-FFF2-40B4-BE49-F238E27FC236}">
                  <a16:creationId xmlns:a16="http://schemas.microsoft.com/office/drawing/2014/main" id="{AEC90E89-7D4A-4C37-62FB-1DFB63AB9DA4}"/>
                </a:ext>
              </a:extLst>
            </p:cNvPr>
            <p:cNvSpPr/>
            <p:nvPr/>
          </p:nvSpPr>
          <p:spPr>
            <a:xfrm flipV="1">
              <a:off x="6637868" y="3132666"/>
              <a:ext cx="1346200" cy="15239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spTree>
    <p:extLst>
      <p:ext uri="{BB962C8B-B14F-4D97-AF65-F5344CB8AC3E}">
        <p14:creationId xmlns:p14="http://schemas.microsoft.com/office/powerpoint/2010/main" val="30610071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9E46C6A-467B-497C-0D44-F36F8BB112A8}"/>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5D7B9E23-5F11-6231-17C9-88F99F616BAD}"/>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79809B29-FA16-A0D9-5AF8-C38968F740CF}"/>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2D3CAA36-F572-4489-D437-C7F0CA216F3D}"/>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847E1EB7-E59B-F6D1-EE09-D2153ECEB04A}"/>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C1114D55-6678-A638-C2EC-9456216C65AA}"/>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ECBA4E00-C8DF-7AB4-6A2A-88D0552E7A7A}"/>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3E5B31FD-ECAC-5AD5-41D2-CFB30951F2EF}"/>
              </a:ext>
            </a:extLst>
          </p:cNvPr>
          <p:cNvSpPr/>
          <p:nvPr/>
        </p:nvSpPr>
        <p:spPr>
          <a:xfrm>
            <a:off x="1993392" y="91440"/>
            <a:ext cx="6400800" cy="411480"/>
          </a:xfrm>
          <a:prstGeom prst="rect">
            <a:avLst/>
          </a:prstGeom>
          <a:noFill/>
          <a:ln/>
        </p:spPr>
        <p:txBody>
          <a:bodyPr wrap="square" lIns="0" tIns="0" rIns="0" bIns="0" rtlCol="0" anchor="ctr"/>
          <a:lstStyle/>
          <a:p>
            <a:r>
              <a:rPr lang="fr-FR" b="1" dirty="0">
                <a:solidFill>
                  <a:srgbClr val="0B1F3A"/>
                </a:solidFill>
                <a:latin typeface="Calibri" pitchFamily="34" charset="0"/>
                <a:ea typeface="Calibri" pitchFamily="34" charset="-122"/>
                <a:cs typeface="Calibri" pitchFamily="34" charset="-120"/>
              </a:rPr>
              <a:t>Les trois familles de patrons d'architecture</a:t>
            </a:r>
            <a:endParaRPr lang="fr-FR" dirty="0"/>
          </a:p>
        </p:txBody>
      </p:sp>
      <p:sp>
        <p:nvSpPr>
          <p:cNvPr id="10" name="Shape 3">
            <a:extLst>
              <a:ext uri="{FF2B5EF4-FFF2-40B4-BE49-F238E27FC236}">
                <a16:creationId xmlns:a16="http://schemas.microsoft.com/office/drawing/2014/main" id="{54F4CF24-D311-2E71-B08B-65AF9D2B9E5B}"/>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354F7A20-F70D-5312-E968-21A0A807D232}"/>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8FE88A12-4D79-B2E6-61F7-BB68E29B75B9}"/>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BD99B06B-96D2-9E20-BC7F-10FDAC9F4D83}"/>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26</a:t>
            </a:r>
            <a:endParaRPr lang="en-US" sz="900" dirty="0"/>
          </a:p>
        </p:txBody>
      </p:sp>
      <p:pic>
        <p:nvPicPr>
          <p:cNvPr id="18" name="object 2">
            <a:extLst>
              <a:ext uri="{FF2B5EF4-FFF2-40B4-BE49-F238E27FC236}">
                <a16:creationId xmlns:a16="http://schemas.microsoft.com/office/drawing/2014/main" id="{695A7668-3A77-34C9-39A5-4F91B3F77D13}"/>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E4C20E1B-F1FC-CAB8-D7DF-2ECEA9C29C48}"/>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7" name="Text 4">
            <a:extLst>
              <a:ext uri="{FF2B5EF4-FFF2-40B4-BE49-F238E27FC236}">
                <a16:creationId xmlns:a16="http://schemas.microsoft.com/office/drawing/2014/main" id="{8B733D8E-930B-0791-7322-D2FEB9246620}"/>
              </a:ext>
            </a:extLst>
          </p:cNvPr>
          <p:cNvSpPr/>
          <p:nvPr/>
        </p:nvSpPr>
        <p:spPr>
          <a:xfrm>
            <a:off x="320040" y="714776"/>
            <a:ext cx="8046720" cy="3710920"/>
          </a:xfrm>
          <a:prstGeom prst="rect">
            <a:avLst/>
          </a:prstGeom>
          <a:noFill/>
          <a:ln/>
        </p:spPr>
        <p:txBody>
          <a:bodyPr wrap="square" rtlCol="0" anchor="t"/>
          <a:lstStyle/>
          <a:p>
            <a:pPr>
              <a:lnSpc>
                <a:spcPct val="150000"/>
              </a:lnSpc>
            </a:pPr>
            <a:r>
              <a:rPr lang="fr-FR" sz="1200" dirty="0"/>
              <a:t>Tout patron d'architecture répond à l'une de ces trois questions : comment organiser les composants, comment les faire communiquer, ou comment organiser la logique applicative ?</a:t>
            </a:r>
          </a:p>
        </p:txBody>
      </p:sp>
      <p:sp>
        <p:nvSpPr>
          <p:cNvPr id="24" name="TextBox 23">
            <a:extLst>
              <a:ext uri="{FF2B5EF4-FFF2-40B4-BE49-F238E27FC236}">
                <a16:creationId xmlns:a16="http://schemas.microsoft.com/office/drawing/2014/main" id="{81245BEB-5BD6-23F4-3793-7F7BA3A4F8F7}"/>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grpSp>
        <p:nvGrpSpPr>
          <p:cNvPr id="73" name="Group 72">
            <a:extLst>
              <a:ext uri="{FF2B5EF4-FFF2-40B4-BE49-F238E27FC236}">
                <a16:creationId xmlns:a16="http://schemas.microsoft.com/office/drawing/2014/main" id="{768CEC04-F984-7050-3612-4AD09482AC4B}"/>
              </a:ext>
            </a:extLst>
          </p:cNvPr>
          <p:cNvGrpSpPr/>
          <p:nvPr/>
        </p:nvGrpSpPr>
        <p:grpSpPr>
          <a:xfrm>
            <a:off x="640080" y="1440437"/>
            <a:ext cx="7824651" cy="3007863"/>
            <a:chOff x="504508" y="1783080"/>
            <a:chExt cx="11201400" cy="4526280"/>
          </a:xfrm>
        </p:grpSpPr>
        <p:sp>
          <p:nvSpPr>
            <p:cNvPr id="15" name="Shape 3">
              <a:extLst>
                <a:ext uri="{FF2B5EF4-FFF2-40B4-BE49-F238E27FC236}">
                  <a16:creationId xmlns:a16="http://schemas.microsoft.com/office/drawing/2014/main" id="{340B0F37-30B1-C1AE-E175-4E3B22471674}"/>
                </a:ext>
              </a:extLst>
            </p:cNvPr>
            <p:cNvSpPr/>
            <p:nvPr/>
          </p:nvSpPr>
          <p:spPr>
            <a:xfrm>
              <a:off x="504508" y="1783080"/>
              <a:ext cx="3581400" cy="4526280"/>
            </a:xfrm>
            <a:prstGeom prst="roundRect">
              <a:avLst>
                <a:gd name="adj" fmla="val 2043"/>
              </a:avLst>
            </a:prstGeom>
            <a:solidFill>
              <a:srgbClr val="FFFFFF"/>
            </a:solidFill>
            <a:ln w="12700">
              <a:solidFill>
                <a:srgbClr val="DCE7EC"/>
              </a:solidFill>
              <a:prstDash val="solid"/>
            </a:ln>
            <a:effectLst>
              <a:outerShdw blurRad="76200" dist="25400" dir="5400000" algn="bl" rotWithShape="0">
                <a:srgbClr val="222222">
                  <a:alpha val="12000"/>
                </a:srgbClr>
              </a:outerShdw>
            </a:effectLst>
          </p:spPr>
          <p:txBody>
            <a:bodyPr/>
            <a:lstStyle/>
            <a:p>
              <a:endParaRPr lang="fr-FR" sz="1050" noProof="0" dirty="0"/>
            </a:p>
          </p:txBody>
        </p:sp>
        <p:sp>
          <p:nvSpPr>
            <p:cNvPr id="19" name="Shape 4">
              <a:extLst>
                <a:ext uri="{FF2B5EF4-FFF2-40B4-BE49-F238E27FC236}">
                  <a16:creationId xmlns:a16="http://schemas.microsoft.com/office/drawing/2014/main" id="{A226608B-E2A4-087C-12FE-72BF65AB0373}"/>
                </a:ext>
              </a:extLst>
            </p:cNvPr>
            <p:cNvSpPr/>
            <p:nvPr/>
          </p:nvSpPr>
          <p:spPr>
            <a:xfrm>
              <a:off x="778828" y="2057400"/>
              <a:ext cx="685800" cy="685800"/>
            </a:xfrm>
            <a:prstGeom prst="ellipse">
              <a:avLst/>
            </a:prstGeom>
            <a:solidFill>
              <a:srgbClr val="1C7293"/>
            </a:solidFill>
            <a:ln/>
          </p:spPr>
          <p:txBody>
            <a:bodyPr/>
            <a:lstStyle/>
            <a:p>
              <a:endParaRPr lang="fr-FR" sz="1050" noProof="0" dirty="0"/>
            </a:p>
          </p:txBody>
        </p:sp>
        <p:sp>
          <p:nvSpPr>
            <p:cNvPr id="21" name="Text 5">
              <a:extLst>
                <a:ext uri="{FF2B5EF4-FFF2-40B4-BE49-F238E27FC236}">
                  <a16:creationId xmlns:a16="http://schemas.microsoft.com/office/drawing/2014/main" id="{7FAE0534-6EAB-435D-481B-9DC0A9BC470E}"/>
                </a:ext>
              </a:extLst>
            </p:cNvPr>
            <p:cNvSpPr/>
            <p:nvPr/>
          </p:nvSpPr>
          <p:spPr>
            <a:xfrm>
              <a:off x="778828" y="2057400"/>
              <a:ext cx="685800" cy="685800"/>
            </a:xfrm>
            <a:prstGeom prst="rect">
              <a:avLst/>
            </a:prstGeom>
            <a:noFill/>
            <a:ln/>
          </p:spPr>
          <p:txBody>
            <a:bodyPr wrap="square" rtlCol="0" anchor="ctr"/>
            <a:lstStyle/>
            <a:p>
              <a:pPr algn="ctr"/>
              <a:r>
                <a:rPr lang="fr-FR" sz="1200" noProof="0" dirty="0">
                  <a:solidFill>
                    <a:srgbClr val="FFFFFF"/>
                  </a:solidFill>
                  <a:latin typeface="Calibri" pitchFamily="34" charset="0"/>
                  <a:ea typeface="Calibri" pitchFamily="34" charset="-122"/>
                  <a:cs typeface="Calibri" pitchFamily="34" charset="-120"/>
                </a:rPr>
                <a:t>☷</a:t>
              </a:r>
              <a:endParaRPr lang="fr-FR" sz="1200" noProof="0" dirty="0"/>
            </a:p>
          </p:txBody>
        </p:sp>
        <p:sp>
          <p:nvSpPr>
            <p:cNvPr id="25" name="Text 6">
              <a:extLst>
                <a:ext uri="{FF2B5EF4-FFF2-40B4-BE49-F238E27FC236}">
                  <a16:creationId xmlns:a16="http://schemas.microsoft.com/office/drawing/2014/main" id="{76B54F6C-DF1F-844E-7043-86C622F04822}"/>
                </a:ext>
              </a:extLst>
            </p:cNvPr>
            <p:cNvSpPr/>
            <p:nvPr/>
          </p:nvSpPr>
          <p:spPr>
            <a:xfrm>
              <a:off x="1601788" y="2103120"/>
              <a:ext cx="2255520" cy="594360"/>
            </a:xfrm>
            <a:prstGeom prst="rect">
              <a:avLst/>
            </a:prstGeom>
            <a:noFill/>
            <a:ln/>
          </p:spPr>
          <p:txBody>
            <a:bodyPr wrap="square" rtlCol="0" anchor="ctr"/>
            <a:lstStyle/>
            <a:p>
              <a:r>
                <a:rPr lang="fr-FR" sz="1000" b="1" noProof="0" dirty="0">
                  <a:solidFill>
                    <a:srgbClr val="0B1F3A"/>
                  </a:solidFill>
                  <a:latin typeface="Calibri" pitchFamily="34" charset="0"/>
                  <a:ea typeface="Calibri" pitchFamily="34" charset="-122"/>
                  <a:cs typeface="Calibri" pitchFamily="34" charset="-120"/>
                </a:rPr>
                <a:t>Patrons structurels</a:t>
              </a:r>
              <a:endParaRPr lang="fr-FR" sz="1000" noProof="0" dirty="0"/>
            </a:p>
          </p:txBody>
        </p:sp>
        <p:sp>
          <p:nvSpPr>
            <p:cNvPr id="27" name="Text 7">
              <a:extLst>
                <a:ext uri="{FF2B5EF4-FFF2-40B4-BE49-F238E27FC236}">
                  <a16:creationId xmlns:a16="http://schemas.microsoft.com/office/drawing/2014/main" id="{2503E9D7-F587-407E-6FC0-617DF089AD61}"/>
                </a:ext>
              </a:extLst>
            </p:cNvPr>
            <p:cNvSpPr/>
            <p:nvPr/>
          </p:nvSpPr>
          <p:spPr>
            <a:xfrm>
              <a:off x="778828" y="2880360"/>
              <a:ext cx="3032760" cy="502920"/>
            </a:xfrm>
            <a:prstGeom prst="rect">
              <a:avLst/>
            </a:prstGeom>
            <a:noFill/>
            <a:ln/>
          </p:spPr>
          <p:txBody>
            <a:bodyPr wrap="square" rtlCol="0" anchor="t"/>
            <a:lstStyle/>
            <a:p>
              <a:r>
                <a:rPr lang="fr-FR" sz="800" i="1" noProof="0" dirty="0">
                  <a:solidFill>
                    <a:srgbClr val="64748B"/>
                  </a:solidFill>
                  <a:latin typeface="Calibri" pitchFamily="34" charset="0"/>
                  <a:ea typeface="Calibri" pitchFamily="34" charset="-122"/>
                  <a:cs typeface="Calibri" pitchFamily="34" charset="-120"/>
                </a:rPr>
                <a:t>Organisent les composants et leurs relations au sein du système.</a:t>
              </a:r>
              <a:endParaRPr lang="fr-FR" sz="800" noProof="0" dirty="0"/>
            </a:p>
          </p:txBody>
        </p:sp>
        <p:sp>
          <p:nvSpPr>
            <p:cNvPr id="29" name="Shape 8">
              <a:extLst>
                <a:ext uri="{FF2B5EF4-FFF2-40B4-BE49-F238E27FC236}">
                  <a16:creationId xmlns:a16="http://schemas.microsoft.com/office/drawing/2014/main" id="{DCEFE53A-B65C-BF27-8FE5-C783EB406B25}"/>
                </a:ext>
              </a:extLst>
            </p:cNvPr>
            <p:cNvSpPr/>
            <p:nvPr/>
          </p:nvSpPr>
          <p:spPr>
            <a:xfrm>
              <a:off x="778828" y="3410712"/>
              <a:ext cx="3032760" cy="0"/>
            </a:xfrm>
            <a:prstGeom prst="line">
              <a:avLst/>
            </a:prstGeom>
            <a:noFill/>
            <a:ln w="12700">
              <a:solidFill>
                <a:srgbClr val="DCE7EC"/>
              </a:solidFill>
              <a:prstDash val="solid"/>
            </a:ln>
          </p:spPr>
          <p:txBody>
            <a:bodyPr/>
            <a:lstStyle/>
            <a:p>
              <a:endParaRPr lang="fr-FR" sz="1100" noProof="0" dirty="0"/>
            </a:p>
          </p:txBody>
        </p:sp>
        <p:sp>
          <p:nvSpPr>
            <p:cNvPr id="31" name="Text 9">
              <a:extLst>
                <a:ext uri="{FF2B5EF4-FFF2-40B4-BE49-F238E27FC236}">
                  <a16:creationId xmlns:a16="http://schemas.microsoft.com/office/drawing/2014/main" id="{1CE96CDD-3E6C-2010-8BF5-03878A01F816}"/>
                </a:ext>
              </a:extLst>
            </p:cNvPr>
            <p:cNvSpPr/>
            <p:nvPr/>
          </p:nvSpPr>
          <p:spPr>
            <a:xfrm>
              <a:off x="778828" y="3520440"/>
              <a:ext cx="3032760" cy="274320"/>
            </a:xfrm>
            <a:prstGeom prst="rect">
              <a:avLst/>
            </a:prstGeom>
            <a:noFill/>
            <a:ln/>
          </p:spPr>
          <p:txBody>
            <a:bodyPr wrap="square" rtlCol="0" anchor="ctr"/>
            <a:lstStyle/>
            <a:p>
              <a:r>
                <a:rPr lang="fr-FR" sz="600" b="1" kern="0" spc="100" noProof="0" dirty="0">
                  <a:solidFill>
                    <a:srgbClr val="1C7293"/>
                  </a:solidFill>
                  <a:latin typeface="Calibri" pitchFamily="34" charset="0"/>
                  <a:ea typeface="Calibri" pitchFamily="34" charset="-122"/>
                  <a:cs typeface="Calibri" pitchFamily="34" charset="-120"/>
                </a:rPr>
                <a:t>EXEMPLES</a:t>
              </a:r>
              <a:endParaRPr lang="fr-FR" sz="600" noProof="0" dirty="0"/>
            </a:p>
          </p:txBody>
        </p:sp>
        <p:sp>
          <p:nvSpPr>
            <p:cNvPr id="33" name="Text 10">
              <a:extLst>
                <a:ext uri="{FF2B5EF4-FFF2-40B4-BE49-F238E27FC236}">
                  <a16:creationId xmlns:a16="http://schemas.microsoft.com/office/drawing/2014/main" id="{BC65B34A-6650-B4D2-2B32-9F3F06B01598}"/>
                </a:ext>
              </a:extLst>
            </p:cNvPr>
            <p:cNvSpPr/>
            <p:nvPr/>
          </p:nvSpPr>
          <p:spPr>
            <a:xfrm>
              <a:off x="778828" y="3840480"/>
              <a:ext cx="3032760" cy="749808"/>
            </a:xfrm>
            <a:prstGeom prst="rect">
              <a:avLst/>
            </a:prstGeom>
            <a:noFill/>
            <a:ln/>
          </p:spPr>
          <p:txBody>
            <a:bodyPr wrap="square" rtlCol="0" anchor="t"/>
            <a:lstStyle/>
            <a:p>
              <a:pPr>
                <a:lnSpc>
                  <a:spcPct val="150000"/>
                </a:lnSpc>
              </a:pPr>
              <a:r>
                <a:rPr lang="fr-FR" sz="700" b="1" noProof="0" dirty="0">
                  <a:solidFill>
                    <a:srgbClr val="0B1F3A"/>
                  </a:solidFill>
                </a:rPr>
                <a:t>Couches (</a:t>
              </a:r>
              <a:r>
                <a:rPr lang="fr-FR" sz="700" b="1" noProof="0" dirty="0" err="1">
                  <a:solidFill>
                    <a:srgbClr val="0B1F3A"/>
                  </a:solidFill>
                </a:rPr>
                <a:t>Layered</a:t>
              </a:r>
              <a:r>
                <a:rPr lang="fr-FR" sz="700" b="1" noProof="0" dirty="0">
                  <a:solidFill>
                    <a:srgbClr val="0B1F3A"/>
                  </a:solidFill>
                </a:rPr>
                <a:t>)  </a:t>
              </a:r>
              <a:r>
                <a:rPr lang="fr-FR" sz="600" noProof="0" dirty="0">
                  <a:solidFill>
                    <a:srgbClr val="1E293B"/>
                  </a:solidFill>
                </a:rPr>
                <a:t>— Empile des couches (présentation, métier, données) où chaque couche ne dépend que de celle du dessous — ex. une application web classique en 3 couches.</a:t>
              </a:r>
              <a:endParaRPr lang="fr-FR" sz="700" noProof="0" dirty="0"/>
            </a:p>
          </p:txBody>
        </p:sp>
        <p:sp>
          <p:nvSpPr>
            <p:cNvPr id="35" name="Text 11">
              <a:extLst>
                <a:ext uri="{FF2B5EF4-FFF2-40B4-BE49-F238E27FC236}">
                  <a16:creationId xmlns:a16="http://schemas.microsoft.com/office/drawing/2014/main" id="{3CD560A7-6400-E13D-892C-92995AF6DEE2}"/>
                </a:ext>
              </a:extLst>
            </p:cNvPr>
            <p:cNvSpPr/>
            <p:nvPr/>
          </p:nvSpPr>
          <p:spPr>
            <a:xfrm>
              <a:off x="778828" y="4917547"/>
              <a:ext cx="3032760" cy="749808"/>
            </a:xfrm>
            <a:prstGeom prst="rect">
              <a:avLst/>
            </a:prstGeom>
            <a:noFill/>
            <a:ln/>
          </p:spPr>
          <p:txBody>
            <a:bodyPr wrap="square" rtlCol="0" anchor="t"/>
            <a:lstStyle/>
            <a:p>
              <a:pPr>
                <a:lnSpc>
                  <a:spcPct val="150000"/>
                </a:lnSpc>
              </a:pPr>
              <a:r>
                <a:rPr lang="fr-FR" sz="700" b="1" noProof="0" dirty="0">
                  <a:solidFill>
                    <a:srgbClr val="0B1F3A"/>
                  </a:solidFill>
                </a:rPr>
                <a:t>Hexagonal (Ports &amp; </a:t>
              </a:r>
              <a:r>
                <a:rPr lang="fr-FR" sz="700" b="1" noProof="0" dirty="0" err="1">
                  <a:solidFill>
                    <a:srgbClr val="0B1F3A"/>
                  </a:solidFill>
                </a:rPr>
                <a:t>Adapters</a:t>
              </a:r>
              <a:r>
                <a:rPr lang="fr-FR" sz="700" b="1" noProof="0" dirty="0">
                  <a:solidFill>
                    <a:srgbClr val="0B1F3A"/>
                  </a:solidFill>
                </a:rPr>
                <a:t>)  </a:t>
              </a:r>
              <a:r>
                <a:rPr lang="fr-FR" sz="600" noProof="0" dirty="0">
                  <a:solidFill>
                    <a:srgbClr val="1E293B"/>
                  </a:solidFill>
                </a:rPr>
                <a:t>— Isole le métier derrière des ports connectés à des adaptateurs interchangeables — ex. remplacer une base SQL par une base NoSQL sans toucher au métier.</a:t>
              </a:r>
              <a:endParaRPr lang="fr-FR" sz="700" noProof="0" dirty="0"/>
            </a:p>
          </p:txBody>
        </p:sp>
        <p:sp>
          <p:nvSpPr>
            <p:cNvPr id="37" name="Shape 13">
              <a:extLst>
                <a:ext uri="{FF2B5EF4-FFF2-40B4-BE49-F238E27FC236}">
                  <a16:creationId xmlns:a16="http://schemas.microsoft.com/office/drawing/2014/main" id="{054B05BE-0486-989B-6E58-BB0E8ECE649F}"/>
                </a:ext>
              </a:extLst>
            </p:cNvPr>
            <p:cNvSpPr/>
            <p:nvPr/>
          </p:nvSpPr>
          <p:spPr>
            <a:xfrm>
              <a:off x="4314508" y="1783080"/>
              <a:ext cx="3581400" cy="4526280"/>
            </a:xfrm>
            <a:prstGeom prst="roundRect">
              <a:avLst>
                <a:gd name="adj" fmla="val 2043"/>
              </a:avLst>
            </a:prstGeom>
            <a:solidFill>
              <a:srgbClr val="FFFFFF"/>
            </a:solidFill>
            <a:ln w="12700">
              <a:solidFill>
                <a:srgbClr val="DCE7EC"/>
              </a:solidFill>
              <a:prstDash val="solid"/>
            </a:ln>
            <a:effectLst>
              <a:outerShdw blurRad="76200" dist="25400" dir="5400000" algn="bl" rotWithShape="0">
                <a:srgbClr val="222222">
                  <a:alpha val="12000"/>
                </a:srgbClr>
              </a:outerShdw>
            </a:effectLst>
          </p:spPr>
          <p:txBody>
            <a:bodyPr/>
            <a:lstStyle/>
            <a:p>
              <a:endParaRPr lang="fr-FR" sz="1050" noProof="0" dirty="0"/>
            </a:p>
          </p:txBody>
        </p:sp>
        <p:sp>
          <p:nvSpPr>
            <p:cNvPr id="39" name="Shape 14">
              <a:extLst>
                <a:ext uri="{FF2B5EF4-FFF2-40B4-BE49-F238E27FC236}">
                  <a16:creationId xmlns:a16="http://schemas.microsoft.com/office/drawing/2014/main" id="{AF2A49C9-81CD-35D0-686E-44DB1E2158D1}"/>
                </a:ext>
              </a:extLst>
            </p:cNvPr>
            <p:cNvSpPr/>
            <p:nvPr/>
          </p:nvSpPr>
          <p:spPr>
            <a:xfrm>
              <a:off x="4588828" y="2057400"/>
              <a:ext cx="685800" cy="685800"/>
            </a:xfrm>
            <a:prstGeom prst="ellipse">
              <a:avLst/>
            </a:prstGeom>
            <a:solidFill>
              <a:srgbClr val="1C7293"/>
            </a:solidFill>
            <a:ln/>
          </p:spPr>
          <p:txBody>
            <a:bodyPr/>
            <a:lstStyle/>
            <a:p>
              <a:endParaRPr lang="fr-FR" sz="1050" noProof="0" dirty="0"/>
            </a:p>
          </p:txBody>
        </p:sp>
        <p:sp>
          <p:nvSpPr>
            <p:cNvPr id="41" name="Text 15">
              <a:extLst>
                <a:ext uri="{FF2B5EF4-FFF2-40B4-BE49-F238E27FC236}">
                  <a16:creationId xmlns:a16="http://schemas.microsoft.com/office/drawing/2014/main" id="{95BC7611-5DF7-A6DA-CF22-00BD64228405}"/>
                </a:ext>
              </a:extLst>
            </p:cNvPr>
            <p:cNvSpPr/>
            <p:nvPr/>
          </p:nvSpPr>
          <p:spPr>
            <a:xfrm>
              <a:off x="4588828" y="2057400"/>
              <a:ext cx="685800" cy="685800"/>
            </a:xfrm>
            <a:prstGeom prst="rect">
              <a:avLst/>
            </a:prstGeom>
            <a:noFill/>
            <a:ln/>
          </p:spPr>
          <p:txBody>
            <a:bodyPr wrap="square" rtlCol="0" anchor="ctr"/>
            <a:lstStyle/>
            <a:p>
              <a:pPr algn="ctr"/>
              <a:r>
                <a:rPr lang="fr-FR" sz="1200" noProof="0" dirty="0">
                  <a:solidFill>
                    <a:srgbClr val="FFFFFF"/>
                  </a:solidFill>
                  <a:latin typeface="Calibri" pitchFamily="34" charset="0"/>
                  <a:ea typeface="Calibri" pitchFamily="34" charset="-122"/>
                  <a:cs typeface="Calibri" pitchFamily="34" charset="-120"/>
                </a:rPr>
                <a:t>⇄</a:t>
              </a:r>
              <a:endParaRPr lang="fr-FR" sz="1200" noProof="0" dirty="0"/>
            </a:p>
          </p:txBody>
        </p:sp>
        <p:sp>
          <p:nvSpPr>
            <p:cNvPr id="43" name="Text 16">
              <a:extLst>
                <a:ext uri="{FF2B5EF4-FFF2-40B4-BE49-F238E27FC236}">
                  <a16:creationId xmlns:a16="http://schemas.microsoft.com/office/drawing/2014/main" id="{487F39E6-549F-25B8-8E8F-6045E27A3414}"/>
                </a:ext>
              </a:extLst>
            </p:cNvPr>
            <p:cNvSpPr/>
            <p:nvPr/>
          </p:nvSpPr>
          <p:spPr>
            <a:xfrm>
              <a:off x="5411788" y="2103120"/>
              <a:ext cx="2255520" cy="594360"/>
            </a:xfrm>
            <a:prstGeom prst="rect">
              <a:avLst/>
            </a:prstGeom>
            <a:noFill/>
            <a:ln/>
          </p:spPr>
          <p:txBody>
            <a:bodyPr wrap="square" rtlCol="0" anchor="ctr"/>
            <a:lstStyle/>
            <a:p>
              <a:r>
                <a:rPr lang="fr-FR" sz="1000" b="1" noProof="0" dirty="0">
                  <a:solidFill>
                    <a:srgbClr val="0B1F3A"/>
                  </a:solidFill>
                  <a:latin typeface="Calibri" pitchFamily="34" charset="0"/>
                  <a:ea typeface="Calibri" pitchFamily="34" charset="-122"/>
                  <a:cs typeface="Calibri" pitchFamily="34" charset="-120"/>
                </a:rPr>
                <a:t>Patrons de communication</a:t>
              </a:r>
              <a:endParaRPr lang="fr-FR" sz="1000" noProof="0" dirty="0"/>
            </a:p>
          </p:txBody>
        </p:sp>
        <p:sp>
          <p:nvSpPr>
            <p:cNvPr id="45" name="Text 17">
              <a:extLst>
                <a:ext uri="{FF2B5EF4-FFF2-40B4-BE49-F238E27FC236}">
                  <a16:creationId xmlns:a16="http://schemas.microsoft.com/office/drawing/2014/main" id="{53DF7592-2087-1A6D-FB81-9ED7C3E19AA7}"/>
                </a:ext>
              </a:extLst>
            </p:cNvPr>
            <p:cNvSpPr/>
            <p:nvPr/>
          </p:nvSpPr>
          <p:spPr>
            <a:xfrm>
              <a:off x="4588828" y="2880360"/>
              <a:ext cx="3032760" cy="502920"/>
            </a:xfrm>
            <a:prstGeom prst="rect">
              <a:avLst/>
            </a:prstGeom>
            <a:noFill/>
            <a:ln/>
          </p:spPr>
          <p:txBody>
            <a:bodyPr wrap="square" rtlCol="0" anchor="t"/>
            <a:lstStyle/>
            <a:p>
              <a:r>
                <a:rPr lang="fr-FR" sz="800" i="1" noProof="0" dirty="0">
                  <a:solidFill>
                    <a:srgbClr val="64748B"/>
                  </a:solidFill>
                  <a:latin typeface="Calibri" pitchFamily="34" charset="0"/>
                  <a:ea typeface="Calibri" pitchFamily="34" charset="-122"/>
                  <a:cs typeface="Calibri" pitchFamily="34" charset="-120"/>
                </a:rPr>
                <a:t>Régissent les échanges d'information entre composants.</a:t>
              </a:r>
              <a:endParaRPr lang="fr-FR" sz="800" noProof="0" dirty="0"/>
            </a:p>
          </p:txBody>
        </p:sp>
        <p:sp>
          <p:nvSpPr>
            <p:cNvPr id="47" name="Shape 18">
              <a:extLst>
                <a:ext uri="{FF2B5EF4-FFF2-40B4-BE49-F238E27FC236}">
                  <a16:creationId xmlns:a16="http://schemas.microsoft.com/office/drawing/2014/main" id="{5C2F7828-1550-1B9B-9684-D695A16495A6}"/>
                </a:ext>
              </a:extLst>
            </p:cNvPr>
            <p:cNvSpPr/>
            <p:nvPr/>
          </p:nvSpPr>
          <p:spPr>
            <a:xfrm>
              <a:off x="4588828" y="3410712"/>
              <a:ext cx="3032760" cy="0"/>
            </a:xfrm>
            <a:prstGeom prst="line">
              <a:avLst/>
            </a:prstGeom>
            <a:noFill/>
            <a:ln w="12700">
              <a:solidFill>
                <a:srgbClr val="DCE7EC"/>
              </a:solidFill>
              <a:prstDash val="solid"/>
            </a:ln>
          </p:spPr>
          <p:txBody>
            <a:bodyPr/>
            <a:lstStyle/>
            <a:p>
              <a:endParaRPr lang="fr-FR" sz="1100" noProof="0" dirty="0"/>
            </a:p>
          </p:txBody>
        </p:sp>
        <p:sp>
          <p:nvSpPr>
            <p:cNvPr id="50" name="Text 19">
              <a:extLst>
                <a:ext uri="{FF2B5EF4-FFF2-40B4-BE49-F238E27FC236}">
                  <a16:creationId xmlns:a16="http://schemas.microsoft.com/office/drawing/2014/main" id="{10227ECB-5360-3CBA-48B8-B4610196752A}"/>
                </a:ext>
              </a:extLst>
            </p:cNvPr>
            <p:cNvSpPr/>
            <p:nvPr/>
          </p:nvSpPr>
          <p:spPr>
            <a:xfrm>
              <a:off x="4588828" y="3520440"/>
              <a:ext cx="3032760" cy="274320"/>
            </a:xfrm>
            <a:prstGeom prst="rect">
              <a:avLst/>
            </a:prstGeom>
            <a:noFill/>
            <a:ln/>
          </p:spPr>
          <p:txBody>
            <a:bodyPr wrap="square" rtlCol="0" anchor="ctr"/>
            <a:lstStyle/>
            <a:p>
              <a:r>
                <a:rPr lang="fr-FR" sz="600" b="1" kern="0" spc="100" noProof="0" dirty="0">
                  <a:solidFill>
                    <a:srgbClr val="1C7293"/>
                  </a:solidFill>
                  <a:latin typeface="Calibri" pitchFamily="34" charset="0"/>
                  <a:ea typeface="Calibri" pitchFamily="34" charset="-122"/>
                  <a:cs typeface="Calibri" pitchFamily="34" charset="-120"/>
                </a:rPr>
                <a:t>EXEMPLES</a:t>
              </a:r>
              <a:endParaRPr lang="fr-FR" sz="600" noProof="0" dirty="0"/>
            </a:p>
          </p:txBody>
        </p:sp>
        <p:sp>
          <p:nvSpPr>
            <p:cNvPr id="52" name="Text 20">
              <a:extLst>
                <a:ext uri="{FF2B5EF4-FFF2-40B4-BE49-F238E27FC236}">
                  <a16:creationId xmlns:a16="http://schemas.microsoft.com/office/drawing/2014/main" id="{87168E8F-1780-BDC5-C5E7-42E7EFAEC85A}"/>
                </a:ext>
              </a:extLst>
            </p:cNvPr>
            <p:cNvSpPr/>
            <p:nvPr/>
          </p:nvSpPr>
          <p:spPr>
            <a:xfrm>
              <a:off x="4588828" y="3840480"/>
              <a:ext cx="3032760" cy="749808"/>
            </a:xfrm>
            <a:prstGeom prst="rect">
              <a:avLst/>
            </a:prstGeom>
            <a:noFill/>
            <a:ln/>
          </p:spPr>
          <p:txBody>
            <a:bodyPr wrap="square" rtlCol="0" anchor="t"/>
            <a:lstStyle/>
            <a:p>
              <a:pPr>
                <a:lnSpc>
                  <a:spcPct val="150000"/>
                </a:lnSpc>
              </a:pPr>
              <a:r>
                <a:rPr lang="fr-FR" sz="700" b="1" noProof="0" dirty="0" err="1">
                  <a:solidFill>
                    <a:srgbClr val="0B1F3A"/>
                  </a:solidFill>
                </a:rPr>
                <a:t>Publish</a:t>
              </a:r>
              <a:r>
                <a:rPr lang="fr-FR" sz="700" b="1" noProof="0" dirty="0">
                  <a:solidFill>
                    <a:srgbClr val="0B1F3A"/>
                  </a:solidFill>
                </a:rPr>
                <a:t>/</a:t>
              </a:r>
              <a:r>
                <a:rPr lang="fr-FR" sz="700" b="1" noProof="0" dirty="0" err="1">
                  <a:solidFill>
                    <a:srgbClr val="0B1F3A"/>
                  </a:solidFill>
                </a:rPr>
                <a:t>Subscribe</a:t>
              </a:r>
              <a:r>
                <a:rPr lang="fr-FR" sz="700" b="1" noProof="0" dirty="0">
                  <a:solidFill>
                    <a:srgbClr val="0B1F3A"/>
                  </a:solidFill>
                </a:rPr>
                <a:t>  </a:t>
              </a:r>
              <a:r>
                <a:rPr lang="fr-FR" sz="600" noProof="0" dirty="0">
                  <a:solidFill>
                    <a:srgbClr val="1E293B"/>
                  </a:solidFill>
                </a:rPr>
                <a:t>— Un émetteur publie un événement sans connaître ses destinataires, qui s'abonnent au sujet — ex. Kafka chez LinkedIn pour diffuser les activités en temps réel.</a:t>
              </a:r>
              <a:endParaRPr lang="fr-FR" sz="700" noProof="0" dirty="0"/>
            </a:p>
          </p:txBody>
        </p:sp>
        <p:sp>
          <p:nvSpPr>
            <p:cNvPr id="54" name="Text 22">
              <a:extLst>
                <a:ext uri="{FF2B5EF4-FFF2-40B4-BE49-F238E27FC236}">
                  <a16:creationId xmlns:a16="http://schemas.microsoft.com/office/drawing/2014/main" id="{6BE7FA55-3C38-B31A-3FEC-329209D49943}"/>
                </a:ext>
              </a:extLst>
            </p:cNvPr>
            <p:cNvSpPr/>
            <p:nvPr/>
          </p:nvSpPr>
          <p:spPr>
            <a:xfrm>
              <a:off x="4565968" y="4917547"/>
              <a:ext cx="3032760" cy="749808"/>
            </a:xfrm>
            <a:prstGeom prst="rect">
              <a:avLst/>
            </a:prstGeom>
            <a:noFill/>
            <a:ln/>
          </p:spPr>
          <p:txBody>
            <a:bodyPr wrap="square" rtlCol="0" anchor="t"/>
            <a:lstStyle/>
            <a:p>
              <a:pPr>
                <a:lnSpc>
                  <a:spcPct val="150000"/>
                </a:lnSpc>
              </a:pPr>
              <a:r>
                <a:rPr lang="fr-FR" sz="700" b="1" noProof="0" dirty="0">
                  <a:solidFill>
                    <a:srgbClr val="0B1F3A"/>
                  </a:solidFill>
                </a:rPr>
                <a:t>API Gateway  </a:t>
              </a:r>
              <a:r>
                <a:rPr lang="fr-FR" sz="600" noProof="0" dirty="0">
                  <a:solidFill>
                    <a:srgbClr val="1E293B"/>
                  </a:solidFill>
                </a:rPr>
                <a:t>— Point d'entrée unique qui route les requêtes et centralise sécurité et limitation de débit — ex. la </a:t>
              </a:r>
              <a:r>
                <a:rPr lang="fr-FR" sz="600" noProof="0" dirty="0" err="1">
                  <a:solidFill>
                    <a:srgbClr val="1E293B"/>
                  </a:solidFill>
                </a:rPr>
                <a:t>gateway</a:t>
              </a:r>
              <a:r>
                <a:rPr lang="fr-FR" sz="600" noProof="0" dirty="0">
                  <a:solidFill>
                    <a:srgbClr val="1E293B"/>
                  </a:solidFill>
                </a:rPr>
                <a:t> placée devant les services internes d'Amazon.</a:t>
              </a:r>
              <a:endParaRPr lang="fr-FR" sz="700" noProof="0" dirty="0"/>
            </a:p>
          </p:txBody>
        </p:sp>
        <p:sp>
          <p:nvSpPr>
            <p:cNvPr id="56" name="Shape 23">
              <a:extLst>
                <a:ext uri="{FF2B5EF4-FFF2-40B4-BE49-F238E27FC236}">
                  <a16:creationId xmlns:a16="http://schemas.microsoft.com/office/drawing/2014/main" id="{DD4EFAEC-E162-86C6-6D40-5B42F75DDB97}"/>
                </a:ext>
              </a:extLst>
            </p:cNvPr>
            <p:cNvSpPr/>
            <p:nvPr/>
          </p:nvSpPr>
          <p:spPr>
            <a:xfrm>
              <a:off x="8124508" y="1783080"/>
              <a:ext cx="3581400" cy="4526280"/>
            </a:xfrm>
            <a:prstGeom prst="roundRect">
              <a:avLst>
                <a:gd name="adj" fmla="val 2043"/>
              </a:avLst>
            </a:prstGeom>
            <a:solidFill>
              <a:srgbClr val="FFFFFF"/>
            </a:solidFill>
            <a:ln w="12700">
              <a:solidFill>
                <a:srgbClr val="DCE7EC"/>
              </a:solidFill>
              <a:prstDash val="solid"/>
            </a:ln>
            <a:effectLst>
              <a:outerShdw blurRad="76200" dist="25400" dir="5400000" algn="bl" rotWithShape="0">
                <a:srgbClr val="222222">
                  <a:alpha val="12000"/>
                </a:srgbClr>
              </a:outerShdw>
            </a:effectLst>
          </p:spPr>
          <p:txBody>
            <a:bodyPr/>
            <a:lstStyle/>
            <a:p>
              <a:endParaRPr lang="fr-FR" sz="1050" noProof="0" dirty="0"/>
            </a:p>
          </p:txBody>
        </p:sp>
        <p:sp>
          <p:nvSpPr>
            <p:cNvPr id="58" name="Shape 24">
              <a:extLst>
                <a:ext uri="{FF2B5EF4-FFF2-40B4-BE49-F238E27FC236}">
                  <a16:creationId xmlns:a16="http://schemas.microsoft.com/office/drawing/2014/main" id="{AE5D7D94-54FF-9357-0623-20D3204B6961}"/>
                </a:ext>
              </a:extLst>
            </p:cNvPr>
            <p:cNvSpPr/>
            <p:nvPr/>
          </p:nvSpPr>
          <p:spPr>
            <a:xfrm>
              <a:off x="8398828" y="2057400"/>
              <a:ext cx="685800" cy="685800"/>
            </a:xfrm>
            <a:prstGeom prst="ellipse">
              <a:avLst/>
            </a:prstGeom>
            <a:solidFill>
              <a:srgbClr val="1C7293"/>
            </a:solidFill>
            <a:ln/>
          </p:spPr>
          <p:txBody>
            <a:bodyPr/>
            <a:lstStyle/>
            <a:p>
              <a:endParaRPr lang="fr-FR" sz="1050" noProof="0" dirty="0"/>
            </a:p>
          </p:txBody>
        </p:sp>
        <p:sp>
          <p:nvSpPr>
            <p:cNvPr id="60" name="Text 25">
              <a:extLst>
                <a:ext uri="{FF2B5EF4-FFF2-40B4-BE49-F238E27FC236}">
                  <a16:creationId xmlns:a16="http://schemas.microsoft.com/office/drawing/2014/main" id="{2FDB3A06-D01D-E29D-77A1-0D68D1827EB2}"/>
                </a:ext>
              </a:extLst>
            </p:cNvPr>
            <p:cNvSpPr/>
            <p:nvPr/>
          </p:nvSpPr>
          <p:spPr>
            <a:xfrm>
              <a:off x="8398828" y="2057400"/>
              <a:ext cx="685800" cy="685800"/>
            </a:xfrm>
            <a:prstGeom prst="rect">
              <a:avLst/>
            </a:prstGeom>
            <a:noFill/>
            <a:ln/>
          </p:spPr>
          <p:txBody>
            <a:bodyPr wrap="square" rtlCol="0" anchor="ctr"/>
            <a:lstStyle/>
            <a:p>
              <a:pPr algn="ctr"/>
              <a:r>
                <a:rPr lang="fr-FR" sz="1200" noProof="0" dirty="0">
                  <a:solidFill>
                    <a:srgbClr val="FFFFFF"/>
                  </a:solidFill>
                  <a:latin typeface="Calibri" pitchFamily="34" charset="0"/>
                  <a:ea typeface="Calibri" pitchFamily="34" charset="-122"/>
                  <a:cs typeface="Calibri" pitchFamily="34" charset="-120"/>
                </a:rPr>
                <a:t>⚙</a:t>
              </a:r>
              <a:endParaRPr lang="fr-FR" sz="1200" noProof="0" dirty="0"/>
            </a:p>
          </p:txBody>
        </p:sp>
        <p:sp>
          <p:nvSpPr>
            <p:cNvPr id="62" name="Text 26">
              <a:extLst>
                <a:ext uri="{FF2B5EF4-FFF2-40B4-BE49-F238E27FC236}">
                  <a16:creationId xmlns:a16="http://schemas.microsoft.com/office/drawing/2014/main" id="{69CFC7C3-2012-6199-6111-492876828135}"/>
                </a:ext>
              </a:extLst>
            </p:cNvPr>
            <p:cNvSpPr/>
            <p:nvPr/>
          </p:nvSpPr>
          <p:spPr>
            <a:xfrm>
              <a:off x="9221788" y="2103120"/>
              <a:ext cx="2255520" cy="594360"/>
            </a:xfrm>
            <a:prstGeom prst="rect">
              <a:avLst/>
            </a:prstGeom>
            <a:noFill/>
            <a:ln/>
          </p:spPr>
          <p:txBody>
            <a:bodyPr wrap="square" rtlCol="0" anchor="ctr"/>
            <a:lstStyle/>
            <a:p>
              <a:r>
                <a:rPr lang="fr-FR" sz="1000" b="1" noProof="0" dirty="0">
                  <a:solidFill>
                    <a:srgbClr val="0B1F3A"/>
                  </a:solidFill>
                  <a:latin typeface="Calibri" pitchFamily="34" charset="0"/>
                  <a:ea typeface="Calibri" pitchFamily="34" charset="-122"/>
                  <a:cs typeface="Calibri" pitchFamily="34" charset="-120"/>
                </a:rPr>
                <a:t>Patrons de traitement</a:t>
              </a:r>
              <a:endParaRPr lang="fr-FR" sz="1000" noProof="0" dirty="0"/>
            </a:p>
          </p:txBody>
        </p:sp>
        <p:sp>
          <p:nvSpPr>
            <p:cNvPr id="64" name="Text 27">
              <a:extLst>
                <a:ext uri="{FF2B5EF4-FFF2-40B4-BE49-F238E27FC236}">
                  <a16:creationId xmlns:a16="http://schemas.microsoft.com/office/drawing/2014/main" id="{601434B5-7A07-AB63-94B8-2E4A8BFB98E0}"/>
                </a:ext>
              </a:extLst>
            </p:cNvPr>
            <p:cNvSpPr/>
            <p:nvPr/>
          </p:nvSpPr>
          <p:spPr>
            <a:xfrm>
              <a:off x="8398828" y="2880360"/>
              <a:ext cx="3032760" cy="502920"/>
            </a:xfrm>
            <a:prstGeom prst="rect">
              <a:avLst/>
            </a:prstGeom>
            <a:noFill/>
            <a:ln/>
          </p:spPr>
          <p:txBody>
            <a:bodyPr wrap="square" rtlCol="0" anchor="t"/>
            <a:lstStyle/>
            <a:p>
              <a:r>
                <a:rPr lang="fr-FR" sz="800" i="1" noProof="0" dirty="0">
                  <a:solidFill>
                    <a:srgbClr val="64748B"/>
                  </a:solidFill>
                  <a:latin typeface="Calibri" pitchFamily="34" charset="0"/>
                  <a:ea typeface="Calibri" pitchFamily="34" charset="-122"/>
                  <a:cs typeface="Calibri" pitchFamily="34" charset="-120"/>
                </a:rPr>
                <a:t>Organisent la logique applicative à l'intérieur d'un composant.</a:t>
              </a:r>
              <a:endParaRPr lang="fr-FR" sz="800" noProof="0" dirty="0"/>
            </a:p>
          </p:txBody>
        </p:sp>
        <p:sp>
          <p:nvSpPr>
            <p:cNvPr id="66" name="Shape 28">
              <a:extLst>
                <a:ext uri="{FF2B5EF4-FFF2-40B4-BE49-F238E27FC236}">
                  <a16:creationId xmlns:a16="http://schemas.microsoft.com/office/drawing/2014/main" id="{99172D88-7D2F-CF70-C052-4B0EB18BA76F}"/>
                </a:ext>
              </a:extLst>
            </p:cNvPr>
            <p:cNvSpPr/>
            <p:nvPr/>
          </p:nvSpPr>
          <p:spPr>
            <a:xfrm>
              <a:off x="8398828" y="3410712"/>
              <a:ext cx="3032760" cy="0"/>
            </a:xfrm>
            <a:prstGeom prst="line">
              <a:avLst/>
            </a:prstGeom>
            <a:noFill/>
            <a:ln w="12700">
              <a:solidFill>
                <a:srgbClr val="DCE7EC"/>
              </a:solidFill>
              <a:prstDash val="solid"/>
            </a:ln>
          </p:spPr>
          <p:txBody>
            <a:bodyPr/>
            <a:lstStyle/>
            <a:p>
              <a:endParaRPr lang="fr-FR" sz="1100" noProof="0" dirty="0"/>
            </a:p>
          </p:txBody>
        </p:sp>
        <p:sp>
          <p:nvSpPr>
            <p:cNvPr id="68" name="Text 29">
              <a:extLst>
                <a:ext uri="{FF2B5EF4-FFF2-40B4-BE49-F238E27FC236}">
                  <a16:creationId xmlns:a16="http://schemas.microsoft.com/office/drawing/2014/main" id="{4519B286-2C35-2581-FBA5-6344DC822482}"/>
                </a:ext>
              </a:extLst>
            </p:cNvPr>
            <p:cNvSpPr/>
            <p:nvPr/>
          </p:nvSpPr>
          <p:spPr>
            <a:xfrm>
              <a:off x="8398828" y="3520440"/>
              <a:ext cx="3032760" cy="274320"/>
            </a:xfrm>
            <a:prstGeom prst="rect">
              <a:avLst/>
            </a:prstGeom>
            <a:noFill/>
            <a:ln/>
          </p:spPr>
          <p:txBody>
            <a:bodyPr wrap="square" rtlCol="0" anchor="ctr"/>
            <a:lstStyle/>
            <a:p>
              <a:r>
                <a:rPr lang="fr-FR" sz="600" b="1" kern="0" spc="100" noProof="0" dirty="0">
                  <a:solidFill>
                    <a:srgbClr val="1C7293"/>
                  </a:solidFill>
                  <a:latin typeface="Calibri" pitchFamily="34" charset="0"/>
                  <a:ea typeface="Calibri" pitchFamily="34" charset="-122"/>
                  <a:cs typeface="Calibri" pitchFamily="34" charset="-120"/>
                </a:rPr>
                <a:t>EXEMPLES</a:t>
              </a:r>
              <a:endParaRPr lang="fr-FR" sz="600" noProof="0" dirty="0"/>
            </a:p>
          </p:txBody>
        </p:sp>
        <p:sp>
          <p:nvSpPr>
            <p:cNvPr id="70" name="Text 30">
              <a:extLst>
                <a:ext uri="{FF2B5EF4-FFF2-40B4-BE49-F238E27FC236}">
                  <a16:creationId xmlns:a16="http://schemas.microsoft.com/office/drawing/2014/main" id="{2560B6F5-0112-DE96-62D3-C53741EA83BD}"/>
                </a:ext>
              </a:extLst>
            </p:cNvPr>
            <p:cNvSpPr/>
            <p:nvPr/>
          </p:nvSpPr>
          <p:spPr>
            <a:xfrm>
              <a:off x="8398828" y="3840480"/>
              <a:ext cx="3032760" cy="749808"/>
            </a:xfrm>
            <a:prstGeom prst="rect">
              <a:avLst/>
            </a:prstGeom>
            <a:noFill/>
            <a:ln/>
          </p:spPr>
          <p:txBody>
            <a:bodyPr wrap="square" rtlCol="0" anchor="t"/>
            <a:lstStyle/>
            <a:p>
              <a:pPr>
                <a:lnSpc>
                  <a:spcPct val="150000"/>
                </a:lnSpc>
              </a:pPr>
              <a:r>
                <a:rPr lang="fr-FR" sz="700" b="1" noProof="0" dirty="0">
                  <a:solidFill>
                    <a:srgbClr val="0B1F3A"/>
                  </a:solidFill>
                </a:rPr>
                <a:t>MVC (Modèle-Vue-Contrôleur)  </a:t>
              </a:r>
              <a:r>
                <a:rPr lang="fr-FR" sz="600" noProof="0" dirty="0">
                  <a:solidFill>
                    <a:srgbClr val="1E293B"/>
                  </a:solidFill>
                </a:rPr>
                <a:t>— Sépare données, affichage et logique de contrôle — ex. Spring MVC, Ruby on Rails.</a:t>
              </a:r>
              <a:endParaRPr lang="fr-FR" sz="700" noProof="0" dirty="0"/>
            </a:p>
          </p:txBody>
        </p:sp>
        <p:sp>
          <p:nvSpPr>
            <p:cNvPr id="72" name="Text 31">
              <a:extLst>
                <a:ext uri="{FF2B5EF4-FFF2-40B4-BE49-F238E27FC236}">
                  <a16:creationId xmlns:a16="http://schemas.microsoft.com/office/drawing/2014/main" id="{FB312339-2F2D-E852-5A2E-A65D5F10B207}"/>
                </a:ext>
              </a:extLst>
            </p:cNvPr>
            <p:cNvSpPr/>
            <p:nvPr/>
          </p:nvSpPr>
          <p:spPr>
            <a:xfrm>
              <a:off x="8398828" y="4917547"/>
              <a:ext cx="3032760" cy="749808"/>
            </a:xfrm>
            <a:prstGeom prst="rect">
              <a:avLst/>
            </a:prstGeom>
            <a:noFill/>
            <a:ln/>
          </p:spPr>
          <p:txBody>
            <a:bodyPr wrap="square" rtlCol="0" anchor="t"/>
            <a:lstStyle/>
            <a:p>
              <a:pPr>
                <a:lnSpc>
                  <a:spcPct val="150000"/>
                </a:lnSpc>
              </a:pPr>
              <a:r>
                <a:rPr lang="fr-FR" sz="700" b="1" noProof="0" dirty="0">
                  <a:solidFill>
                    <a:srgbClr val="0B1F3A"/>
                  </a:solidFill>
                </a:rPr>
                <a:t>CQRS  </a:t>
              </a:r>
              <a:r>
                <a:rPr lang="fr-FR" sz="600" noProof="0" dirty="0">
                  <a:solidFill>
                    <a:srgbClr val="1E293B"/>
                  </a:solidFill>
                </a:rPr>
                <a:t>— Sépare lecture (Query) et écriture (Command) pour optimiser chaque flux séparément — ex. un tableau de bord très consulté mais peu mis à jour.</a:t>
              </a:r>
              <a:endParaRPr lang="fr-FR" sz="700" noProof="0" dirty="0"/>
            </a:p>
          </p:txBody>
        </p:sp>
      </p:grpSp>
    </p:spTree>
    <p:extLst>
      <p:ext uri="{BB962C8B-B14F-4D97-AF65-F5344CB8AC3E}">
        <p14:creationId xmlns:p14="http://schemas.microsoft.com/office/powerpoint/2010/main" val="4693920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A894958-AF53-5808-0B6B-8ADD1AA297EC}"/>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A3579D48-9B3A-DD27-8118-8303F372860B}"/>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E0088B2B-76CD-9B2B-4B3B-EA11BACCFF85}"/>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4A85D8F2-792E-319D-855F-B69ECDA9A598}"/>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6778D72C-E219-5DBD-7AAD-9DCAEF0206FB}"/>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6686019E-7504-9255-B16A-FC12D76AAFA5}"/>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A470725B-361E-E8E4-5F5F-6A5B08628EF9}"/>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08429674-8E17-41CC-4604-34F701B76487}"/>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Architecture Pattern – Le patron MVC (Model, View, Controller)</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D9A21139-29BE-0C3D-BBFF-B1FF83865A84}"/>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61DD6167-342A-FD09-3E3B-41265FC1B40F}"/>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CECC99A8-554E-6119-915B-ABB32F0598BB}"/>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04ED7396-3A90-8B3C-76C7-C2E127E447B0}"/>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27</a:t>
            </a:r>
            <a:endParaRPr lang="en-US" sz="900" dirty="0"/>
          </a:p>
        </p:txBody>
      </p:sp>
      <p:pic>
        <p:nvPicPr>
          <p:cNvPr id="18" name="object 2">
            <a:extLst>
              <a:ext uri="{FF2B5EF4-FFF2-40B4-BE49-F238E27FC236}">
                <a16:creationId xmlns:a16="http://schemas.microsoft.com/office/drawing/2014/main" id="{D5D1C99C-F8CF-E5D3-75CB-CEA73E3254D0}"/>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44AF1F9F-3B1D-4360-095C-AF6C45161848}"/>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7" name="Text 4">
            <a:extLst>
              <a:ext uri="{FF2B5EF4-FFF2-40B4-BE49-F238E27FC236}">
                <a16:creationId xmlns:a16="http://schemas.microsoft.com/office/drawing/2014/main" id="{A4507814-B05A-2190-B395-18D4760A8C7B}"/>
              </a:ext>
            </a:extLst>
          </p:cNvPr>
          <p:cNvSpPr/>
          <p:nvPr/>
        </p:nvSpPr>
        <p:spPr>
          <a:xfrm>
            <a:off x="340941" y="707591"/>
            <a:ext cx="8046720" cy="3710920"/>
          </a:xfrm>
          <a:prstGeom prst="rect">
            <a:avLst/>
          </a:prstGeom>
          <a:noFill/>
          <a:ln/>
        </p:spPr>
        <p:txBody>
          <a:bodyPr wrap="square" rtlCol="0" anchor="t"/>
          <a:lstStyle/>
          <a:p>
            <a:pPr algn="just">
              <a:lnSpc>
                <a:spcPct val="150000"/>
              </a:lnSpc>
            </a:pPr>
            <a:r>
              <a:rPr lang="en-US" sz="1100" dirty="0" err="1"/>
              <a:t>Séparer</a:t>
            </a:r>
            <a:r>
              <a:rPr lang="en-US" sz="1100" dirty="0"/>
              <a:t> les données (</a:t>
            </a:r>
            <a:r>
              <a:rPr lang="en-US" sz="1100" dirty="0" err="1"/>
              <a:t>Modèle</a:t>
            </a:r>
            <a:r>
              <a:rPr lang="en-US" sz="1100" dirty="0"/>
              <a:t>), </a:t>
            </a:r>
            <a:r>
              <a:rPr lang="en-US" sz="1100" dirty="0" err="1"/>
              <a:t>l'affichage</a:t>
            </a:r>
            <a:r>
              <a:rPr lang="en-US" sz="1100" dirty="0"/>
              <a:t> (Vue) et la </a:t>
            </a:r>
            <a:r>
              <a:rPr lang="en-US" sz="1100" dirty="0" err="1"/>
              <a:t>logique</a:t>
            </a:r>
            <a:r>
              <a:rPr lang="en-US" sz="1100" dirty="0"/>
              <a:t> de </a:t>
            </a:r>
            <a:r>
              <a:rPr lang="en-US" sz="1100" dirty="0" err="1"/>
              <a:t>commande</a:t>
            </a:r>
            <a:r>
              <a:rPr lang="en-US" sz="1100" dirty="0"/>
              <a:t> (</a:t>
            </a:r>
            <a:r>
              <a:rPr lang="en-US" sz="1100" dirty="0" err="1"/>
              <a:t>Contrôleur</a:t>
            </a:r>
            <a:r>
              <a:rPr lang="en-US" sz="1100" dirty="0"/>
              <a:t>) pour faire </a:t>
            </a:r>
            <a:r>
              <a:rPr lang="en-US" sz="1100" dirty="0" err="1"/>
              <a:t>évoluer</a:t>
            </a:r>
            <a:r>
              <a:rPr lang="en-US" sz="1100" dirty="0"/>
              <a:t> chacun </a:t>
            </a:r>
            <a:r>
              <a:rPr lang="en-US" sz="1100" dirty="0" err="1"/>
              <a:t>indépendamment</a:t>
            </a:r>
            <a:r>
              <a:rPr lang="en-US" sz="1100" dirty="0"/>
              <a:t>.</a:t>
            </a:r>
          </a:p>
          <a:p>
            <a:pPr algn="just">
              <a:lnSpc>
                <a:spcPct val="150000"/>
              </a:lnSpc>
            </a:pPr>
            <a:r>
              <a:rPr lang="en-US" sz="1100" dirty="0"/>
              <a:t>Principe : </a:t>
            </a:r>
          </a:p>
          <a:p>
            <a:pPr marL="342900" indent="-342900">
              <a:lnSpc>
                <a:spcPct val="150000"/>
              </a:lnSpc>
              <a:spcAft>
                <a:spcPts val="1000"/>
              </a:spcAft>
              <a:buSzPct val="100000"/>
              <a:buChar char="•"/>
            </a:pPr>
            <a:r>
              <a:rPr lang="en-US" sz="1100" b="1" dirty="0">
                <a:solidFill>
                  <a:srgbClr val="232323"/>
                </a:solidFill>
                <a:latin typeface="Calibri" pitchFamily="34" charset="0"/>
                <a:ea typeface="Calibri" pitchFamily="34" charset="-122"/>
                <a:cs typeface="Calibri" pitchFamily="34" charset="-120"/>
              </a:rPr>
              <a:t>Le </a:t>
            </a:r>
            <a:r>
              <a:rPr lang="en-US" sz="1100" b="1" dirty="0" err="1">
                <a:solidFill>
                  <a:srgbClr val="232323"/>
                </a:solidFill>
                <a:latin typeface="Calibri" pitchFamily="34" charset="0"/>
                <a:ea typeface="Calibri" pitchFamily="34" charset="-122"/>
                <a:cs typeface="Calibri" pitchFamily="34" charset="-120"/>
              </a:rPr>
              <a:t>Modèle</a:t>
            </a:r>
            <a:r>
              <a:rPr lang="en-US" sz="1100" b="1" dirty="0">
                <a:solidFill>
                  <a:srgbClr val="232323"/>
                </a:solidFill>
                <a:latin typeface="Calibri" pitchFamily="34" charset="0"/>
                <a:ea typeface="Calibri" pitchFamily="34" charset="-122"/>
                <a:cs typeface="Calibri" pitchFamily="34" charset="-120"/>
              </a:rPr>
              <a:t> (Model) </a:t>
            </a:r>
            <a:r>
              <a:rPr lang="en-US" sz="1100" dirty="0" err="1">
                <a:solidFill>
                  <a:srgbClr val="232323"/>
                </a:solidFill>
                <a:latin typeface="Calibri" pitchFamily="34" charset="0"/>
                <a:ea typeface="Calibri" pitchFamily="34" charset="-122"/>
                <a:cs typeface="Calibri" pitchFamily="34" charset="-120"/>
              </a:rPr>
              <a:t>porte</a:t>
            </a:r>
            <a:r>
              <a:rPr lang="en-US" sz="1100" dirty="0">
                <a:solidFill>
                  <a:srgbClr val="232323"/>
                </a:solidFill>
                <a:latin typeface="Calibri" pitchFamily="34" charset="0"/>
                <a:ea typeface="Calibri" pitchFamily="34" charset="-122"/>
                <a:cs typeface="Calibri" pitchFamily="34" charset="-120"/>
              </a:rPr>
              <a:t> les données et la </a:t>
            </a:r>
            <a:r>
              <a:rPr lang="en-US" sz="1100" dirty="0" err="1">
                <a:solidFill>
                  <a:srgbClr val="232323"/>
                </a:solidFill>
                <a:latin typeface="Calibri" pitchFamily="34" charset="0"/>
                <a:ea typeface="Calibri" pitchFamily="34" charset="-122"/>
                <a:cs typeface="Calibri" pitchFamily="34" charset="-120"/>
              </a:rPr>
              <a:t>logique</a:t>
            </a:r>
            <a:r>
              <a:rPr lang="en-US" sz="1100" dirty="0">
                <a:solidFill>
                  <a:srgbClr val="232323"/>
                </a:solidFill>
                <a:latin typeface="Calibri" pitchFamily="34" charset="0"/>
                <a:ea typeface="Calibri" pitchFamily="34" charset="-122"/>
                <a:cs typeface="Calibri" pitchFamily="34" charset="-120"/>
              </a:rPr>
              <a:t> métier ; il ne </a:t>
            </a:r>
            <a:r>
              <a:rPr lang="en-US" sz="1100" dirty="0" err="1">
                <a:solidFill>
                  <a:srgbClr val="232323"/>
                </a:solidFill>
                <a:latin typeface="Calibri" pitchFamily="34" charset="0"/>
                <a:ea typeface="Calibri" pitchFamily="34" charset="-122"/>
                <a:cs typeface="Calibri" pitchFamily="34" charset="-120"/>
              </a:rPr>
              <a:t>connaît</a:t>
            </a:r>
            <a:r>
              <a:rPr lang="en-US" sz="1100" dirty="0">
                <a:solidFill>
                  <a:srgbClr val="232323"/>
                </a:solidFill>
                <a:latin typeface="Calibri" pitchFamily="34" charset="0"/>
                <a:ea typeface="Calibri" pitchFamily="34" charset="-122"/>
                <a:cs typeface="Calibri" pitchFamily="34" charset="-120"/>
              </a:rPr>
              <a:t> </a:t>
            </a:r>
            <a:r>
              <a:rPr lang="en-US" sz="1100" dirty="0" err="1">
                <a:solidFill>
                  <a:srgbClr val="232323"/>
                </a:solidFill>
                <a:latin typeface="Calibri" pitchFamily="34" charset="0"/>
                <a:ea typeface="Calibri" pitchFamily="34" charset="-122"/>
                <a:cs typeface="Calibri" pitchFamily="34" charset="-120"/>
              </a:rPr>
              <a:t>ni</a:t>
            </a:r>
            <a:r>
              <a:rPr lang="en-US" sz="1100" dirty="0">
                <a:solidFill>
                  <a:srgbClr val="232323"/>
                </a:solidFill>
                <a:latin typeface="Calibri" pitchFamily="34" charset="0"/>
                <a:ea typeface="Calibri" pitchFamily="34" charset="-122"/>
                <a:cs typeface="Calibri" pitchFamily="34" charset="-120"/>
              </a:rPr>
              <a:t> la Vue </a:t>
            </a:r>
            <a:r>
              <a:rPr lang="en-US" sz="1100" dirty="0" err="1">
                <a:solidFill>
                  <a:srgbClr val="232323"/>
                </a:solidFill>
                <a:latin typeface="Calibri" pitchFamily="34" charset="0"/>
                <a:ea typeface="Calibri" pitchFamily="34" charset="-122"/>
                <a:cs typeface="Calibri" pitchFamily="34" charset="-120"/>
              </a:rPr>
              <a:t>ni</a:t>
            </a:r>
            <a:r>
              <a:rPr lang="en-US" sz="1100" dirty="0">
                <a:solidFill>
                  <a:srgbClr val="232323"/>
                </a:solidFill>
                <a:latin typeface="Calibri" pitchFamily="34" charset="0"/>
                <a:ea typeface="Calibri" pitchFamily="34" charset="-122"/>
                <a:cs typeface="Calibri" pitchFamily="34" charset="-120"/>
              </a:rPr>
              <a:t> le </a:t>
            </a:r>
            <a:r>
              <a:rPr lang="en-US" sz="1100" dirty="0" err="1">
                <a:solidFill>
                  <a:srgbClr val="232323"/>
                </a:solidFill>
                <a:latin typeface="Calibri" pitchFamily="34" charset="0"/>
                <a:ea typeface="Calibri" pitchFamily="34" charset="-122"/>
                <a:cs typeface="Calibri" pitchFamily="34" charset="-120"/>
              </a:rPr>
              <a:t>Contrôleur</a:t>
            </a:r>
            <a:r>
              <a:rPr lang="en-US" sz="1100" dirty="0">
                <a:solidFill>
                  <a:srgbClr val="232323"/>
                </a:solidFill>
                <a:latin typeface="Calibri" pitchFamily="34" charset="0"/>
                <a:ea typeface="Calibri" pitchFamily="34" charset="-122"/>
                <a:cs typeface="Calibri" pitchFamily="34" charset="-120"/>
              </a:rPr>
              <a:t>.</a:t>
            </a:r>
            <a:endParaRPr lang="en-US" sz="1100" dirty="0"/>
          </a:p>
          <a:p>
            <a:pPr marL="342900" indent="-342900">
              <a:spcAft>
                <a:spcPts val="1000"/>
              </a:spcAft>
              <a:buSzPct val="100000"/>
              <a:buChar char="•"/>
            </a:pPr>
            <a:r>
              <a:rPr lang="en-US" sz="1100" b="1" dirty="0">
                <a:solidFill>
                  <a:srgbClr val="232323"/>
                </a:solidFill>
                <a:latin typeface="Calibri" pitchFamily="34" charset="0"/>
                <a:ea typeface="Calibri" pitchFamily="34" charset="-122"/>
                <a:cs typeface="Calibri" pitchFamily="34" charset="-120"/>
              </a:rPr>
              <a:t>La Vue (View)</a:t>
            </a:r>
            <a:r>
              <a:rPr lang="en-US" sz="1100" dirty="0">
                <a:solidFill>
                  <a:srgbClr val="232323"/>
                </a:solidFill>
                <a:latin typeface="Calibri" pitchFamily="34" charset="0"/>
                <a:ea typeface="Calibri" pitchFamily="34" charset="-122"/>
                <a:cs typeface="Calibri" pitchFamily="34" charset="-120"/>
              </a:rPr>
              <a:t> affiche </a:t>
            </a:r>
            <a:r>
              <a:rPr lang="en-US" sz="1100" dirty="0" err="1">
                <a:solidFill>
                  <a:srgbClr val="232323"/>
                </a:solidFill>
                <a:latin typeface="Calibri" pitchFamily="34" charset="0"/>
                <a:ea typeface="Calibri" pitchFamily="34" charset="-122"/>
                <a:cs typeface="Calibri" pitchFamily="34" charset="-120"/>
              </a:rPr>
              <a:t>l'état</a:t>
            </a:r>
            <a:r>
              <a:rPr lang="en-US" sz="1100" dirty="0">
                <a:solidFill>
                  <a:srgbClr val="232323"/>
                </a:solidFill>
                <a:latin typeface="Calibri" pitchFamily="34" charset="0"/>
                <a:ea typeface="Calibri" pitchFamily="34" charset="-122"/>
                <a:cs typeface="Calibri" pitchFamily="34" charset="-120"/>
              </a:rPr>
              <a:t> du </a:t>
            </a:r>
            <a:r>
              <a:rPr lang="en-US" sz="1100" dirty="0" err="1">
                <a:solidFill>
                  <a:srgbClr val="232323"/>
                </a:solidFill>
                <a:latin typeface="Calibri" pitchFamily="34" charset="0"/>
                <a:ea typeface="Calibri" pitchFamily="34" charset="-122"/>
                <a:cs typeface="Calibri" pitchFamily="34" charset="-120"/>
              </a:rPr>
              <a:t>modèle</a:t>
            </a:r>
            <a:r>
              <a:rPr lang="en-US" sz="1100" dirty="0">
                <a:solidFill>
                  <a:srgbClr val="232323"/>
                </a:solidFill>
                <a:latin typeface="Calibri" pitchFamily="34" charset="0"/>
                <a:ea typeface="Calibri" pitchFamily="34" charset="-122"/>
                <a:cs typeface="Calibri" pitchFamily="34" charset="-120"/>
              </a:rPr>
              <a:t> à </a:t>
            </a:r>
            <a:r>
              <a:rPr lang="en-US" sz="1100" dirty="0" err="1">
                <a:solidFill>
                  <a:srgbClr val="232323"/>
                </a:solidFill>
                <a:latin typeface="Calibri" pitchFamily="34" charset="0"/>
                <a:ea typeface="Calibri" pitchFamily="34" charset="-122"/>
                <a:cs typeface="Calibri" pitchFamily="34" charset="-120"/>
              </a:rPr>
              <a:t>l'utilisateur</a:t>
            </a:r>
            <a:r>
              <a:rPr lang="en-US" sz="1100" dirty="0">
                <a:solidFill>
                  <a:srgbClr val="232323"/>
                </a:solidFill>
                <a:latin typeface="Calibri" pitchFamily="34" charset="0"/>
                <a:ea typeface="Calibri" pitchFamily="34" charset="-122"/>
                <a:cs typeface="Calibri" pitchFamily="34" charset="-120"/>
              </a:rPr>
              <a:t>, sans </a:t>
            </a:r>
            <a:r>
              <a:rPr lang="en-US" sz="1100" dirty="0" err="1">
                <a:solidFill>
                  <a:srgbClr val="232323"/>
                </a:solidFill>
                <a:latin typeface="Calibri" pitchFamily="34" charset="0"/>
                <a:ea typeface="Calibri" pitchFamily="34" charset="-122"/>
                <a:cs typeface="Calibri" pitchFamily="34" charset="-120"/>
              </a:rPr>
              <a:t>contenir</a:t>
            </a:r>
            <a:r>
              <a:rPr lang="en-US" sz="1100" dirty="0">
                <a:solidFill>
                  <a:srgbClr val="232323"/>
                </a:solidFill>
                <a:latin typeface="Calibri" pitchFamily="34" charset="0"/>
                <a:ea typeface="Calibri" pitchFamily="34" charset="-122"/>
                <a:cs typeface="Calibri" pitchFamily="34" charset="-120"/>
              </a:rPr>
              <a:t> de </a:t>
            </a:r>
            <a:r>
              <a:rPr lang="en-US" sz="1100" dirty="0" err="1">
                <a:solidFill>
                  <a:srgbClr val="232323"/>
                </a:solidFill>
                <a:latin typeface="Calibri" pitchFamily="34" charset="0"/>
                <a:ea typeface="Calibri" pitchFamily="34" charset="-122"/>
                <a:cs typeface="Calibri" pitchFamily="34" charset="-120"/>
              </a:rPr>
              <a:t>logique</a:t>
            </a:r>
            <a:r>
              <a:rPr lang="en-US" sz="1100" dirty="0">
                <a:solidFill>
                  <a:srgbClr val="232323"/>
                </a:solidFill>
                <a:latin typeface="Calibri" pitchFamily="34" charset="0"/>
                <a:ea typeface="Calibri" pitchFamily="34" charset="-122"/>
                <a:cs typeface="Calibri" pitchFamily="34" charset="-120"/>
              </a:rPr>
              <a:t> métier.</a:t>
            </a:r>
            <a:endParaRPr lang="en-US" sz="1100" dirty="0"/>
          </a:p>
          <a:p>
            <a:pPr marL="342900" indent="-342900">
              <a:spcAft>
                <a:spcPts val="1000"/>
              </a:spcAft>
              <a:buSzPct val="100000"/>
              <a:buChar char="•"/>
            </a:pPr>
            <a:r>
              <a:rPr lang="en-US" sz="1100" b="1" dirty="0">
                <a:solidFill>
                  <a:srgbClr val="232323"/>
                </a:solidFill>
                <a:latin typeface="Calibri" pitchFamily="34" charset="0"/>
                <a:ea typeface="Calibri" pitchFamily="34" charset="-122"/>
                <a:cs typeface="Calibri" pitchFamily="34" charset="-120"/>
              </a:rPr>
              <a:t>Le </a:t>
            </a:r>
            <a:r>
              <a:rPr lang="en-US" sz="1100" b="1" dirty="0" err="1">
                <a:solidFill>
                  <a:srgbClr val="232323"/>
                </a:solidFill>
                <a:latin typeface="Calibri" pitchFamily="34" charset="0"/>
                <a:ea typeface="Calibri" pitchFamily="34" charset="-122"/>
                <a:cs typeface="Calibri" pitchFamily="34" charset="-120"/>
              </a:rPr>
              <a:t>Contrôleur</a:t>
            </a:r>
            <a:r>
              <a:rPr lang="en-US" sz="1100" b="1" dirty="0">
                <a:solidFill>
                  <a:srgbClr val="232323"/>
                </a:solidFill>
                <a:latin typeface="Calibri" pitchFamily="34" charset="0"/>
                <a:ea typeface="Calibri" pitchFamily="34" charset="-122"/>
                <a:cs typeface="Calibri" pitchFamily="34" charset="-120"/>
              </a:rPr>
              <a:t> (Controller)</a:t>
            </a:r>
            <a:r>
              <a:rPr lang="en-US" sz="1100" dirty="0">
                <a:solidFill>
                  <a:srgbClr val="232323"/>
                </a:solidFill>
                <a:latin typeface="Calibri" pitchFamily="34" charset="0"/>
                <a:ea typeface="Calibri" pitchFamily="34" charset="-122"/>
                <a:cs typeface="Calibri" pitchFamily="34" charset="-120"/>
              </a:rPr>
              <a:t> </a:t>
            </a:r>
            <a:r>
              <a:rPr lang="en-US" sz="1100" dirty="0" err="1">
                <a:solidFill>
                  <a:srgbClr val="232323"/>
                </a:solidFill>
                <a:latin typeface="Calibri" pitchFamily="34" charset="0"/>
                <a:ea typeface="Calibri" pitchFamily="34" charset="-122"/>
                <a:cs typeface="Calibri" pitchFamily="34" charset="-120"/>
              </a:rPr>
              <a:t>reçoit</a:t>
            </a:r>
            <a:r>
              <a:rPr lang="en-US" sz="1100" dirty="0">
                <a:solidFill>
                  <a:srgbClr val="232323"/>
                </a:solidFill>
                <a:latin typeface="Calibri" pitchFamily="34" charset="0"/>
                <a:ea typeface="Calibri" pitchFamily="34" charset="-122"/>
                <a:cs typeface="Calibri" pitchFamily="34" charset="-120"/>
              </a:rPr>
              <a:t> les actions de </a:t>
            </a:r>
            <a:r>
              <a:rPr lang="en-US" sz="1100" dirty="0" err="1">
                <a:solidFill>
                  <a:srgbClr val="232323"/>
                </a:solidFill>
                <a:latin typeface="Calibri" pitchFamily="34" charset="0"/>
                <a:ea typeface="Calibri" pitchFamily="34" charset="-122"/>
                <a:cs typeface="Calibri" pitchFamily="34" charset="-120"/>
              </a:rPr>
              <a:t>l'utilisateur</a:t>
            </a:r>
            <a:r>
              <a:rPr lang="en-US" sz="1100" dirty="0">
                <a:solidFill>
                  <a:srgbClr val="232323"/>
                </a:solidFill>
                <a:latin typeface="Calibri" pitchFamily="34" charset="0"/>
                <a:ea typeface="Calibri" pitchFamily="34" charset="-122"/>
                <a:cs typeface="Calibri" pitchFamily="34" charset="-120"/>
              </a:rPr>
              <a:t>, met à jour le </a:t>
            </a:r>
            <a:r>
              <a:rPr lang="en-US" sz="1100" dirty="0" err="1">
                <a:solidFill>
                  <a:srgbClr val="232323"/>
                </a:solidFill>
                <a:latin typeface="Calibri" pitchFamily="34" charset="0"/>
                <a:ea typeface="Calibri" pitchFamily="34" charset="-122"/>
                <a:cs typeface="Calibri" pitchFamily="34" charset="-120"/>
              </a:rPr>
              <a:t>modèle</a:t>
            </a:r>
            <a:r>
              <a:rPr lang="en-US" sz="1100" dirty="0">
                <a:solidFill>
                  <a:srgbClr val="232323"/>
                </a:solidFill>
                <a:latin typeface="Calibri" pitchFamily="34" charset="0"/>
                <a:ea typeface="Calibri" pitchFamily="34" charset="-122"/>
                <a:cs typeface="Calibri" pitchFamily="34" charset="-120"/>
              </a:rPr>
              <a:t>, </a:t>
            </a:r>
            <a:r>
              <a:rPr lang="en-US" sz="1100" dirty="0" err="1">
                <a:solidFill>
                  <a:srgbClr val="232323"/>
                </a:solidFill>
                <a:latin typeface="Calibri" pitchFamily="34" charset="0"/>
                <a:ea typeface="Calibri" pitchFamily="34" charset="-122"/>
                <a:cs typeface="Calibri" pitchFamily="34" charset="-120"/>
              </a:rPr>
              <a:t>puis</a:t>
            </a:r>
            <a:r>
              <a:rPr lang="en-US" sz="1100" dirty="0">
                <a:solidFill>
                  <a:srgbClr val="232323"/>
                </a:solidFill>
                <a:latin typeface="Calibri" pitchFamily="34" charset="0"/>
                <a:ea typeface="Calibri" pitchFamily="34" charset="-122"/>
                <a:cs typeface="Calibri" pitchFamily="34" charset="-120"/>
              </a:rPr>
              <a:t> </a:t>
            </a:r>
            <a:r>
              <a:rPr lang="en-US" sz="1100" dirty="0" err="1">
                <a:solidFill>
                  <a:srgbClr val="232323"/>
                </a:solidFill>
                <a:latin typeface="Calibri" pitchFamily="34" charset="0"/>
                <a:ea typeface="Calibri" pitchFamily="34" charset="-122"/>
                <a:cs typeface="Calibri" pitchFamily="34" charset="-120"/>
              </a:rPr>
              <a:t>choisit</a:t>
            </a:r>
            <a:r>
              <a:rPr lang="en-US" sz="1100" dirty="0">
                <a:solidFill>
                  <a:srgbClr val="232323"/>
                </a:solidFill>
                <a:latin typeface="Calibri" pitchFamily="34" charset="0"/>
                <a:ea typeface="Calibri" pitchFamily="34" charset="-122"/>
                <a:cs typeface="Calibri" pitchFamily="34" charset="-120"/>
              </a:rPr>
              <a:t> la </a:t>
            </a:r>
            <a:r>
              <a:rPr lang="en-US" sz="1100" dirty="0" err="1">
                <a:solidFill>
                  <a:srgbClr val="232323"/>
                </a:solidFill>
                <a:latin typeface="Calibri" pitchFamily="34" charset="0"/>
                <a:ea typeface="Calibri" pitchFamily="34" charset="-122"/>
                <a:cs typeface="Calibri" pitchFamily="34" charset="-120"/>
              </a:rPr>
              <a:t>vue</a:t>
            </a:r>
            <a:r>
              <a:rPr lang="en-US" sz="1100" dirty="0">
                <a:solidFill>
                  <a:srgbClr val="232323"/>
                </a:solidFill>
                <a:latin typeface="Calibri" pitchFamily="34" charset="0"/>
                <a:ea typeface="Calibri" pitchFamily="34" charset="-122"/>
                <a:cs typeface="Calibri" pitchFamily="34" charset="-120"/>
              </a:rPr>
              <a:t> à </a:t>
            </a:r>
            <a:r>
              <a:rPr lang="en-US" sz="1100" dirty="0" err="1">
                <a:solidFill>
                  <a:srgbClr val="232323"/>
                </a:solidFill>
                <a:latin typeface="Calibri" pitchFamily="34" charset="0"/>
                <a:ea typeface="Calibri" pitchFamily="34" charset="-122"/>
                <a:cs typeface="Calibri" pitchFamily="34" charset="-120"/>
              </a:rPr>
              <a:t>afficher</a:t>
            </a:r>
            <a:r>
              <a:rPr lang="en-US" sz="1100" dirty="0">
                <a:solidFill>
                  <a:srgbClr val="232323"/>
                </a:solidFill>
                <a:latin typeface="Calibri" pitchFamily="34" charset="0"/>
                <a:ea typeface="Calibri" pitchFamily="34" charset="-122"/>
                <a:cs typeface="Calibri" pitchFamily="34" charset="-120"/>
              </a:rPr>
              <a:t>.</a:t>
            </a:r>
            <a:endParaRPr lang="en-US" sz="1100" dirty="0"/>
          </a:p>
          <a:p>
            <a:pPr marL="342900" indent="-342900">
              <a:buSzPct val="100000"/>
              <a:buChar char="•"/>
            </a:pPr>
            <a:r>
              <a:rPr lang="en-US" sz="1100" dirty="0">
                <a:solidFill>
                  <a:srgbClr val="232323"/>
                </a:solidFill>
                <a:latin typeface="Calibri" pitchFamily="34" charset="0"/>
                <a:ea typeface="Calibri" pitchFamily="34" charset="-122"/>
                <a:cs typeface="Calibri" pitchFamily="34" charset="-120"/>
              </a:rPr>
              <a:t>Un </a:t>
            </a:r>
            <a:r>
              <a:rPr lang="en-US" sz="1100" dirty="0" err="1">
                <a:solidFill>
                  <a:srgbClr val="232323"/>
                </a:solidFill>
                <a:latin typeface="Calibri" pitchFamily="34" charset="0"/>
                <a:ea typeface="Calibri" pitchFamily="34" charset="-122"/>
                <a:cs typeface="Calibri" pitchFamily="34" charset="-120"/>
              </a:rPr>
              <a:t>même</a:t>
            </a:r>
            <a:r>
              <a:rPr lang="en-US" sz="1100" dirty="0">
                <a:solidFill>
                  <a:srgbClr val="232323"/>
                </a:solidFill>
                <a:latin typeface="Calibri" pitchFamily="34" charset="0"/>
                <a:ea typeface="Calibri" pitchFamily="34" charset="-122"/>
                <a:cs typeface="Calibri" pitchFamily="34" charset="-120"/>
              </a:rPr>
              <a:t> </a:t>
            </a:r>
            <a:r>
              <a:rPr lang="en-US" sz="1100" dirty="0" err="1">
                <a:solidFill>
                  <a:srgbClr val="232323"/>
                </a:solidFill>
                <a:latin typeface="Calibri" pitchFamily="34" charset="0"/>
                <a:ea typeface="Calibri" pitchFamily="34" charset="-122"/>
                <a:cs typeface="Calibri" pitchFamily="34" charset="-120"/>
              </a:rPr>
              <a:t>Modèle</a:t>
            </a:r>
            <a:r>
              <a:rPr lang="en-US" sz="1100" dirty="0">
                <a:solidFill>
                  <a:srgbClr val="232323"/>
                </a:solidFill>
                <a:latin typeface="Calibri" pitchFamily="34" charset="0"/>
                <a:ea typeface="Calibri" pitchFamily="34" charset="-122"/>
                <a:cs typeface="Calibri" pitchFamily="34" charset="-120"/>
              </a:rPr>
              <a:t> </a:t>
            </a:r>
            <a:r>
              <a:rPr lang="en-US" sz="1100" dirty="0" err="1">
                <a:solidFill>
                  <a:srgbClr val="232323"/>
                </a:solidFill>
                <a:latin typeface="Calibri" pitchFamily="34" charset="0"/>
                <a:ea typeface="Calibri" pitchFamily="34" charset="-122"/>
                <a:cs typeface="Calibri" pitchFamily="34" charset="-120"/>
              </a:rPr>
              <a:t>peut</a:t>
            </a:r>
            <a:r>
              <a:rPr lang="en-US" sz="1100" dirty="0">
                <a:solidFill>
                  <a:srgbClr val="232323"/>
                </a:solidFill>
                <a:latin typeface="Calibri" pitchFamily="34" charset="0"/>
                <a:ea typeface="Calibri" pitchFamily="34" charset="-122"/>
                <a:cs typeface="Calibri" pitchFamily="34" charset="-120"/>
              </a:rPr>
              <a:t> </a:t>
            </a:r>
            <a:r>
              <a:rPr lang="en-US" sz="1100" dirty="0" err="1">
                <a:solidFill>
                  <a:srgbClr val="232323"/>
                </a:solidFill>
                <a:latin typeface="Calibri" pitchFamily="34" charset="0"/>
                <a:ea typeface="Calibri" pitchFamily="34" charset="-122"/>
                <a:cs typeface="Calibri" pitchFamily="34" charset="-120"/>
              </a:rPr>
              <a:t>être</a:t>
            </a:r>
            <a:r>
              <a:rPr lang="en-US" sz="1100" dirty="0">
                <a:solidFill>
                  <a:srgbClr val="232323"/>
                </a:solidFill>
                <a:latin typeface="Calibri" pitchFamily="34" charset="0"/>
                <a:ea typeface="Calibri" pitchFamily="34" charset="-122"/>
                <a:cs typeface="Calibri" pitchFamily="34" charset="-120"/>
              </a:rPr>
              <a:t> </a:t>
            </a:r>
            <a:r>
              <a:rPr lang="en-US" sz="1100" dirty="0" err="1">
                <a:solidFill>
                  <a:srgbClr val="232323"/>
                </a:solidFill>
                <a:latin typeface="Calibri" pitchFamily="34" charset="0"/>
                <a:ea typeface="Calibri" pitchFamily="34" charset="-122"/>
                <a:cs typeface="Calibri" pitchFamily="34" charset="-120"/>
              </a:rPr>
              <a:t>observé</a:t>
            </a:r>
            <a:r>
              <a:rPr lang="en-US" sz="1100" dirty="0">
                <a:solidFill>
                  <a:srgbClr val="232323"/>
                </a:solidFill>
                <a:latin typeface="Calibri" pitchFamily="34" charset="0"/>
                <a:ea typeface="Calibri" pitchFamily="34" charset="-122"/>
                <a:cs typeface="Calibri" pitchFamily="34" charset="-120"/>
              </a:rPr>
              <a:t> par </a:t>
            </a:r>
            <a:r>
              <a:rPr lang="en-US" sz="1100" dirty="0" err="1">
                <a:solidFill>
                  <a:srgbClr val="232323"/>
                </a:solidFill>
                <a:latin typeface="Calibri" pitchFamily="34" charset="0"/>
                <a:ea typeface="Calibri" pitchFamily="34" charset="-122"/>
                <a:cs typeface="Calibri" pitchFamily="34" charset="-120"/>
              </a:rPr>
              <a:t>plusieurs</a:t>
            </a:r>
            <a:r>
              <a:rPr lang="en-US" sz="1100" dirty="0">
                <a:solidFill>
                  <a:srgbClr val="232323"/>
                </a:solidFill>
                <a:latin typeface="Calibri" pitchFamily="34" charset="0"/>
                <a:ea typeface="Calibri" pitchFamily="34" charset="-122"/>
                <a:cs typeface="Calibri" pitchFamily="34" charset="-120"/>
              </a:rPr>
              <a:t> Vues (pattern Observer), </a:t>
            </a:r>
            <a:r>
              <a:rPr lang="en-US" sz="1100" dirty="0" err="1">
                <a:solidFill>
                  <a:srgbClr val="232323"/>
                </a:solidFill>
                <a:latin typeface="Calibri" pitchFamily="34" charset="0"/>
                <a:ea typeface="Calibri" pitchFamily="34" charset="-122"/>
                <a:cs typeface="Calibri" pitchFamily="34" charset="-120"/>
              </a:rPr>
              <a:t>synchronisées</a:t>
            </a:r>
            <a:r>
              <a:rPr lang="en-US" sz="1100" dirty="0">
                <a:solidFill>
                  <a:srgbClr val="232323"/>
                </a:solidFill>
                <a:latin typeface="Calibri" pitchFamily="34" charset="0"/>
                <a:ea typeface="Calibri" pitchFamily="34" charset="-122"/>
                <a:cs typeface="Calibri" pitchFamily="34" charset="-120"/>
              </a:rPr>
              <a:t> </a:t>
            </a:r>
            <a:r>
              <a:rPr lang="en-US" sz="1100" dirty="0" err="1">
                <a:solidFill>
                  <a:srgbClr val="232323"/>
                </a:solidFill>
                <a:latin typeface="Calibri" pitchFamily="34" charset="0"/>
                <a:ea typeface="Calibri" pitchFamily="34" charset="-122"/>
                <a:cs typeface="Calibri" pitchFamily="34" charset="-120"/>
              </a:rPr>
              <a:t>automatiquement</a:t>
            </a:r>
            <a:r>
              <a:rPr lang="en-US" sz="1100" dirty="0">
                <a:solidFill>
                  <a:srgbClr val="232323"/>
                </a:solidFill>
                <a:latin typeface="Calibri" pitchFamily="34" charset="0"/>
                <a:ea typeface="Calibri" pitchFamily="34" charset="-122"/>
                <a:cs typeface="Calibri" pitchFamily="34" charset="-120"/>
              </a:rPr>
              <a:t>.</a:t>
            </a:r>
            <a:endParaRPr lang="en-US" sz="1100" dirty="0"/>
          </a:p>
          <a:p>
            <a:pPr algn="just">
              <a:lnSpc>
                <a:spcPct val="150000"/>
              </a:lnSpc>
            </a:pPr>
            <a:endParaRPr lang="en-US" sz="1100" dirty="0"/>
          </a:p>
          <a:p>
            <a:pPr algn="just">
              <a:lnSpc>
                <a:spcPct val="150000"/>
              </a:lnSpc>
            </a:pPr>
            <a:endParaRPr lang="en-US" sz="1100" dirty="0"/>
          </a:p>
        </p:txBody>
      </p:sp>
      <p:sp>
        <p:nvSpPr>
          <p:cNvPr id="16" name="TextBox 15">
            <a:extLst>
              <a:ext uri="{FF2B5EF4-FFF2-40B4-BE49-F238E27FC236}">
                <a16:creationId xmlns:a16="http://schemas.microsoft.com/office/drawing/2014/main" id="{8CC5C49D-032D-74D6-9E57-CC55BC0FAF1C}"/>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grpSp>
        <p:nvGrpSpPr>
          <p:cNvPr id="121" name="Group 120">
            <a:extLst>
              <a:ext uri="{FF2B5EF4-FFF2-40B4-BE49-F238E27FC236}">
                <a16:creationId xmlns:a16="http://schemas.microsoft.com/office/drawing/2014/main" id="{09E9FB69-B200-B77F-4191-58A39FF90535}"/>
              </a:ext>
            </a:extLst>
          </p:cNvPr>
          <p:cNvGrpSpPr/>
          <p:nvPr/>
        </p:nvGrpSpPr>
        <p:grpSpPr>
          <a:xfrm>
            <a:off x="2657519" y="2475576"/>
            <a:ext cx="3828962" cy="2219852"/>
            <a:chOff x="2657519" y="2535028"/>
            <a:chExt cx="3828962" cy="2219852"/>
          </a:xfrm>
        </p:grpSpPr>
        <p:sp>
          <p:nvSpPr>
            <p:cNvPr id="120" name="Shape 11">
              <a:extLst>
                <a:ext uri="{FF2B5EF4-FFF2-40B4-BE49-F238E27FC236}">
                  <a16:creationId xmlns:a16="http://schemas.microsoft.com/office/drawing/2014/main" id="{4B56DB1A-E758-F511-7FD8-8F12B5A0BC02}"/>
                </a:ext>
              </a:extLst>
            </p:cNvPr>
            <p:cNvSpPr/>
            <p:nvPr/>
          </p:nvSpPr>
          <p:spPr>
            <a:xfrm>
              <a:off x="2790259" y="2535028"/>
              <a:ext cx="3563481" cy="2219852"/>
            </a:xfrm>
            <a:prstGeom prst="roundRect">
              <a:avLst>
                <a:gd name="adj" fmla="val 1165"/>
              </a:avLst>
            </a:prstGeom>
            <a:solidFill>
              <a:srgbClr val="EAF1F6"/>
            </a:solidFill>
            <a:ln/>
            <a:effectLst>
              <a:outerShdw blurRad="76200" dist="25400" dir="5400000" algn="bl" rotWithShape="0">
                <a:srgbClr val="8A8A8A">
                  <a:alpha val="25000"/>
                </a:srgbClr>
              </a:outerShdw>
            </a:effectLst>
          </p:spPr>
          <p:txBody>
            <a:bodyPr/>
            <a:lstStyle/>
            <a:p>
              <a:endParaRPr lang="en-CA" sz="1600"/>
            </a:p>
          </p:txBody>
        </p:sp>
        <p:grpSp>
          <p:nvGrpSpPr>
            <p:cNvPr id="118" name="Group 117">
              <a:extLst>
                <a:ext uri="{FF2B5EF4-FFF2-40B4-BE49-F238E27FC236}">
                  <a16:creationId xmlns:a16="http://schemas.microsoft.com/office/drawing/2014/main" id="{0A9C343F-6C29-9CF3-215D-C7B0E80BECE9}"/>
                </a:ext>
              </a:extLst>
            </p:cNvPr>
            <p:cNvGrpSpPr/>
            <p:nvPr/>
          </p:nvGrpSpPr>
          <p:grpSpPr>
            <a:xfrm>
              <a:off x="2657519" y="2616678"/>
              <a:ext cx="3828962" cy="2115375"/>
              <a:chOff x="6172200" y="1810512"/>
              <a:chExt cx="5559552" cy="3200400"/>
            </a:xfrm>
          </p:grpSpPr>
          <p:sp>
            <p:nvSpPr>
              <p:cNvPr id="69" name="Shape 12">
                <a:extLst>
                  <a:ext uri="{FF2B5EF4-FFF2-40B4-BE49-F238E27FC236}">
                    <a16:creationId xmlns:a16="http://schemas.microsoft.com/office/drawing/2014/main" id="{B1671227-2953-6345-53EF-E5FBEDB0B859}"/>
                  </a:ext>
                </a:extLst>
              </p:cNvPr>
              <p:cNvSpPr/>
              <p:nvPr/>
            </p:nvSpPr>
            <p:spPr>
              <a:xfrm>
                <a:off x="8037576" y="1810512"/>
                <a:ext cx="1828800" cy="384048"/>
              </a:xfrm>
              <a:prstGeom prst="roundRect">
                <a:avLst>
                  <a:gd name="adj" fmla="val 14286"/>
                </a:avLst>
              </a:prstGeom>
              <a:solidFill>
                <a:srgbClr val="1E2761"/>
              </a:solidFill>
              <a:ln/>
            </p:spPr>
            <p:txBody>
              <a:bodyPr/>
              <a:lstStyle/>
              <a:p>
                <a:endParaRPr lang="en-CA" sz="1200"/>
              </a:p>
            </p:txBody>
          </p:sp>
          <p:sp>
            <p:nvSpPr>
              <p:cNvPr id="71" name="Text 13">
                <a:extLst>
                  <a:ext uri="{FF2B5EF4-FFF2-40B4-BE49-F238E27FC236}">
                    <a16:creationId xmlns:a16="http://schemas.microsoft.com/office/drawing/2014/main" id="{AEF21990-6401-C13C-4F39-D15FBEB80074}"/>
                  </a:ext>
                </a:extLst>
              </p:cNvPr>
              <p:cNvSpPr/>
              <p:nvPr/>
            </p:nvSpPr>
            <p:spPr>
              <a:xfrm>
                <a:off x="8037576" y="1810512"/>
                <a:ext cx="1828800"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UTILISATEUR</a:t>
                </a:r>
                <a:endParaRPr lang="en-US" sz="900" dirty="0"/>
              </a:p>
            </p:txBody>
          </p:sp>
          <p:sp>
            <p:nvSpPr>
              <p:cNvPr id="73" name="Shape 14">
                <a:extLst>
                  <a:ext uri="{FF2B5EF4-FFF2-40B4-BE49-F238E27FC236}">
                    <a16:creationId xmlns:a16="http://schemas.microsoft.com/office/drawing/2014/main" id="{61FB169A-1537-28D2-04B2-29FF2989E8ED}"/>
                  </a:ext>
                </a:extLst>
              </p:cNvPr>
              <p:cNvSpPr/>
              <p:nvPr/>
            </p:nvSpPr>
            <p:spPr>
              <a:xfrm>
                <a:off x="8951976" y="2194560"/>
                <a:ext cx="0" cy="182880"/>
              </a:xfrm>
              <a:prstGeom prst="line">
                <a:avLst/>
              </a:prstGeom>
              <a:noFill/>
              <a:ln w="22225">
                <a:solidFill>
                  <a:srgbClr val="9AA3AF"/>
                </a:solidFill>
                <a:prstDash val="solid"/>
                <a:tailEnd type="triangle"/>
              </a:ln>
            </p:spPr>
            <p:txBody>
              <a:bodyPr/>
              <a:lstStyle/>
              <a:p>
                <a:endParaRPr lang="en-CA" sz="1200"/>
              </a:p>
            </p:txBody>
          </p:sp>
          <p:sp>
            <p:nvSpPr>
              <p:cNvPr id="75" name="Shape 15">
                <a:extLst>
                  <a:ext uri="{FF2B5EF4-FFF2-40B4-BE49-F238E27FC236}">
                    <a16:creationId xmlns:a16="http://schemas.microsoft.com/office/drawing/2014/main" id="{CEC5FB88-51F5-B422-B1F4-A0F84CFD208D}"/>
                  </a:ext>
                </a:extLst>
              </p:cNvPr>
              <p:cNvSpPr/>
              <p:nvPr/>
            </p:nvSpPr>
            <p:spPr>
              <a:xfrm>
                <a:off x="7717536" y="2395728"/>
                <a:ext cx="2468880" cy="438912"/>
              </a:xfrm>
              <a:prstGeom prst="roundRect">
                <a:avLst>
                  <a:gd name="adj" fmla="val 12500"/>
                </a:avLst>
              </a:prstGeom>
              <a:solidFill>
                <a:srgbClr val="16204D"/>
              </a:solidFill>
              <a:ln/>
            </p:spPr>
            <p:txBody>
              <a:bodyPr/>
              <a:lstStyle/>
              <a:p>
                <a:endParaRPr lang="en-CA" sz="1200"/>
              </a:p>
            </p:txBody>
          </p:sp>
          <p:sp>
            <p:nvSpPr>
              <p:cNvPr id="77" name="Text 16">
                <a:extLst>
                  <a:ext uri="{FF2B5EF4-FFF2-40B4-BE49-F238E27FC236}">
                    <a16:creationId xmlns:a16="http://schemas.microsoft.com/office/drawing/2014/main" id="{33093DD0-D497-69EB-42F4-CE61509CCF97}"/>
                  </a:ext>
                </a:extLst>
              </p:cNvPr>
              <p:cNvSpPr/>
              <p:nvPr/>
            </p:nvSpPr>
            <p:spPr>
              <a:xfrm>
                <a:off x="7717536" y="2395728"/>
                <a:ext cx="2468880"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CONTRÔLEUR</a:t>
                </a:r>
                <a:endParaRPr lang="en-US" sz="1000" dirty="0"/>
              </a:p>
            </p:txBody>
          </p:sp>
          <p:sp>
            <p:nvSpPr>
              <p:cNvPr id="79" name="Shape 17">
                <a:extLst>
                  <a:ext uri="{FF2B5EF4-FFF2-40B4-BE49-F238E27FC236}">
                    <a16:creationId xmlns:a16="http://schemas.microsoft.com/office/drawing/2014/main" id="{E96DA93B-9EEB-33FB-3B24-A4904B3BA86A}"/>
                  </a:ext>
                </a:extLst>
              </p:cNvPr>
              <p:cNvSpPr/>
              <p:nvPr/>
            </p:nvSpPr>
            <p:spPr>
              <a:xfrm flipH="1">
                <a:off x="7612380" y="2834640"/>
                <a:ext cx="1339596" cy="256032"/>
              </a:xfrm>
              <a:prstGeom prst="line">
                <a:avLst/>
              </a:prstGeom>
              <a:noFill/>
              <a:ln w="19050">
                <a:solidFill>
                  <a:srgbClr val="9AA3AF"/>
                </a:solidFill>
                <a:prstDash val="solid"/>
                <a:tailEnd type="triangle"/>
              </a:ln>
            </p:spPr>
            <p:txBody>
              <a:bodyPr/>
              <a:lstStyle/>
              <a:p>
                <a:endParaRPr lang="en-CA" sz="1200"/>
              </a:p>
            </p:txBody>
          </p:sp>
          <p:sp>
            <p:nvSpPr>
              <p:cNvPr id="81" name="Shape 18">
                <a:extLst>
                  <a:ext uri="{FF2B5EF4-FFF2-40B4-BE49-F238E27FC236}">
                    <a16:creationId xmlns:a16="http://schemas.microsoft.com/office/drawing/2014/main" id="{A7167D7C-2B0F-8A72-5F05-D4290C6D4644}"/>
                  </a:ext>
                </a:extLst>
              </p:cNvPr>
              <p:cNvSpPr/>
              <p:nvPr/>
            </p:nvSpPr>
            <p:spPr>
              <a:xfrm>
                <a:off x="8951976" y="2834640"/>
                <a:ext cx="1339596" cy="256032"/>
              </a:xfrm>
              <a:prstGeom prst="line">
                <a:avLst/>
              </a:prstGeom>
              <a:noFill/>
              <a:ln w="19050">
                <a:solidFill>
                  <a:srgbClr val="9AA3AF"/>
                </a:solidFill>
                <a:prstDash val="solid"/>
                <a:tailEnd type="triangle"/>
              </a:ln>
            </p:spPr>
            <p:txBody>
              <a:bodyPr/>
              <a:lstStyle/>
              <a:p>
                <a:endParaRPr lang="en-CA" sz="1200"/>
              </a:p>
            </p:txBody>
          </p:sp>
          <p:sp>
            <p:nvSpPr>
              <p:cNvPr id="83" name="Shape 19">
                <a:extLst>
                  <a:ext uri="{FF2B5EF4-FFF2-40B4-BE49-F238E27FC236}">
                    <a16:creationId xmlns:a16="http://schemas.microsoft.com/office/drawing/2014/main" id="{B5DEBC46-9E40-21A6-D54D-726614DB7BE7}"/>
                  </a:ext>
                </a:extLst>
              </p:cNvPr>
              <p:cNvSpPr/>
              <p:nvPr/>
            </p:nvSpPr>
            <p:spPr>
              <a:xfrm>
                <a:off x="6446520" y="3090672"/>
                <a:ext cx="2331720" cy="384048"/>
              </a:xfrm>
              <a:prstGeom prst="roundRect">
                <a:avLst>
                  <a:gd name="adj" fmla="val 11905"/>
                </a:avLst>
              </a:prstGeom>
              <a:solidFill>
                <a:srgbClr val="E8933A"/>
              </a:solidFill>
              <a:ln/>
            </p:spPr>
            <p:txBody>
              <a:bodyPr/>
              <a:lstStyle/>
              <a:p>
                <a:endParaRPr lang="en-CA" sz="1200"/>
              </a:p>
            </p:txBody>
          </p:sp>
          <p:sp>
            <p:nvSpPr>
              <p:cNvPr id="85" name="Text 20">
                <a:extLst>
                  <a:ext uri="{FF2B5EF4-FFF2-40B4-BE49-F238E27FC236}">
                    <a16:creationId xmlns:a16="http://schemas.microsoft.com/office/drawing/2014/main" id="{536D965C-0D20-D965-C516-A47E77E3964F}"/>
                  </a:ext>
                </a:extLst>
              </p:cNvPr>
              <p:cNvSpPr/>
              <p:nvPr/>
            </p:nvSpPr>
            <p:spPr>
              <a:xfrm>
                <a:off x="6446520" y="3090672"/>
                <a:ext cx="2331720"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MODÈLE</a:t>
                </a:r>
                <a:endParaRPr lang="en-US" sz="1000" dirty="0"/>
              </a:p>
            </p:txBody>
          </p:sp>
          <p:sp>
            <p:nvSpPr>
              <p:cNvPr id="87" name="Shape 21">
                <a:extLst>
                  <a:ext uri="{FF2B5EF4-FFF2-40B4-BE49-F238E27FC236}">
                    <a16:creationId xmlns:a16="http://schemas.microsoft.com/office/drawing/2014/main" id="{36816854-4F6E-6FF9-5523-0F1F2BDD63D6}"/>
                  </a:ext>
                </a:extLst>
              </p:cNvPr>
              <p:cNvSpPr/>
              <p:nvPr/>
            </p:nvSpPr>
            <p:spPr>
              <a:xfrm>
                <a:off x="9125712" y="3090672"/>
                <a:ext cx="2331720" cy="384048"/>
              </a:xfrm>
              <a:prstGeom prst="roundRect">
                <a:avLst>
                  <a:gd name="adj" fmla="val 11905"/>
                </a:avLst>
              </a:prstGeom>
              <a:solidFill>
                <a:srgbClr val="1C7293"/>
              </a:solidFill>
              <a:ln/>
            </p:spPr>
            <p:txBody>
              <a:bodyPr/>
              <a:lstStyle/>
              <a:p>
                <a:endParaRPr lang="en-CA" sz="1200"/>
              </a:p>
            </p:txBody>
          </p:sp>
          <p:sp>
            <p:nvSpPr>
              <p:cNvPr id="89" name="Text 22">
                <a:extLst>
                  <a:ext uri="{FF2B5EF4-FFF2-40B4-BE49-F238E27FC236}">
                    <a16:creationId xmlns:a16="http://schemas.microsoft.com/office/drawing/2014/main" id="{2FAAD854-173B-2B15-ED89-64914468BC44}"/>
                  </a:ext>
                </a:extLst>
              </p:cNvPr>
              <p:cNvSpPr/>
              <p:nvPr/>
            </p:nvSpPr>
            <p:spPr>
              <a:xfrm>
                <a:off x="9125712" y="3090672"/>
                <a:ext cx="2331720"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VUE</a:t>
                </a:r>
                <a:endParaRPr lang="en-US" sz="1000" dirty="0"/>
              </a:p>
            </p:txBody>
          </p:sp>
          <p:sp>
            <p:nvSpPr>
              <p:cNvPr id="91" name="Shape 23">
                <a:extLst>
                  <a:ext uri="{FF2B5EF4-FFF2-40B4-BE49-F238E27FC236}">
                    <a16:creationId xmlns:a16="http://schemas.microsoft.com/office/drawing/2014/main" id="{C5F41A2C-2D13-50D5-188B-79997AF9C52F}"/>
                  </a:ext>
                </a:extLst>
              </p:cNvPr>
              <p:cNvSpPr/>
              <p:nvPr/>
            </p:nvSpPr>
            <p:spPr>
              <a:xfrm>
                <a:off x="6446520" y="3529584"/>
                <a:ext cx="2331720" cy="621792"/>
              </a:xfrm>
              <a:prstGeom prst="roundRect">
                <a:avLst>
                  <a:gd name="adj" fmla="val 7353"/>
                </a:avLst>
              </a:prstGeom>
              <a:solidFill>
                <a:srgbClr val="FFFFFF"/>
              </a:solidFill>
              <a:ln/>
            </p:spPr>
            <p:txBody>
              <a:bodyPr/>
              <a:lstStyle/>
              <a:p>
                <a:endParaRPr lang="en-CA" sz="1200"/>
              </a:p>
            </p:txBody>
          </p:sp>
          <p:sp>
            <p:nvSpPr>
              <p:cNvPr id="93" name="Text 24">
                <a:extLst>
                  <a:ext uri="{FF2B5EF4-FFF2-40B4-BE49-F238E27FC236}">
                    <a16:creationId xmlns:a16="http://schemas.microsoft.com/office/drawing/2014/main" id="{1686B1F3-3CCC-4F0C-92E0-A80E9F40BC99}"/>
                  </a:ext>
                </a:extLst>
              </p:cNvPr>
              <p:cNvSpPr/>
              <p:nvPr/>
            </p:nvSpPr>
            <p:spPr>
              <a:xfrm>
                <a:off x="6537960" y="3529584"/>
                <a:ext cx="2148840" cy="621792"/>
              </a:xfrm>
              <a:prstGeom prst="rect">
                <a:avLst/>
              </a:prstGeom>
              <a:noFill/>
              <a:ln/>
            </p:spPr>
            <p:txBody>
              <a:bodyPr wrap="square" lIns="0" tIns="0" rIns="0" bIns="0" rtlCol="0" anchor="ctr"/>
              <a:lstStyle/>
              <a:p>
                <a:pPr marL="0" indent="0" algn="ctr">
                  <a:buNone/>
                </a:pPr>
                <a:r>
                  <a:rPr lang="en-US" sz="800" dirty="0">
                    <a:solidFill>
                      <a:srgbClr val="232323"/>
                    </a:solidFill>
                    <a:latin typeface="Calibri" pitchFamily="34" charset="0"/>
                    <a:ea typeface="Calibri" pitchFamily="34" charset="-122"/>
                    <a:cs typeface="Calibri" pitchFamily="34" charset="-120"/>
                  </a:rPr>
                  <a:t>Données + règles</a:t>
                </a:r>
                <a:endParaRPr lang="en-US" sz="800" dirty="0"/>
              </a:p>
              <a:p>
                <a:pPr marL="0" indent="0" algn="ctr">
                  <a:buNone/>
                </a:pPr>
                <a:r>
                  <a:rPr lang="en-US" sz="800" dirty="0">
                    <a:solidFill>
                      <a:srgbClr val="232323"/>
                    </a:solidFill>
                    <a:latin typeface="Calibri" pitchFamily="34" charset="0"/>
                    <a:ea typeface="Calibri" pitchFamily="34" charset="-122"/>
                    <a:cs typeface="Calibri" pitchFamily="34" charset="-120"/>
                  </a:rPr>
                  <a:t>métier de l'application</a:t>
                </a:r>
                <a:endParaRPr lang="en-US" sz="800" dirty="0"/>
              </a:p>
            </p:txBody>
          </p:sp>
          <p:sp>
            <p:nvSpPr>
              <p:cNvPr id="95" name="Shape 25">
                <a:extLst>
                  <a:ext uri="{FF2B5EF4-FFF2-40B4-BE49-F238E27FC236}">
                    <a16:creationId xmlns:a16="http://schemas.microsoft.com/office/drawing/2014/main" id="{93FAB1E4-F361-3A10-FD8A-EE82823C4422}"/>
                  </a:ext>
                </a:extLst>
              </p:cNvPr>
              <p:cNvSpPr/>
              <p:nvPr/>
            </p:nvSpPr>
            <p:spPr>
              <a:xfrm>
                <a:off x="9125712" y="3529584"/>
                <a:ext cx="2331720" cy="621792"/>
              </a:xfrm>
              <a:prstGeom prst="roundRect">
                <a:avLst>
                  <a:gd name="adj" fmla="val 7353"/>
                </a:avLst>
              </a:prstGeom>
              <a:solidFill>
                <a:srgbClr val="FFFFFF"/>
              </a:solidFill>
              <a:ln/>
            </p:spPr>
            <p:txBody>
              <a:bodyPr/>
              <a:lstStyle/>
              <a:p>
                <a:endParaRPr lang="en-CA" sz="1200"/>
              </a:p>
            </p:txBody>
          </p:sp>
          <p:sp>
            <p:nvSpPr>
              <p:cNvPr id="97" name="Text 26">
                <a:extLst>
                  <a:ext uri="{FF2B5EF4-FFF2-40B4-BE49-F238E27FC236}">
                    <a16:creationId xmlns:a16="http://schemas.microsoft.com/office/drawing/2014/main" id="{DB62783E-D5EF-A431-DAA1-18210AE06921}"/>
                  </a:ext>
                </a:extLst>
              </p:cNvPr>
              <p:cNvSpPr/>
              <p:nvPr/>
            </p:nvSpPr>
            <p:spPr>
              <a:xfrm>
                <a:off x="9217152" y="3529584"/>
                <a:ext cx="2148840" cy="621792"/>
              </a:xfrm>
              <a:prstGeom prst="rect">
                <a:avLst/>
              </a:prstGeom>
              <a:noFill/>
              <a:ln/>
            </p:spPr>
            <p:txBody>
              <a:bodyPr wrap="square" lIns="0" tIns="0" rIns="0" bIns="0" rtlCol="0" anchor="ctr"/>
              <a:lstStyle/>
              <a:p>
                <a:pPr marL="0" indent="0" algn="ctr">
                  <a:buNone/>
                </a:pPr>
                <a:r>
                  <a:rPr lang="en-US" sz="800" dirty="0">
                    <a:solidFill>
                      <a:srgbClr val="232323"/>
                    </a:solidFill>
                    <a:latin typeface="Calibri" pitchFamily="34" charset="0"/>
                    <a:ea typeface="Calibri" pitchFamily="34" charset="-122"/>
                    <a:cs typeface="Calibri" pitchFamily="34" charset="-120"/>
                  </a:rPr>
                  <a:t>Présentation :</a:t>
                </a:r>
                <a:endParaRPr lang="en-US" sz="800" dirty="0"/>
              </a:p>
              <a:p>
                <a:pPr marL="0" indent="0" algn="ctr">
                  <a:buNone/>
                </a:pPr>
                <a:r>
                  <a:rPr lang="en-US" sz="800" dirty="0">
                    <a:solidFill>
                      <a:srgbClr val="232323"/>
                    </a:solidFill>
                    <a:latin typeface="Calibri" pitchFamily="34" charset="0"/>
                    <a:ea typeface="Calibri" pitchFamily="34" charset="-122"/>
                    <a:cs typeface="Calibri" pitchFamily="34" charset="-120"/>
                  </a:rPr>
                  <a:t>rendu HTML / UI / JSON</a:t>
                </a:r>
                <a:endParaRPr lang="en-US" sz="800" dirty="0"/>
              </a:p>
            </p:txBody>
          </p:sp>
          <p:sp>
            <p:nvSpPr>
              <p:cNvPr id="99" name="Shape 27">
                <a:extLst>
                  <a:ext uri="{FF2B5EF4-FFF2-40B4-BE49-F238E27FC236}">
                    <a16:creationId xmlns:a16="http://schemas.microsoft.com/office/drawing/2014/main" id="{506ED620-07D0-2B7C-C8DD-359E8970254D}"/>
                  </a:ext>
                </a:extLst>
              </p:cNvPr>
              <p:cNvSpPr/>
              <p:nvPr/>
            </p:nvSpPr>
            <p:spPr>
              <a:xfrm>
                <a:off x="7612380" y="4151376"/>
                <a:ext cx="0" cy="146304"/>
              </a:xfrm>
              <a:prstGeom prst="line">
                <a:avLst/>
              </a:prstGeom>
              <a:noFill/>
              <a:ln w="19050">
                <a:solidFill>
                  <a:srgbClr val="9AA3AF"/>
                </a:solidFill>
                <a:prstDash val="solid"/>
                <a:tailEnd type="triangle"/>
              </a:ln>
            </p:spPr>
            <p:txBody>
              <a:bodyPr/>
              <a:lstStyle/>
              <a:p>
                <a:endParaRPr lang="en-CA" sz="1200"/>
              </a:p>
            </p:txBody>
          </p:sp>
          <p:sp>
            <p:nvSpPr>
              <p:cNvPr id="101" name="Shape 28">
                <a:extLst>
                  <a:ext uri="{FF2B5EF4-FFF2-40B4-BE49-F238E27FC236}">
                    <a16:creationId xmlns:a16="http://schemas.microsoft.com/office/drawing/2014/main" id="{E95A9D50-3828-F224-37E1-3DBD5B750ABF}"/>
                  </a:ext>
                </a:extLst>
              </p:cNvPr>
              <p:cNvSpPr/>
              <p:nvPr/>
            </p:nvSpPr>
            <p:spPr>
              <a:xfrm>
                <a:off x="10291572" y="4151376"/>
                <a:ext cx="0" cy="146304"/>
              </a:xfrm>
              <a:prstGeom prst="line">
                <a:avLst/>
              </a:prstGeom>
              <a:noFill/>
              <a:ln w="19050">
                <a:solidFill>
                  <a:srgbClr val="9AA3AF"/>
                </a:solidFill>
                <a:prstDash val="solid"/>
                <a:tailEnd type="triangle"/>
              </a:ln>
            </p:spPr>
            <p:txBody>
              <a:bodyPr/>
              <a:lstStyle/>
              <a:p>
                <a:endParaRPr lang="en-CA" sz="1200"/>
              </a:p>
            </p:txBody>
          </p:sp>
          <p:sp>
            <p:nvSpPr>
              <p:cNvPr id="103" name="Shape 29">
                <a:extLst>
                  <a:ext uri="{FF2B5EF4-FFF2-40B4-BE49-F238E27FC236}">
                    <a16:creationId xmlns:a16="http://schemas.microsoft.com/office/drawing/2014/main" id="{CCD95AAD-4D43-01CE-A1A1-4F1AFF506237}"/>
                  </a:ext>
                </a:extLst>
              </p:cNvPr>
              <p:cNvSpPr/>
              <p:nvPr/>
            </p:nvSpPr>
            <p:spPr>
              <a:xfrm>
                <a:off x="6446520" y="4315968"/>
                <a:ext cx="2331720" cy="402336"/>
              </a:xfrm>
              <a:prstGeom prst="roundRect">
                <a:avLst>
                  <a:gd name="adj" fmla="val 11364"/>
                </a:avLst>
              </a:prstGeom>
              <a:solidFill>
                <a:srgbClr val="1E2761"/>
              </a:solidFill>
              <a:ln/>
            </p:spPr>
            <p:txBody>
              <a:bodyPr/>
              <a:lstStyle/>
              <a:p>
                <a:endParaRPr lang="en-CA" sz="1200"/>
              </a:p>
            </p:txBody>
          </p:sp>
          <p:sp>
            <p:nvSpPr>
              <p:cNvPr id="105" name="Text 30">
                <a:extLst>
                  <a:ext uri="{FF2B5EF4-FFF2-40B4-BE49-F238E27FC236}">
                    <a16:creationId xmlns:a16="http://schemas.microsoft.com/office/drawing/2014/main" id="{D5EB3FF0-F4FA-EDDA-6624-52F20957A7EC}"/>
                  </a:ext>
                </a:extLst>
              </p:cNvPr>
              <p:cNvSpPr/>
              <p:nvPr/>
            </p:nvSpPr>
            <p:spPr>
              <a:xfrm>
                <a:off x="6446520" y="4315968"/>
                <a:ext cx="2331720" cy="40233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État courant</a:t>
                </a:r>
                <a:endParaRPr lang="en-US" sz="900" dirty="0"/>
              </a:p>
            </p:txBody>
          </p:sp>
          <p:sp>
            <p:nvSpPr>
              <p:cNvPr id="107" name="Shape 31">
                <a:extLst>
                  <a:ext uri="{FF2B5EF4-FFF2-40B4-BE49-F238E27FC236}">
                    <a16:creationId xmlns:a16="http://schemas.microsoft.com/office/drawing/2014/main" id="{722285BF-4324-3D80-79F3-FE7871CB7DF7}"/>
                  </a:ext>
                </a:extLst>
              </p:cNvPr>
              <p:cNvSpPr/>
              <p:nvPr/>
            </p:nvSpPr>
            <p:spPr>
              <a:xfrm>
                <a:off x="9125712" y="4315968"/>
                <a:ext cx="2331720" cy="402336"/>
              </a:xfrm>
              <a:prstGeom prst="roundRect">
                <a:avLst>
                  <a:gd name="adj" fmla="val 11364"/>
                </a:avLst>
              </a:prstGeom>
              <a:solidFill>
                <a:srgbClr val="1E2761"/>
              </a:solidFill>
              <a:ln/>
            </p:spPr>
            <p:txBody>
              <a:bodyPr/>
              <a:lstStyle/>
              <a:p>
                <a:endParaRPr lang="en-CA" sz="1200"/>
              </a:p>
            </p:txBody>
          </p:sp>
          <p:sp>
            <p:nvSpPr>
              <p:cNvPr id="109" name="Text 32">
                <a:extLst>
                  <a:ext uri="{FF2B5EF4-FFF2-40B4-BE49-F238E27FC236}">
                    <a16:creationId xmlns:a16="http://schemas.microsoft.com/office/drawing/2014/main" id="{0A0E5DD2-0AE5-B3D8-C59F-6720E299259F}"/>
                  </a:ext>
                </a:extLst>
              </p:cNvPr>
              <p:cNvSpPr/>
              <p:nvPr/>
            </p:nvSpPr>
            <p:spPr>
              <a:xfrm>
                <a:off x="9125712" y="4315968"/>
                <a:ext cx="2331720" cy="40233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Rendu affiché</a:t>
                </a:r>
                <a:endParaRPr lang="en-US" sz="900" dirty="0"/>
              </a:p>
            </p:txBody>
          </p:sp>
          <p:sp>
            <p:nvSpPr>
              <p:cNvPr id="111" name="Shape 33">
                <a:extLst>
                  <a:ext uri="{FF2B5EF4-FFF2-40B4-BE49-F238E27FC236}">
                    <a16:creationId xmlns:a16="http://schemas.microsoft.com/office/drawing/2014/main" id="{69D71FE1-9C4D-BA17-122E-4D60E4A5FC77}"/>
                  </a:ext>
                </a:extLst>
              </p:cNvPr>
              <p:cNvSpPr/>
              <p:nvPr/>
            </p:nvSpPr>
            <p:spPr>
              <a:xfrm>
                <a:off x="8778240" y="4517136"/>
                <a:ext cx="347472" cy="0"/>
              </a:xfrm>
              <a:prstGeom prst="line">
                <a:avLst/>
              </a:prstGeom>
              <a:noFill/>
              <a:ln w="19050">
                <a:solidFill>
                  <a:srgbClr val="E8933A"/>
                </a:solidFill>
                <a:prstDash val="dash"/>
              </a:ln>
            </p:spPr>
            <p:txBody>
              <a:bodyPr/>
              <a:lstStyle/>
              <a:p>
                <a:endParaRPr lang="en-CA" sz="1200"/>
              </a:p>
            </p:txBody>
          </p:sp>
          <p:sp>
            <p:nvSpPr>
              <p:cNvPr id="113" name="Text 34">
                <a:extLst>
                  <a:ext uri="{FF2B5EF4-FFF2-40B4-BE49-F238E27FC236}">
                    <a16:creationId xmlns:a16="http://schemas.microsoft.com/office/drawing/2014/main" id="{2F9D9117-51CE-7FD2-09A3-AA4AC8D47304}"/>
                  </a:ext>
                </a:extLst>
              </p:cNvPr>
              <p:cNvSpPr/>
              <p:nvPr/>
            </p:nvSpPr>
            <p:spPr>
              <a:xfrm>
                <a:off x="6172200" y="4791456"/>
                <a:ext cx="5559552" cy="219456"/>
              </a:xfrm>
              <a:prstGeom prst="rect">
                <a:avLst/>
              </a:prstGeom>
              <a:noFill/>
              <a:ln/>
            </p:spPr>
            <p:txBody>
              <a:bodyPr wrap="square" lIns="0" tIns="0" rIns="0" bIns="0" rtlCol="0" anchor="ctr"/>
              <a:lstStyle/>
              <a:p>
                <a:pPr marL="0" indent="0" algn="ctr">
                  <a:buNone/>
                </a:pPr>
                <a:r>
                  <a:rPr lang="en-US" sz="700" i="1" dirty="0">
                    <a:solidFill>
                      <a:srgbClr val="5B5B5B"/>
                    </a:solidFill>
                    <a:latin typeface="Calibri" pitchFamily="34" charset="0"/>
                    <a:ea typeface="Calibri" pitchFamily="34" charset="-122"/>
                    <a:cs typeface="Calibri" pitchFamily="34" charset="-120"/>
                  </a:rPr>
                  <a:t>notification (pattern Observer)</a:t>
                </a:r>
                <a:endParaRPr lang="en-US" sz="700" dirty="0"/>
              </a:p>
            </p:txBody>
          </p:sp>
          <p:pic>
            <p:nvPicPr>
              <p:cNvPr id="117" name="Image 0" descr="icons/userTie_w.png">
                <a:extLst>
                  <a:ext uri="{FF2B5EF4-FFF2-40B4-BE49-F238E27FC236}">
                    <a16:creationId xmlns:a16="http://schemas.microsoft.com/office/drawing/2014/main" id="{1274F3A0-F421-09F9-FD45-EB83BA9A2FD4}"/>
                  </a:ext>
                </a:extLst>
              </p:cNvPr>
              <p:cNvPicPr>
                <a:picLocks noChangeAspect="1"/>
              </p:cNvPicPr>
              <p:nvPr/>
            </p:nvPicPr>
            <p:blipFill>
              <a:blip r:embed="rId7"/>
              <a:stretch>
                <a:fillRect/>
              </a:stretch>
            </p:blipFill>
            <p:spPr>
              <a:xfrm>
                <a:off x="8141554" y="1846391"/>
                <a:ext cx="256032" cy="256032"/>
              </a:xfrm>
              <a:prstGeom prst="rect">
                <a:avLst/>
              </a:prstGeom>
            </p:spPr>
          </p:pic>
        </p:grpSp>
      </p:grpSp>
    </p:spTree>
    <p:extLst>
      <p:ext uri="{BB962C8B-B14F-4D97-AF65-F5344CB8AC3E}">
        <p14:creationId xmlns:p14="http://schemas.microsoft.com/office/powerpoint/2010/main" val="22613461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FC301BC-D76E-B657-468B-73D16772CB64}"/>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292190F8-A74A-DA0E-6621-7541ADD087E3}"/>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4EB68941-4B13-D7D5-E947-9A97033AD1A7}"/>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24F881D7-9459-69B6-D7AE-0CE33855BC90}"/>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BA0567CB-A057-2723-8BBC-2EADB624B9B5}"/>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8504439F-546E-FC58-F3B5-1D770767C657}"/>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85BBF9FB-575C-DAFD-C2A0-2DCA5BE8C491}"/>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C3DE1BE9-A9E9-0D16-12D2-30E2BA42AE90}"/>
              </a:ext>
            </a:extLst>
          </p:cNvPr>
          <p:cNvSpPr/>
          <p:nvPr/>
        </p:nvSpPr>
        <p:spPr>
          <a:xfrm>
            <a:off x="1993392" y="91440"/>
            <a:ext cx="6400800" cy="411480"/>
          </a:xfrm>
          <a:prstGeom prst="rect">
            <a:avLst/>
          </a:prstGeom>
          <a:noFill/>
          <a:ln/>
        </p:spPr>
        <p:txBody>
          <a:bodyPr wrap="square" lIns="0" tIns="0" rIns="0" bIns="0" rtlCol="0" anchor="ctr"/>
          <a:lstStyle/>
          <a:p>
            <a:r>
              <a:rPr lang="en-US" b="1" dirty="0">
                <a:solidFill>
                  <a:srgbClr val="232323"/>
                </a:solidFill>
                <a:latin typeface="Cambria" pitchFamily="34" charset="0"/>
                <a:ea typeface="Cambria" pitchFamily="34" charset="-122"/>
                <a:cs typeface="Cambria" pitchFamily="34" charset="-120"/>
              </a:rPr>
              <a:t>MVC – </a:t>
            </a:r>
            <a:r>
              <a:rPr lang="en-US" b="1" dirty="0" err="1">
                <a:solidFill>
                  <a:srgbClr val="232323"/>
                </a:solidFill>
                <a:latin typeface="Cambria" pitchFamily="34" charset="0"/>
                <a:ea typeface="Cambria" pitchFamily="34" charset="-122"/>
                <a:cs typeface="Cambria" pitchFamily="34" charset="-120"/>
              </a:rPr>
              <a:t>avantages</a:t>
            </a:r>
            <a:r>
              <a:rPr lang="en-US" b="1" dirty="0">
                <a:solidFill>
                  <a:srgbClr val="232323"/>
                </a:solidFill>
                <a:latin typeface="Cambria" pitchFamily="34" charset="0"/>
                <a:ea typeface="Cambria" pitchFamily="34" charset="-122"/>
                <a:cs typeface="Cambria" pitchFamily="34" charset="-120"/>
              </a:rPr>
              <a:t> et </a:t>
            </a:r>
            <a:r>
              <a:rPr lang="en-US" b="1" dirty="0" err="1">
                <a:solidFill>
                  <a:srgbClr val="232323"/>
                </a:solidFill>
                <a:latin typeface="Cambria" pitchFamily="34" charset="0"/>
                <a:ea typeface="Cambria" pitchFamily="34" charset="-122"/>
                <a:cs typeface="Cambria" pitchFamily="34" charset="-120"/>
              </a:rPr>
              <a:t>limites</a:t>
            </a:r>
            <a:endParaRPr lang="en-US" dirty="0"/>
          </a:p>
        </p:txBody>
      </p:sp>
      <p:sp>
        <p:nvSpPr>
          <p:cNvPr id="10" name="Shape 3">
            <a:extLst>
              <a:ext uri="{FF2B5EF4-FFF2-40B4-BE49-F238E27FC236}">
                <a16:creationId xmlns:a16="http://schemas.microsoft.com/office/drawing/2014/main" id="{97AFF0DE-AB31-0CEA-7E5F-631FEFCD76E1}"/>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0FEEAFA3-E010-FDDA-F6C7-B5A898F3EC74}"/>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76BDB1E5-6966-4B5A-8DA6-67F7AEAD24C1}"/>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1CFDB02D-4EC3-0BD1-B8F9-A243EC8B1460}"/>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28</a:t>
            </a:r>
            <a:endParaRPr lang="en-US" sz="900" dirty="0"/>
          </a:p>
        </p:txBody>
      </p:sp>
      <p:pic>
        <p:nvPicPr>
          <p:cNvPr id="18" name="object 2">
            <a:extLst>
              <a:ext uri="{FF2B5EF4-FFF2-40B4-BE49-F238E27FC236}">
                <a16:creationId xmlns:a16="http://schemas.microsoft.com/office/drawing/2014/main" id="{3163A213-86C5-34F0-FDB5-D4B36C9CC396}"/>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F0ADAF44-F9D9-982F-AF45-2C7AC32073CD}"/>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7" name="Text 4">
            <a:extLst>
              <a:ext uri="{FF2B5EF4-FFF2-40B4-BE49-F238E27FC236}">
                <a16:creationId xmlns:a16="http://schemas.microsoft.com/office/drawing/2014/main" id="{658DD1E4-1DA8-60C3-1072-7150126F7071}"/>
              </a:ext>
            </a:extLst>
          </p:cNvPr>
          <p:cNvSpPr/>
          <p:nvPr/>
        </p:nvSpPr>
        <p:spPr>
          <a:xfrm>
            <a:off x="320040" y="883940"/>
            <a:ext cx="8046720" cy="3710920"/>
          </a:xfrm>
          <a:prstGeom prst="rect">
            <a:avLst/>
          </a:prstGeom>
          <a:noFill/>
          <a:ln/>
        </p:spPr>
        <p:txBody>
          <a:bodyPr wrap="square" rtlCol="0" anchor="t"/>
          <a:lstStyle/>
          <a:p>
            <a:pPr algn="just"/>
            <a:r>
              <a:rPr lang="en-US" sz="1200" b="1" dirty="0" err="1"/>
              <a:t>Avantages</a:t>
            </a:r>
            <a:r>
              <a:rPr lang="en-US" sz="1200" b="1" dirty="0"/>
              <a:t> :</a:t>
            </a:r>
          </a:p>
          <a:p>
            <a:pPr marL="342900" indent="-342900">
              <a:spcAft>
                <a:spcPts val="1000"/>
              </a:spcAft>
              <a:buSzPct val="100000"/>
              <a:buChar char="•"/>
            </a:pPr>
            <a:r>
              <a:rPr lang="en-US" sz="1200" dirty="0" err="1">
                <a:solidFill>
                  <a:srgbClr val="232323"/>
                </a:solidFill>
                <a:latin typeface="Calibri" pitchFamily="34" charset="0"/>
                <a:ea typeface="Calibri" pitchFamily="34" charset="-122"/>
                <a:cs typeface="Calibri" pitchFamily="34" charset="-120"/>
              </a:rPr>
              <a:t>Séparation</a:t>
            </a:r>
            <a:r>
              <a:rPr lang="en-US" sz="1200" dirty="0">
                <a:solidFill>
                  <a:srgbClr val="232323"/>
                </a:solidFill>
                <a:latin typeface="Calibri" pitchFamily="34" charset="0"/>
                <a:ea typeface="Calibri" pitchFamily="34" charset="-122"/>
                <a:cs typeface="Calibri" pitchFamily="34" charset="-120"/>
              </a:rPr>
              <a:t> </a:t>
            </a:r>
            <a:r>
              <a:rPr lang="en-US" sz="1200" dirty="0" err="1">
                <a:solidFill>
                  <a:srgbClr val="232323"/>
                </a:solidFill>
                <a:latin typeface="Calibri" pitchFamily="34" charset="0"/>
                <a:ea typeface="Calibri" pitchFamily="34" charset="-122"/>
                <a:cs typeface="Calibri" pitchFamily="34" charset="-120"/>
              </a:rPr>
              <a:t>claire</a:t>
            </a:r>
            <a:r>
              <a:rPr lang="en-US" sz="1200" dirty="0">
                <a:solidFill>
                  <a:srgbClr val="232323"/>
                </a:solidFill>
                <a:latin typeface="Calibri" pitchFamily="34" charset="0"/>
                <a:ea typeface="Calibri" pitchFamily="34" charset="-122"/>
                <a:cs typeface="Calibri" pitchFamily="34" charset="-120"/>
              </a:rPr>
              <a:t> des </a:t>
            </a:r>
            <a:r>
              <a:rPr lang="en-US" sz="1200" dirty="0" err="1">
                <a:solidFill>
                  <a:srgbClr val="232323"/>
                </a:solidFill>
                <a:latin typeface="Calibri" pitchFamily="34" charset="0"/>
                <a:ea typeface="Calibri" pitchFamily="34" charset="-122"/>
                <a:cs typeface="Calibri" pitchFamily="34" charset="-120"/>
              </a:rPr>
              <a:t>responsabilités</a:t>
            </a:r>
            <a:r>
              <a:rPr lang="en-US" sz="1200" dirty="0">
                <a:solidFill>
                  <a:srgbClr val="232323"/>
                </a:solidFill>
                <a:latin typeface="Calibri" pitchFamily="34" charset="0"/>
                <a:ea typeface="Calibri" pitchFamily="34" charset="-122"/>
                <a:cs typeface="Calibri" pitchFamily="34" charset="-120"/>
              </a:rPr>
              <a:t> : données, </a:t>
            </a:r>
            <a:r>
              <a:rPr lang="en-US" sz="1200" dirty="0" err="1">
                <a:solidFill>
                  <a:srgbClr val="232323"/>
                </a:solidFill>
                <a:latin typeface="Calibri" pitchFamily="34" charset="0"/>
                <a:ea typeface="Calibri" pitchFamily="34" charset="-122"/>
                <a:cs typeface="Calibri" pitchFamily="34" charset="-120"/>
              </a:rPr>
              <a:t>logique</a:t>
            </a:r>
            <a:r>
              <a:rPr lang="en-US" sz="1200" dirty="0">
                <a:solidFill>
                  <a:srgbClr val="232323"/>
                </a:solidFill>
                <a:latin typeface="Calibri" pitchFamily="34" charset="0"/>
                <a:ea typeface="Calibri" pitchFamily="34" charset="-122"/>
                <a:cs typeface="Calibri" pitchFamily="34" charset="-120"/>
              </a:rPr>
              <a:t> métier et </a:t>
            </a:r>
            <a:r>
              <a:rPr lang="en-US" sz="1200" dirty="0" err="1">
                <a:solidFill>
                  <a:srgbClr val="232323"/>
                </a:solidFill>
                <a:latin typeface="Calibri" pitchFamily="34" charset="0"/>
                <a:ea typeface="Calibri" pitchFamily="34" charset="-122"/>
                <a:cs typeface="Calibri" pitchFamily="34" charset="-120"/>
              </a:rPr>
              <a:t>présentation</a:t>
            </a:r>
            <a:r>
              <a:rPr lang="en-US" sz="1200" dirty="0">
                <a:solidFill>
                  <a:srgbClr val="232323"/>
                </a:solidFill>
                <a:latin typeface="Calibri" pitchFamily="34" charset="0"/>
                <a:ea typeface="Calibri" pitchFamily="34" charset="-122"/>
                <a:cs typeface="Calibri" pitchFamily="34" charset="-120"/>
              </a:rPr>
              <a:t> </a:t>
            </a:r>
            <a:r>
              <a:rPr lang="en-US" sz="1200" dirty="0" err="1">
                <a:solidFill>
                  <a:srgbClr val="232323"/>
                </a:solidFill>
                <a:latin typeface="Calibri" pitchFamily="34" charset="0"/>
                <a:ea typeface="Calibri" pitchFamily="34" charset="-122"/>
                <a:cs typeface="Calibri" pitchFamily="34" charset="-120"/>
              </a:rPr>
              <a:t>évoluent</a:t>
            </a:r>
            <a:r>
              <a:rPr lang="en-US" sz="1200" dirty="0">
                <a:solidFill>
                  <a:srgbClr val="232323"/>
                </a:solidFill>
                <a:latin typeface="Calibri" pitchFamily="34" charset="0"/>
                <a:ea typeface="Calibri" pitchFamily="34" charset="-122"/>
                <a:cs typeface="Calibri" pitchFamily="34" charset="-120"/>
              </a:rPr>
              <a:t> </a:t>
            </a:r>
            <a:r>
              <a:rPr lang="en-US" sz="1200" dirty="0" err="1">
                <a:solidFill>
                  <a:srgbClr val="232323"/>
                </a:solidFill>
                <a:latin typeface="Calibri" pitchFamily="34" charset="0"/>
                <a:ea typeface="Calibri" pitchFamily="34" charset="-122"/>
                <a:cs typeface="Calibri" pitchFamily="34" charset="-120"/>
              </a:rPr>
              <a:t>indépendamment</a:t>
            </a:r>
            <a:r>
              <a:rPr lang="en-US" sz="1200" dirty="0">
                <a:solidFill>
                  <a:srgbClr val="232323"/>
                </a:solidFill>
                <a:latin typeface="Calibri" pitchFamily="34" charset="0"/>
                <a:ea typeface="Calibri" pitchFamily="34" charset="-122"/>
                <a:cs typeface="Calibri" pitchFamily="34" charset="-120"/>
              </a:rPr>
              <a:t>.</a:t>
            </a:r>
            <a:endParaRPr lang="en-US" sz="1200" dirty="0"/>
          </a:p>
          <a:p>
            <a:pPr marL="342900" indent="-342900">
              <a:spcAft>
                <a:spcPts val="1000"/>
              </a:spcAft>
              <a:buSzPct val="100000"/>
              <a:buChar char="•"/>
            </a:pPr>
            <a:r>
              <a:rPr lang="en-US" sz="1200" dirty="0">
                <a:solidFill>
                  <a:srgbClr val="232323"/>
                </a:solidFill>
                <a:latin typeface="Calibri" pitchFamily="34" charset="0"/>
                <a:ea typeface="Calibri" pitchFamily="34" charset="-122"/>
                <a:cs typeface="Calibri" pitchFamily="34" charset="-120"/>
              </a:rPr>
              <a:t>Une </a:t>
            </a:r>
            <a:r>
              <a:rPr lang="en-US" sz="1200" dirty="0" err="1">
                <a:solidFill>
                  <a:srgbClr val="232323"/>
                </a:solidFill>
                <a:latin typeface="Calibri" pitchFamily="34" charset="0"/>
                <a:ea typeface="Calibri" pitchFamily="34" charset="-122"/>
                <a:cs typeface="Calibri" pitchFamily="34" charset="-120"/>
              </a:rPr>
              <a:t>même</a:t>
            </a:r>
            <a:r>
              <a:rPr lang="en-US" sz="1200" dirty="0">
                <a:solidFill>
                  <a:srgbClr val="232323"/>
                </a:solidFill>
                <a:latin typeface="Calibri" pitchFamily="34" charset="0"/>
                <a:ea typeface="Calibri" pitchFamily="34" charset="-122"/>
                <a:cs typeface="Calibri" pitchFamily="34" charset="-120"/>
              </a:rPr>
              <a:t> Vue </a:t>
            </a:r>
            <a:r>
              <a:rPr lang="en-US" sz="1200" dirty="0" err="1">
                <a:solidFill>
                  <a:srgbClr val="232323"/>
                </a:solidFill>
                <a:latin typeface="Calibri" pitchFamily="34" charset="0"/>
                <a:ea typeface="Calibri" pitchFamily="34" charset="-122"/>
                <a:cs typeface="Calibri" pitchFamily="34" charset="-120"/>
              </a:rPr>
              <a:t>peut</a:t>
            </a:r>
            <a:r>
              <a:rPr lang="en-US" sz="1200" dirty="0">
                <a:solidFill>
                  <a:srgbClr val="232323"/>
                </a:solidFill>
                <a:latin typeface="Calibri" pitchFamily="34" charset="0"/>
                <a:ea typeface="Calibri" pitchFamily="34" charset="-122"/>
                <a:cs typeface="Calibri" pitchFamily="34" charset="-120"/>
              </a:rPr>
              <a:t> </a:t>
            </a:r>
            <a:r>
              <a:rPr lang="en-US" sz="1200" dirty="0" err="1">
                <a:solidFill>
                  <a:srgbClr val="232323"/>
                </a:solidFill>
                <a:latin typeface="Calibri" pitchFamily="34" charset="0"/>
                <a:ea typeface="Calibri" pitchFamily="34" charset="-122"/>
                <a:cs typeface="Calibri" pitchFamily="34" charset="-120"/>
              </a:rPr>
              <a:t>être</a:t>
            </a:r>
            <a:r>
              <a:rPr lang="en-US" sz="1200" dirty="0">
                <a:solidFill>
                  <a:srgbClr val="232323"/>
                </a:solidFill>
                <a:latin typeface="Calibri" pitchFamily="34" charset="0"/>
                <a:ea typeface="Calibri" pitchFamily="34" charset="-122"/>
                <a:cs typeface="Calibri" pitchFamily="34" charset="-120"/>
              </a:rPr>
              <a:t> </a:t>
            </a:r>
            <a:r>
              <a:rPr lang="en-US" sz="1200" dirty="0" err="1">
                <a:solidFill>
                  <a:srgbClr val="232323"/>
                </a:solidFill>
                <a:latin typeface="Calibri" pitchFamily="34" charset="0"/>
                <a:ea typeface="Calibri" pitchFamily="34" charset="-122"/>
                <a:cs typeface="Calibri" pitchFamily="34" charset="-120"/>
              </a:rPr>
              <a:t>remplacée</a:t>
            </a:r>
            <a:r>
              <a:rPr lang="en-US" sz="1200" dirty="0">
                <a:solidFill>
                  <a:srgbClr val="232323"/>
                </a:solidFill>
                <a:latin typeface="Calibri" pitchFamily="34" charset="0"/>
                <a:ea typeface="Calibri" pitchFamily="34" charset="-122"/>
                <a:cs typeface="Calibri" pitchFamily="34" charset="-120"/>
              </a:rPr>
              <a:t> </a:t>
            </a:r>
            <a:r>
              <a:rPr lang="en-US" sz="1100" i="1" dirty="0">
                <a:solidFill>
                  <a:srgbClr val="232323"/>
                </a:solidFill>
                <a:latin typeface="Calibri" pitchFamily="34" charset="0"/>
                <a:ea typeface="Calibri" pitchFamily="34" charset="-122"/>
                <a:cs typeface="Calibri" pitchFamily="34" charset="-120"/>
              </a:rPr>
              <a:t>(web, mobile, API) </a:t>
            </a:r>
            <a:r>
              <a:rPr lang="en-US" sz="1200" dirty="0">
                <a:solidFill>
                  <a:srgbClr val="232323"/>
                </a:solidFill>
                <a:latin typeface="Calibri" pitchFamily="34" charset="0"/>
                <a:ea typeface="Calibri" pitchFamily="34" charset="-122"/>
                <a:cs typeface="Calibri" pitchFamily="34" charset="-120"/>
              </a:rPr>
              <a:t>sans toucher au </a:t>
            </a:r>
            <a:r>
              <a:rPr lang="en-US" sz="1200" dirty="0" err="1">
                <a:solidFill>
                  <a:srgbClr val="232323"/>
                </a:solidFill>
                <a:latin typeface="Calibri" pitchFamily="34" charset="0"/>
                <a:ea typeface="Calibri" pitchFamily="34" charset="-122"/>
                <a:cs typeface="Calibri" pitchFamily="34" charset="-120"/>
              </a:rPr>
              <a:t>Modèle</a:t>
            </a:r>
            <a:r>
              <a:rPr lang="en-US" sz="1200" dirty="0">
                <a:solidFill>
                  <a:srgbClr val="232323"/>
                </a:solidFill>
                <a:latin typeface="Calibri" pitchFamily="34" charset="0"/>
                <a:ea typeface="Calibri" pitchFamily="34" charset="-122"/>
                <a:cs typeface="Calibri" pitchFamily="34" charset="-120"/>
              </a:rPr>
              <a:t> </a:t>
            </a:r>
            <a:r>
              <a:rPr lang="en-US" sz="1200" dirty="0" err="1">
                <a:solidFill>
                  <a:srgbClr val="232323"/>
                </a:solidFill>
                <a:latin typeface="Calibri" pitchFamily="34" charset="0"/>
                <a:ea typeface="Calibri" pitchFamily="34" charset="-122"/>
                <a:cs typeface="Calibri" pitchFamily="34" charset="-120"/>
              </a:rPr>
              <a:t>ni</a:t>
            </a:r>
            <a:r>
              <a:rPr lang="en-US" sz="1200" dirty="0">
                <a:solidFill>
                  <a:srgbClr val="232323"/>
                </a:solidFill>
                <a:latin typeface="Calibri" pitchFamily="34" charset="0"/>
                <a:ea typeface="Calibri" pitchFamily="34" charset="-122"/>
                <a:cs typeface="Calibri" pitchFamily="34" charset="-120"/>
              </a:rPr>
              <a:t> au </a:t>
            </a:r>
            <a:r>
              <a:rPr lang="en-US" sz="1200" dirty="0" err="1">
                <a:solidFill>
                  <a:srgbClr val="232323"/>
                </a:solidFill>
                <a:latin typeface="Calibri" pitchFamily="34" charset="0"/>
                <a:ea typeface="Calibri" pitchFamily="34" charset="-122"/>
                <a:cs typeface="Calibri" pitchFamily="34" charset="-120"/>
              </a:rPr>
              <a:t>Contrôleur</a:t>
            </a:r>
            <a:r>
              <a:rPr lang="en-US" sz="1200" dirty="0">
                <a:solidFill>
                  <a:srgbClr val="232323"/>
                </a:solidFill>
                <a:latin typeface="Calibri" pitchFamily="34" charset="0"/>
                <a:ea typeface="Calibri" pitchFamily="34" charset="-122"/>
                <a:cs typeface="Calibri" pitchFamily="34" charset="-120"/>
              </a:rPr>
              <a:t>.</a:t>
            </a:r>
            <a:endParaRPr lang="en-US" sz="1200" dirty="0"/>
          </a:p>
          <a:p>
            <a:pPr marL="342900" indent="-342900">
              <a:spcAft>
                <a:spcPts val="1000"/>
              </a:spcAft>
              <a:buSzPct val="100000"/>
              <a:buChar char="•"/>
            </a:pPr>
            <a:r>
              <a:rPr lang="en-US" sz="1200" dirty="0" err="1">
                <a:solidFill>
                  <a:srgbClr val="232323"/>
                </a:solidFill>
                <a:latin typeface="Calibri" pitchFamily="34" charset="0"/>
                <a:ea typeface="Calibri" pitchFamily="34" charset="-122"/>
                <a:cs typeface="Calibri" pitchFamily="34" charset="-120"/>
              </a:rPr>
              <a:t>Facilite</a:t>
            </a:r>
            <a:r>
              <a:rPr lang="en-US" sz="1200" dirty="0">
                <a:solidFill>
                  <a:srgbClr val="232323"/>
                </a:solidFill>
                <a:latin typeface="Calibri" pitchFamily="34" charset="0"/>
                <a:ea typeface="Calibri" pitchFamily="34" charset="-122"/>
                <a:cs typeface="Calibri" pitchFamily="34" charset="-120"/>
              </a:rPr>
              <a:t> les tests </a:t>
            </a:r>
            <a:r>
              <a:rPr lang="en-US" sz="1200" dirty="0" err="1">
                <a:solidFill>
                  <a:srgbClr val="232323"/>
                </a:solidFill>
                <a:latin typeface="Calibri" pitchFamily="34" charset="0"/>
                <a:ea typeface="Calibri" pitchFamily="34" charset="-122"/>
                <a:cs typeface="Calibri" pitchFamily="34" charset="-120"/>
              </a:rPr>
              <a:t>unitaires</a:t>
            </a:r>
            <a:r>
              <a:rPr lang="en-US" sz="1200" dirty="0">
                <a:solidFill>
                  <a:srgbClr val="232323"/>
                </a:solidFill>
                <a:latin typeface="Calibri" pitchFamily="34" charset="0"/>
                <a:ea typeface="Calibri" pitchFamily="34" charset="-122"/>
                <a:cs typeface="Calibri" pitchFamily="34" charset="-120"/>
              </a:rPr>
              <a:t> : </a:t>
            </a:r>
            <a:r>
              <a:rPr lang="en-US" sz="1200" dirty="0" err="1">
                <a:solidFill>
                  <a:srgbClr val="232323"/>
                </a:solidFill>
                <a:latin typeface="Calibri" pitchFamily="34" charset="0"/>
                <a:ea typeface="Calibri" pitchFamily="34" charset="-122"/>
                <a:cs typeface="Calibri" pitchFamily="34" charset="-120"/>
              </a:rPr>
              <a:t>Modèle</a:t>
            </a:r>
            <a:r>
              <a:rPr lang="en-US" sz="1200" dirty="0">
                <a:solidFill>
                  <a:srgbClr val="232323"/>
                </a:solidFill>
                <a:latin typeface="Calibri" pitchFamily="34" charset="0"/>
                <a:ea typeface="Calibri" pitchFamily="34" charset="-122"/>
                <a:cs typeface="Calibri" pitchFamily="34" charset="-120"/>
              </a:rPr>
              <a:t> et </a:t>
            </a:r>
            <a:r>
              <a:rPr lang="en-US" sz="1200" dirty="0" err="1">
                <a:solidFill>
                  <a:srgbClr val="232323"/>
                </a:solidFill>
                <a:latin typeface="Calibri" pitchFamily="34" charset="0"/>
                <a:ea typeface="Calibri" pitchFamily="34" charset="-122"/>
                <a:cs typeface="Calibri" pitchFamily="34" charset="-120"/>
              </a:rPr>
              <a:t>Contrôleur</a:t>
            </a:r>
            <a:r>
              <a:rPr lang="en-US" sz="1200" dirty="0">
                <a:solidFill>
                  <a:srgbClr val="232323"/>
                </a:solidFill>
                <a:latin typeface="Calibri" pitchFamily="34" charset="0"/>
                <a:ea typeface="Calibri" pitchFamily="34" charset="-122"/>
                <a:cs typeface="Calibri" pitchFamily="34" charset="-120"/>
              </a:rPr>
              <a:t> </a:t>
            </a:r>
            <a:r>
              <a:rPr lang="en-US" sz="1200" dirty="0" err="1">
                <a:solidFill>
                  <a:srgbClr val="232323"/>
                </a:solidFill>
                <a:latin typeface="Calibri" pitchFamily="34" charset="0"/>
                <a:ea typeface="Calibri" pitchFamily="34" charset="-122"/>
                <a:cs typeface="Calibri" pitchFamily="34" charset="-120"/>
              </a:rPr>
              <a:t>sont</a:t>
            </a:r>
            <a:r>
              <a:rPr lang="en-US" sz="1200" dirty="0">
                <a:solidFill>
                  <a:srgbClr val="232323"/>
                </a:solidFill>
                <a:latin typeface="Calibri" pitchFamily="34" charset="0"/>
                <a:ea typeface="Calibri" pitchFamily="34" charset="-122"/>
                <a:cs typeface="Calibri" pitchFamily="34" charset="-120"/>
              </a:rPr>
              <a:t> </a:t>
            </a:r>
            <a:r>
              <a:rPr lang="en-US" sz="1200" dirty="0" err="1">
                <a:solidFill>
                  <a:srgbClr val="232323"/>
                </a:solidFill>
                <a:latin typeface="Calibri" pitchFamily="34" charset="0"/>
                <a:ea typeface="Calibri" pitchFamily="34" charset="-122"/>
                <a:cs typeface="Calibri" pitchFamily="34" charset="-120"/>
              </a:rPr>
              <a:t>testables</a:t>
            </a:r>
            <a:r>
              <a:rPr lang="en-US" sz="1200" dirty="0">
                <a:solidFill>
                  <a:srgbClr val="232323"/>
                </a:solidFill>
                <a:latin typeface="Calibri" pitchFamily="34" charset="0"/>
                <a:ea typeface="Calibri" pitchFamily="34" charset="-122"/>
                <a:cs typeface="Calibri" pitchFamily="34" charset="-120"/>
              </a:rPr>
              <a:t> sans interface </a:t>
            </a:r>
            <a:r>
              <a:rPr lang="en-US" sz="1200" dirty="0" err="1">
                <a:solidFill>
                  <a:srgbClr val="232323"/>
                </a:solidFill>
                <a:latin typeface="Calibri" pitchFamily="34" charset="0"/>
                <a:ea typeface="Calibri" pitchFamily="34" charset="-122"/>
                <a:cs typeface="Calibri" pitchFamily="34" charset="-120"/>
              </a:rPr>
              <a:t>graphique</a:t>
            </a:r>
            <a:r>
              <a:rPr lang="en-US" sz="1200" dirty="0">
                <a:solidFill>
                  <a:srgbClr val="232323"/>
                </a:solidFill>
                <a:latin typeface="Calibri" pitchFamily="34" charset="0"/>
                <a:ea typeface="Calibri" pitchFamily="34" charset="-122"/>
                <a:cs typeface="Calibri" pitchFamily="34" charset="-120"/>
              </a:rPr>
              <a:t>.</a:t>
            </a:r>
            <a:endParaRPr lang="en-US" sz="1200" dirty="0"/>
          </a:p>
          <a:p>
            <a:pPr marL="342900" indent="-342900">
              <a:buSzPct val="100000"/>
              <a:buChar char="•"/>
            </a:pPr>
            <a:r>
              <a:rPr lang="en-US" sz="1200" dirty="0">
                <a:solidFill>
                  <a:srgbClr val="232323"/>
                </a:solidFill>
                <a:latin typeface="Calibri" pitchFamily="34" charset="0"/>
                <a:ea typeface="Calibri" pitchFamily="34" charset="-122"/>
                <a:cs typeface="Calibri" pitchFamily="34" charset="-120"/>
              </a:rPr>
              <a:t>Pattern </a:t>
            </a:r>
            <a:r>
              <a:rPr lang="en-US" sz="1200" dirty="0" err="1">
                <a:solidFill>
                  <a:srgbClr val="232323"/>
                </a:solidFill>
                <a:latin typeface="Calibri" pitchFamily="34" charset="0"/>
                <a:ea typeface="Calibri" pitchFamily="34" charset="-122"/>
                <a:cs typeface="Calibri" pitchFamily="34" charset="-120"/>
              </a:rPr>
              <a:t>largement</a:t>
            </a:r>
            <a:r>
              <a:rPr lang="en-US" sz="1200" dirty="0">
                <a:solidFill>
                  <a:srgbClr val="232323"/>
                </a:solidFill>
                <a:latin typeface="Calibri" pitchFamily="34" charset="0"/>
                <a:ea typeface="Calibri" pitchFamily="34" charset="-122"/>
                <a:cs typeface="Calibri" pitchFamily="34" charset="-120"/>
              </a:rPr>
              <a:t> </a:t>
            </a:r>
            <a:r>
              <a:rPr lang="en-US" sz="1200" dirty="0" err="1">
                <a:solidFill>
                  <a:srgbClr val="232323"/>
                </a:solidFill>
                <a:latin typeface="Calibri" pitchFamily="34" charset="0"/>
                <a:ea typeface="Calibri" pitchFamily="34" charset="-122"/>
                <a:cs typeface="Calibri" pitchFamily="34" charset="-120"/>
              </a:rPr>
              <a:t>répandu</a:t>
            </a:r>
            <a:r>
              <a:rPr lang="en-US" sz="1200" dirty="0">
                <a:solidFill>
                  <a:srgbClr val="232323"/>
                </a:solidFill>
                <a:latin typeface="Calibri" pitchFamily="34" charset="0"/>
                <a:ea typeface="Calibri" pitchFamily="34" charset="-122"/>
                <a:cs typeface="Calibri" pitchFamily="34" charset="-120"/>
              </a:rPr>
              <a:t> : onboarding </a:t>
            </a:r>
            <a:r>
              <a:rPr lang="en-US" sz="1200" dirty="0" err="1">
                <a:solidFill>
                  <a:srgbClr val="232323"/>
                </a:solidFill>
                <a:latin typeface="Calibri" pitchFamily="34" charset="0"/>
                <a:ea typeface="Calibri" pitchFamily="34" charset="-122"/>
                <a:cs typeface="Calibri" pitchFamily="34" charset="-120"/>
              </a:rPr>
              <a:t>rapide</a:t>
            </a:r>
            <a:r>
              <a:rPr lang="en-US" sz="1200" dirty="0">
                <a:solidFill>
                  <a:srgbClr val="232323"/>
                </a:solidFill>
                <a:latin typeface="Calibri" pitchFamily="34" charset="0"/>
                <a:ea typeface="Calibri" pitchFamily="34" charset="-122"/>
                <a:cs typeface="Calibri" pitchFamily="34" charset="-120"/>
              </a:rPr>
              <a:t>, </a:t>
            </a:r>
            <a:r>
              <a:rPr lang="en-US" sz="1200" dirty="0" err="1">
                <a:solidFill>
                  <a:srgbClr val="232323"/>
                </a:solidFill>
                <a:latin typeface="Calibri" pitchFamily="34" charset="0"/>
                <a:ea typeface="Calibri" pitchFamily="34" charset="-122"/>
                <a:cs typeface="Calibri" pitchFamily="34" charset="-120"/>
              </a:rPr>
              <a:t>nombreux</a:t>
            </a:r>
            <a:r>
              <a:rPr lang="en-US" sz="1200" dirty="0">
                <a:solidFill>
                  <a:srgbClr val="232323"/>
                </a:solidFill>
                <a:latin typeface="Calibri" pitchFamily="34" charset="0"/>
                <a:ea typeface="Calibri" pitchFamily="34" charset="-122"/>
                <a:cs typeface="Calibri" pitchFamily="34" charset="-120"/>
              </a:rPr>
              <a:t> frameworks </a:t>
            </a:r>
            <a:r>
              <a:rPr lang="en-US" sz="1200" dirty="0" err="1">
                <a:solidFill>
                  <a:srgbClr val="232323"/>
                </a:solidFill>
                <a:latin typeface="Calibri" pitchFamily="34" charset="0"/>
                <a:ea typeface="Calibri" pitchFamily="34" charset="-122"/>
                <a:cs typeface="Calibri" pitchFamily="34" charset="-120"/>
              </a:rPr>
              <a:t>prêts</a:t>
            </a:r>
            <a:r>
              <a:rPr lang="en-US" sz="1200" dirty="0">
                <a:solidFill>
                  <a:srgbClr val="232323"/>
                </a:solidFill>
                <a:latin typeface="Calibri" pitchFamily="34" charset="0"/>
                <a:ea typeface="Calibri" pitchFamily="34" charset="-122"/>
                <a:cs typeface="Calibri" pitchFamily="34" charset="-120"/>
              </a:rPr>
              <a:t> à </a:t>
            </a:r>
            <a:r>
              <a:rPr lang="en-US" sz="1200" dirty="0" err="1">
                <a:solidFill>
                  <a:srgbClr val="232323"/>
                </a:solidFill>
                <a:latin typeface="Calibri" pitchFamily="34" charset="0"/>
                <a:ea typeface="Calibri" pitchFamily="34" charset="-122"/>
                <a:cs typeface="Calibri" pitchFamily="34" charset="-120"/>
              </a:rPr>
              <a:t>l'emploi</a:t>
            </a:r>
            <a:r>
              <a:rPr lang="en-US" sz="1200" dirty="0">
                <a:solidFill>
                  <a:srgbClr val="232323"/>
                </a:solidFill>
                <a:latin typeface="Calibri" pitchFamily="34" charset="0"/>
                <a:ea typeface="Calibri" pitchFamily="34" charset="-122"/>
                <a:cs typeface="Calibri" pitchFamily="34" charset="-120"/>
              </a:rPr>
              <a:t>.</a:t>
            </a:r>
          </a:p>
          <a:p>
            <a:pPr>
              <a:lnSpc>
                <a:spcPct val="150000"/>
              </a:lnSpc>
              <a:buSzPct val="100000"/>
            </a:pPr>
            <a:endParaRPr lang="en-US" sz="1200" b="1" dirty="0">
              <a:solidFill>
                <a:srgbClr val="232323"/>
              </a:solidFill>
              <a:latin typeface="Calibri" pitchFamily="34" charset="0"/>
              <a:ea typeface="Calibri" pitchFamily="34" charset="-122"/>
              <a:cs typeface="Calibri" pitchFamily="34" charset="-120"/>
            </a:endParaRPr>
          </a:p>
          <a:p>
            <a:pPr>
              <a:lnSpc>
                <a:spcPct val="150000"/>
              </a:lnSpc>
              <a:buSzPct val="100000"/>
            </a:pPr>
            <a:r>
              <a:rPr lang="en-US" sz="1200" b="1" dirty="0" err="1">
                <a:solidFill>
                  <a:srgbClr val="232323"/>
                </a:solidFill>
                <a:latin typeface="Calibri" pitchFamily="34" charset="0"/>
                <a:ea typeface="Calibri" pitchFamily="34" charset="-122"/>
                <a:cs typeface="Calibri" pitchFamily="34" charset="-120"/>
              </a:rPr>
              <a:t>Limite</a:t>
            </a:r>
            <a:r>
              <a:rPr lang="en-US" sz="1200" b="1" dirty="0">
                <a:solidFill>
                  <a:srgbClr val="232323"/>
                </a:solidFill>
                <a:latin typeface="Calibri" pitchFamily="34" charset="0"/>
                <a:ea typeface="Calibri" pitchFamily="34" charset="-122"/>
                <a:cs typeface="Calibri" pitchFamily="34" charset="-120"/>
              </a:rPr>
              <a:t> :</a:t>
            </a:r>
          </a:p>
          <a:p>
            <a:pPr>
              <a:lnSpc>
                <a:spcPct val="150000"/>
              </a:lnSpc>
              <a:buSzPct val="100000"/>
            </a:pPr>
            <a:r>
              <a:rPr lang="en-US" sz="1200" dirty="0">
                <a:solidFill>
                  <a:srgbClr val="232323"/>
                </a:solidFill>
                <a:latin typeface="Calibri" pitchFamily="34" charset="0"/>
                <a:ea typeface="Calibri" pitchFamily="34" charset="-122"/>
                <a:cs typeface="Calibri" pitchFamily="34" charset="-120"/>
              </a:rPr>
              <a:t>Sur des interfaces très interactives </a:t>
            </a:r>
            <a:r>
              <a:rPr lang="en-US" sz="1100" i="1" dirty="0">
                <a:solidFill>
                  <a:srgbClr val="232323"/>
                </a:solidFill>
                <a:latin typeface="Calibri" pitchFamily="34" charset="0"/>
                <a:ea typeface="Calibri" pitchFamily="34" charset="-122"/>
                <a:cs typeface="Calibri" pitchFamily="34" charset="-120"/>
              </a:rPr>
              <a:t>(SPA complexes)</a:t>
            </a:r>
            <a:r>
              <a:rPr lang="en-US" sz="1200" dirty="0">
                <a:solidFill>
                  <a:srgbClr val="232323"/>
                </a:solidFill>
                <a:latin typeface="Calibri" pitchFamily="34" charset="0"/>
                <a:ea typeface="Calibri" pitchFamily="34" charset="-122"/>
                <a:cs typeface="Calibri" pitchFamily="34" charset="-120"/>
              </a:rPr>
              <a:t>, le </a:t>
            </a:r>
            <a:r>
              <a:rPr lang="en-US" sz="1200" dirty="0" err="1">
                <a:solidFill>
                  <a:srgbClr val="232323"/>
                </a:solidFill>
                <a:latin typeface="Calibri" pitchFamily="34" charset="0"/>
                <a:ea typeface="Calibri" pitchFamily="34" charset="-122"/>
                <a:cs typeface="Calibri" pitchFamily="34" charset="-120"/>
              </a:rPr>
              <a:t>Contrôleur</a:t>
            </a:r>
            <a:r>
              <a:rPr lang="en-US" sz="1200" dirty="0">
                <a:solidFill>
                  <a:srgbClr val="232323"/>
                </a:solidFill>
                <a:latin typeface="Calibri" pitchFamily="34" charset="0"/>
                <a:ea typeface="Calibri" pitchFamily="34" charset="-122"/>
                <a:cs typeface="Calibri" pitchFamily="34" charset="-120"/>
              </a:rPr>
              <a:t> </a:t>
            </a:r>
            <a:r>
              <a:rPr lang="en-US" sz="1200" dirty="0" err="1">
                <a:solidFill>
                  <a:srgbClr val="232323"/>
                </a:solidFill>
                <a:latin typeface="Calibri" pitchFamily="34" charset="0"/>
                <a:ea typeface="Calibri" pitchFamily="34" charset="-122"/>
                <a:cs typeface="Calibri" pitchFamily="34" charset="-120"/>
              </a:rPr>
              <a:t>peut</a:t>
            </a:r>
            <a:r>
              <a:rPr lang="en-US" sz="1200" dirty="0">
                <a:solidFill>
                  <a:srgbClr val="232323"/>
                </a:solidFill>
                <a:latin typeface="Calibri" pitchFamily="34" charset="0"/>
                <a:ea typeface="Calibri" pitchFamily="34" charset="-122"/>
                <a:cs typeface="Calibri" pitchFamily="34" charset="-120"/>
              </a:rPr>
              <a:t> </a:t>
            </a:r>
            <a:r>
              <a:rPr lang="en-US" sz="1200" dirty="0" err="1">
                <a:solidFill>
                  <a:srgbClr val="232323"/>
                </a:solidFill>
                <a:latin typeface="Calibri" pitchFamily="34" charset="0"/>
                <a:ea typeface="Calibri" pitchFamily="34" charset="-122"/>
                <a:cs typeface="Calibri" pitchFamily="34" charset="-120"/>
              </a:rPr>
              <a:t>devenir</a:t>
            </a:r>
            <a:r>
              <a:rPr lang="en-US" sz="1200" dirty="0">
                <a:solidFill>
                  <a:srgbClr val="232323"/>
                </a:solidFill>
                <a:latin typeface="Calibri" pitchFamily="34" charset="0"/>
                <a:ea typeface="Calibri" pitchFamily="34" charset="-122"/>
                <a:cs typeface="Calibri" pitchFamily="34" charset="-120"/>
              </a:rPr>
              <a:t> un point de passage </a:t>
            </a:r>
            <a:r>
              <a:rPr lang="en-US" sz="1200" dirty="0" err="1">
                <a:solidFill>
                  <a:srgbClr val="232323"/>
                </a:solidFill>
                <a:latin typeface="Calibri" pitchFamily="34" charset="0"/>
                <a:ea typeface="Calibri" pitchFamily="34" charset="-122"/>
                <a:cs typeface="Calibri" pitchFamily="34" charset="-120"/>
              </a:rPr>
              <a:t>surchargé</a:t>
            </a:r>
            <a:r>
              <a:rPr lang="en-US" sz="1200" dirty="0">
                <a:solidFill>
                  <a:srgbClr val="232323"/>
                </a:solidFill>
                <a:latin typeface="Calibri" pitchFamily="34" charset="0"/>
                <a:ea typeface="Calibri" pitchFamily="34" charset="-122"/>
                <a:cs typeface="Calibri" pitchFamily="34" charset="-120"/>
              </a:rPr>
              <a:t> </a:t>
            </a:r>
            <a:r>
              <a:rPr lang="en-US" sz="1050" i="1" dirty="0">
                <a:solidFill>
                  <a:srgbClr val="232323"/>
                </a:solidFill>
                <a:latin typeface="Calibri" pitchFamily="34" charset="0"/>
                <a:ea typeface="Calibri" pitchFamily="34" charset="-122"/>
                <a:cs typeface="Calibri" pitchFamily="34" charset="-120"/>
              </a:rPr>
              <a:t>(« Fat Controller »)</a:t>
            </a:r>
            <a:r>
              <a:rPr lang="en-US" sz="1200" dirty="0">
                <a:solidFill>
                  <a:srgbClr val="232323"/>
                </a:solidFill>
                <a:latin typeface="Calibri" pitchFamily="34" charset="0"/>
                <a:ea typeface="Calibri" pitchFamily="34" charset="-122"/>
                <a:cs typeface="Calibri" pitchFamily="34" charset="-120"/>
              </a:rPr>
              <a:t> et la </a:t>
            </a:r>
            <a:r>
              <a:rPr lang="en-US" sz="1200" dirty="0" err="1">
                <a:solidFill>
                  <a:srgbClr val="232323"/>
                </a:solidFill>
                <a:latin typeface="Calibri" pitchFamily="34" charset="0"/>
                <a:ea typeface="Calibri" pitchFamily="34" charset="-122"/>
                <a:cs typeface="Calibri" pitchFamily="34" charset="-120"/>
              </a:rPr>
              <a:t>frontière</a:t>
            </a:r>
            <a:r>
              <a:rPr lang="en-US" sz="1200" dirty="0">
                <a:solidFill>
                  <a:srgbClr val="232323"/>
                </a:solidFill>
                <a:latin typeface="Calibri" pitchFamily="34" charset="0"/>
                <a:ea typeface="Calibri" pitchFamily="34" charset="-122"/>
                <a:cs typeface="Calibri" pitchFamily="34" charset="-120"/>
              </a:rPr>
              <a:t> Vue/</a:t>
            </a:r>
            <a:r>
              <a:rPr lang="en-US" sz="1200" dirty="0" err="1">
                <a:solidFill>
                  <a:srgbClr val="232323"/>
                </a:solidFill>
                <a:latin typeface="Calibri" pitchFamily="34" charset="0"/>
                <a:ea typeface="Calibri" pitchFamily="34" charset="-122"/>
                <a:cs typeface="Calibri" pitchFamily="34" charset="-120"/>
              </a:rPr>
              <a:t>Contrôleur</a:t>
            </a:r>
            <a:r>
              <a:rPr lang="en-US" sz="1200" dirty="0">
                <a:solidFill>
                  <a:srgbClr val="232323"/>
                </a:solidFill>
                <a:latin typeface="Calibri" pitchFamily="34" charset="0"/>
                <a:ea typeface="Calibri" pitchFamily="34" charset="-122"/>
                <a:cs typeface="Calibri" pitchFamily="34" charset="-120"/>
              </a:rPr>
              <a:t> se </a:t>
            </a:r>
            <a:r>
              <a:rPr lang="en-US" sz="1200" dirty="0" err="1">
                <a:solidFill>
                  <a:srgbClr val="232323"/>
                </a:solidFill>
                <a:latin typeface="Calibri" pitchFamily="34" charset="0"/>
                <a:ea typeface="Calibri" pitchFamily="34" charset="-122"/>
                <a:cs typeface="Calibri" pitchFamily="34" charset="-120"/>
              </a:rPr>
              <a:t>brouille</a:t>
            </a:r>
            <a:r>
              <a:rPr lang="en-US" sz="1200" dirty="0">
                <a:solidFill>
                  <a:srgbClr val="232323"/>
                </a:solidFill>
                <a:latin typeface="Calibri" pitchFamily="34" charset="0"/>
                <a:ea typeface="Calibri" pitchFamily="34" charset="-122"/>
                <a:cs typeface="Calibri" pitchFamily="34" charset="-120"/>
              </a:rPr>
              <a:t>, </a:t>
            </a:r>
            <a:r>
              <a:rPr lang="en-US" sz="1200" dirty="0" err="1">
                <a:solidFill>
                  <a:srgbClr val="232323"/>
                </a:solidFill>
                <a:latin typeface="Calibri" pitchFamily="34" charset="0"/>
                <a:ea typeface="Calibri" pitchFamily="34" charset="-122"/>
                <a:cs typeface="Calibri" pitchFamily="34" charset="-120"/>
              </a:rPr>
              <a:t>d'où</a:t>
            </a:r>
            <a:r>
              <a:rPr lang="en-US" sz="1200" dirty="0">
                <a:solidFill>
                  <a:srgbClr val="232323"/>
                </a:solidFill>
                <a:latin typeface="Calibri" pitchFamily="34" charset="0"/>
                <a:ea typeface="Calibri" pitchFamily="34" charset="-122"/>
                <a:cs typeface="Calibri" pitchFamily="34" charset="-120"/>
              </a:rPr>
              <a:t> </a:t>
            </a:r>
            <a:r>
              <a:rPr lang="en-US" sz="1200" dirty="0" err="1">
                <a:solidFill>
                  <a:srgbClr val="232323"/>
                </a:solidFill>
                <a:latin typeface="Calibri" pitchFamily="34" charset="0"/>
                <a:ea typeface="Calibri" pitchFamily="34" charset="-122"/>
                <a:cs typeface="Calibri" pitchFamily="34" charset="-120"/>
              </a:rPr>
              <a:t>l'émergence</a:t>
            </a:r>
            <a:r>
              <a:rPr lang="en-US" sz="1200" dirty="0">
                <a:solidFill>
                  <a:srgbClr val="232323"/>
                </a:solidFill>
                <a:latin typeface="Calibri" pitchFamily="34" charset="0"/>
                <a:ea typeface="Calibri" pitchFamily="34" charset="-122"/>
                <a:cs typeface="Calibri" pitchFamily="34" charset="-120"/>
              </a:rPr>
              <a:t> de </a:t>
            </a:r>
            <a:r>
              <a:rPr lang="en-US" sz="1200" dirty="0" err="1">
                <a:solidFill>
                  <a:srgbClr val="232323"/>
                </a:solidFill>
                <a:latin typeface="Calibri" pitchFamily="34" charset="0"/>
                <a:ea typeface="Calibri" pitchFamily="34" charset="-122"/>
                <a:cs typeface="Calibri" pitchFamily="34" charset="-120"/>
              </a:rPr>
              <a:t>variantes</a:t>
            </a:r>
            <a:r>
              <a:rPr lang="en-US" sz="1200" dirty="0">
                <a:solidFill>
                  <a:srgbClr val="232323"/>
                </a:solidFill>
                <a:latin typeface="Calibri" pitchFamily="34" charset="0"/>
                <a:ea typeface="Calibri" pitchFamily="34" charset="-122"/>
                <a:cs typeface="Calibri" pitchFamily="34" charset="-120"/>
              </a:rPr>
              <a:t> </a:t>
            </a:r>
            <a:r>
              <a:rPr lang="en-US" sz="1200" dirty="0" err="1">
                <a:solidFill>
                  <a:srgbClr val="232323"/>
                </a:solidFill>
                <a:latin typeface="Calibri" pitchFamily="34" charset="0"/>
                <a:ea typeface="Calibri" pitchFamily="34" charset="-122"/>
                <a:cs typeface="Calibri" pitchFamily="34" charset="-120"/>
              </a:rPr>
              <a:t>comme</a:t>
            </a:r>
            <a:r>
              <a:rPr lang="en-US" sz="1200" dirty="0">
                <a:solidFill>
                  <a:srgbClr val="232323"/>
                </a:solidFill>
                <a:latin typeface="Calibri" pitchFamily="34" charset="0"/>
                <a:ea typeface="Calibri" pitchFamily="34" charset="-122"/>
                <a:cs typeface="Calibri" pitchFamily="34" charset="-120"/>
              </a:rPr>
              <a:t> MVVM </a:t>
            </a:r>
            <a:r>
              <a:rPr lang="en-US" sz="1200" dirty="0" err="1">
                <a:solidFill>
                  <a:srgbClr val="232323"/>
                </a:solidFill>
                <a:latin typeface="Calibri" pitchFamily="34" charset="0"/>
                <a:ea typeface="Calibri" pitchFamily="34" charset="-122"/>
                <a:cs typeface="Calibri" pitchFamily="34" charset="-120"/>
              </a:rPr>
              <a:t>ou</a:t>
            </a:r>
            <a:r>
              <a:rPr lang="en-US" sz="1200" dirty="0">
                <a:solidFill>
                  <a:srgbClr val="232323"/>
                </a:solidFill>
                <a:latin typeface="Calibri" pitchFamily="34" charset="0"/>
                <a:ea typeface="Calibri" pitchFamily="34" charset="-122"/>
                <a:cs typeface="Calibri" pitchFamily="34" charset="-120"/>
              </a:rPr>
              <a:t> MVP.</a:t>
            </a:r>
          </a:p>
          <a:p>
            <a:pPr>
              <a:lnSpc>
                <a:spcPct val="150000"/>
              </a:lnSpc>
              <a:buSzPct val="100000"/>
            </a:pPr>
            <a:endParaRPr lang="en-US" sz="1200" dirty="0">
              <a:solidFill>
                <a:srgbClr val="232323"/>
              </a:solidFill>
              <a:latin typeface="Calibri" pitchFamily="34" charset="0"/>
              <a:ea typeface="Calibri" pitchFamily="34" charset="-122"/>
              <a:cs typeface="Calibri" pitchFamily="34" charset="-120"/>
            </a:endParaRPr>
          </a:p>
          <a:p>
            <a:pPr algn="just">
              <a:lnSpc>
                <a:spcPct val="150000"/>
              </a:lnSpc>
            </a:pPr>
            <a:endParaRPr lang="en-US" sz="1200" dirty="0"/>
          </a:p>
          <a:p>
            <a:pPr algn="just">
              <a:lnSpc>
                <a:spcPct val="150000"/>
              </a:lnSpc>
            </a:pPr>
            <a:endParaRPr lang="en-US" sz="1200" dirty="0"/>
          </a:p>
        </p:txBody>
      </p:sp>
      <p:sp>
        <p:nvSpPr>
          <p:cNvPr id="20" name="TextBox 19">
            <a:extLst>
              <a:ext uri="{FF2B5EF4-FFF2-40B4-BE49-F238E27FC236}">
                <a16:creationId xmlns:a16="http://schemas.microsoft.com/office/drawing/2014/main" id="{B3880E35-35A9-6CDF-8A8C-1E0931834CA2}"/>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Tree>
    <p:extLst>
      <p:ext uri="{BB962C8B-B14F-4D97-AF65-F5344CB8AC3E}">
        <p14:creationId xmlns:p14="http://schemas.microsoft.com/office/powerpoint/2010/main" val="20230530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E1B1400-D183-8C40-C8BE-5B11C3F04208}"/>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5D767FF9-BA25-BD5B-288C-7FA804358E92}"/>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ADEDFF0E-8929-EF97-18FA-8353C63EF62D}"/>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4E3AC4C4-0B1F-72C2-1C39-1E71F6D7F67F}"/>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86AB9C1C-C3A1-280D-1357-4F76C4E93D3D}"/>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E6A2B0C9-00B6-371B-0788-DB3D0B82DCED}"/>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F1D98B61-03A3-E73A-ACD6-A339F0377881}"/>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C9DFD747-0618-5CEE-CB3B-D83CDE62FD8E}"/>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Architecture Pattern - </a:t>
            </a:r>
            <a:r>
              <a:rPr lang="fr-FR" b="1" dirty="0">
                <a:solidFill>
                  <a:srgbClr val="0B1F3A"/>
                </a:solidFill>
                <a:latin typeface="Cambria" pitchFamily="34" charset="0"/>
                <a:ea typeface="Cambria" pitchFamily="34" charset="-122"/>
                <a:cs typeface="Cambria" pitchFamily="34" charset="-120"/>
              </a:rPr>
              <a:t>L'architecture en couches (</a:t>
            </a:r>
            <a:r>
              <a:rPr lang="fr-FR" b="1" dirty="0" err="1">
                <a:solidFill>
                  <a:srgbClr val="0B1F3A"/>
                </a:solidFill>
                <a:latin typeface="Cambria" pitchFamily="34" charset="0"/>
                <a:ea typeface="Cambria" pitchFamily="34" charset="-122"/>
                <a:cs typeface="Cambria" pitchFamily="34" charset="-120"/>
              </a:rPr>
              <a:t>Layered</a:t>
            </a:r>
            <a:r>
              <a:rPr lang="fr-FR" b="1" dirty="0">
                <a:solidFill>
                  <a:srgbClr val="0B1F3A"/>
                </a:solidFill>
                <a:latin typeface="Cambria" pitchFamily="34" charset="0"/>
                <a:ea typeface="Cambria" pitchFamily="34" charset="-122"/>
                <a:cs typeface="Cambria" pitchFamily="34" charset="-120"/>
              </a:rPr>
              <a:t>)</a:t>
            </a:r>
            <a:endParaRPr lang="fr-FR" dirty="0"/>
          </a:p>
        </p:txBody>
      </p:sp>
      <p:sp>
        <p:nvSpPr>
          <p:cNvPr id="10" name="Shape 3">
            <a:extLst>
              <a:ext uri="{FF2B5EF4-FFF2-40B4-BE49-F238E27FC236}">
                <a16:creationId xmlns:a16="http://schemas.microsoft.com/office/drawing/2014/main" id="{BD06D929-89D8-84DB-E076-B94FB17DB66E}"/>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8C3D6133-4077-7B69-7CCC-6C8A105897BD}"/>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AB57BFBA-1B60-DD30-8FCB-FB83D6290C25}"/>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D8C68F8B-CA2D-2A7A-1EC9-35BADE6B4C29}"/>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29</a:t>
            </a:r>
            <a:endParaRPr lang="en-US" sz="900" dirty="0"/>
          </a:p>
        </p:txBody>
      </p:sp>
      <p:pic>
        <p:nvPicPr>
          <p:cNvPr id="18" name="object 2">
            <a:extLst>
              <a:ext uri="{FF2B5EF4-FFF2-40B4-BE49-F238E27FC236}">
                <a16:creationId xmlns:a16="http://schemas.microsoft.com/office/drawing/2014/main" id="{6E4F14FA-4B92-8D38-CB06-3C02E6FB6D2E}"/>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8EF18187-519E-5C1F-8797-8EF54E2BB0A8}"/>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7" name="Text 4">
            <a:extLst>
              <a:ext uri="{FF2B5EF4-FFF2-40B4-BE49-F238E27FC236}">
                <a16:creationId xmlns:a16="http://schemas.microsoft.com/office/drawing/2014/main" id="{A428F2D8-1A4E-C0BE-47C8-09972CDCB93A}"/>
              </a:ext>
            </a:extLst>
          </p:cNvPr>
          <p:cNvSpPr/>
          <p:nvPr/>
        </p:nvSpPr>
        <p:spPr>
          <a:xfrm>
            <a:off x="320040" y="731520"/>
            <a:ext cx="8046720" cy="3710920"/>
          </a:xfrm>
          <a:prstGeom prst="rect">
            <a:avLst/>
          </a:prstGeom>
          <a:noFill/>
          <a:ln/>
        </p:spPr>
        <p:txBody>
          <a:bodyPr wrap="square" rtlCol="0" anchor="t"/>
          <a:lstStyle/>
          <a:p>
            <a:pPr algn="just">
              <a:lnSpc>
                <a:spcPct val="150000"/>
              </a:lnSpc>
            </a:pPr>
            <a:r>
              <a:rPr lang="fr-FR" sz="1200" dirty="0"/>
              <a:t>L'architecture en couches est un modèle de conception logicielle qui divise une application en groupes distincts de responsabilités superposés. Chaque couche communique uniquement avec celle qui la suit, garantissant une séparation claire des préoccupations, une meilleure maintenabilité et la réutilisation du code.</a:t>
            </a:r>
          </a:p>
          <a:p>
            <a:pPr>
              <a:lnSpc>
                <a:spcPct val="150000"/>
              </a:lnSpc>
            </a:pPr>
            <a:endParaRPr lang="fr-FR" sz="1200" dirty="0"/>
          </a:p>
          <a:p>
            <a:pPr>
              <a:lnSpc>
                <a:spcPct val="150000"/>
              </a:lnSpc>
            </a:pPr>
            <a:r>
              <a:rPr lang="fr-FR" sz="1200" dirty="0"/>
              <a:t>Le principe fondamental est le suivant : </a:t>
            </a:r>
            <a:r>
              <a:rPr lang="fr-FR" sz="1200" b="1" dirty="0"/>
              <a:t>chaque couche ne dépend que de la couche immédiatement inférieure</a:t>
            </a:r>
            <a:r>
              <a:rPr lang="fr-FR" sz="1200" dirty="0"/>
              <a:t>. Cette règle simple apporte trois bénéfices majeurs :</a:t>
            </a:r>
          </a:p>
          <a:p>
            <a:pPr marL="228600" indent="-228600">
              <a:lnSpc>
                <a:spcPct val="150000"/>
              </a:lnSpc>
              <a:buFont typeface="Arial" panose="020B0604020202020204" pitchFamily="34" charset="0"/>
              <a:buChar char="•"/>
            </a:pPr>
            <a:r>
              <a:rPr lang="fr-FR" sz="1200" b="1" dirty="0"/>
              <a:t>Isoler les changements</a:t>
            </a:r>
            <a:r>
              <a:rPr lang="fr-FR" sz="1200" dirty="0"/>
              <a:t> : modifier la base de données n'impacte pas les contrôleurs</a:t>
            </a:r>
          </a:p>
          <a:p>
            <a:pPr marL="228600" indent="-228600">
              <a:lnSpc>
                <a:spcPct val="150000"/>
              </a:lnSpc>
              <a:buFont typeface="Arial" panose="020B0604020202020204" pitchFamily="34" charset="0"/>
              <a:buChar char="•"/>
            </a:pPr>
            <a:r>
              <a:rPr lang="fr-FR" sz="1200" b="1" dirty="0"/>
              <a:t>Faciliter les tests</a:t>
            </a:r>
            <a:r>
              <a:rPr lang="fr-FR" sz="1200" dirty="0"/>
              <a:t> : tester la couche Service sans base de données réelle (S10)</a:t>
            </a:r>
          </a:p>
          <a:p>
            <a:pPr marL="228600" indent="-228600">
              <a:lnSpc>
                <a:spcPct val="150000"/>
              </a:lnSpc>
              <a:buFont typeface="Arial" panose="020B0604020202020204" pitchFamily="34" charset="0"/>
              <a:buChar char="•"/>
            </a:pPr>
            <a:r>
              <a:rPr lang="fr-FR" sz="1200" b="1" dirty="0"/>
              <a:t>Clarifier les responsabilités</a:t>
            </a:r>
            <a:r>
              <a:rPr lang="fr-FR" sz="1200" dirty="0"/>
              <a:t> de chaque classe du projet</a:t>
            </a:r>
          </a:p>
          <a:p>
            <a:pPr algn="just">
              <a:lnSpc>
                <a:spcPct val="150000"/>
              </a:lnSpc>
            </a:pPr>
            <a:endParaRPr lang="fr-FR" sz="1200" dirty="0"/>
          </a:p>
          <a:p>
            <a:pPr algn="just">
              <a:lnSpc>
                <a:spcPct val="150000"/>
              </a:lnSpc>
            </a:pPr>
            <a:endParaRPr lang="en-US" sz="1200" dirty="0"/>
          </a:p>
        </p:txBody>
      </p:sp>
      <p:sp>
        <p:nvSpPr>
          <p:cNvPr id="16" name="TextBox 15">
            <a:extLst>
              <a:ext uri="{FF2B5EF4-FFF2-40B4-BE49-F238E27FC236}">
                <a16:creationId xmlns:a16="http://schemas.microsoft.com/office/drawing/2014/main" id="{68942A33-092D-C454-9A73-5EF3D1F529A5}"/>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Tree>
    <p:extLst>
      <p:ext uri="{BB962C8B-B14F-4D97-AF65-F5344CB8AC3E}">
        <p14:creationId xmlns:p14="http://schemas.microsoft.com/office/powerpoint/2010/main" val="26166904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7FD3FBA-6BDA-6F16-6759-8A832F957732}"/>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EDB772D-CE01-F87F-409C-3A054596522C}"/>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3DD6F829-29E3-BE08-C213-B4026FDFE664}"/>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01E8C1B5-6D17-8514-788A-BE03D9F0123A}"/>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EB2961DF-41C9-3BF0-37E3-E941F5FBEA3B}"/>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80F2421F-1D0E-CDE5-7E72-1CBE018E91FC}"/>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45F72BB8-70EC-3B4A-4B57-2E0499DA55D8}"/>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40241FD4-7D63-2104-0DED-292109EBED98}"/>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Architecture Pattern - </a:t>
            </a:r>
            <a:r>
              <a:rPr lang="fr-FR" b="1" dirty="0">
                <a:solidFill>
                  <a:srgbClr val="0B1F3A"/>
                </a:solidFill>
                <a:latin typeface="Cambria" pitchFamily="34" charset="0"/>
                <a:ea typeface="Cambria" pitchFamily="34" charset="-122"/>
                <a:cs typeface="Cambria" pitchFamily="34" charset="-120"/>
              </a:rPr>
              <a:t>L'architecture en couches (</a:t>
            </a:r>
            <a:r>
              <a:rPr lang="fr-FR" b="1" dirty="0" err="1">
                <a:solidFill>
                  <a:srgbClr val="0B1F3A"/>
                </a:solidFill>
                <a:latin typeface="Cambria" pitchFamily="34" charset="0"/>
                <a:ea typeface="Cambria" pitchFamily="34" charset="-122"/>
                <a:cs typeface="Cambria" pitchFamily="34" charset="-120"/>
              </a:rPr>
              <a:t>Layered</a:t>
            </a:r>
            <a:r>
              <a:rPr lang="fr-FR" b="1" dirty="0">
                <a:solidFill>
                  <a:srgbClr val="0B1F3A"/>
                </a:solidFill>
                <a:latin typeface="Cambria" pitchFamily="34" charset="0"/>
                <a:ea typeface="Cambria" pitchFamily="34" charset="-122"/>
                <a:cs typeface="Cambria" pitchFamily="34" charset="-120"/>
              </a:rPr>
              <a:t>)</a:t>
            </a:r>
            <a:endParaRPr lang="fr-FR" dirty="0"/>
          </a:p>
        </p:txBody>
      </p:sp>
      <p:sp>
        <p:nvSpPr>
          <p:cNvPr id="10" name="Shape 3">
            <a:extLst>
              <a:ext uri="{FF2B5EF4-FFF2-40B4-BE49-F238E27FC236}">
                <a16:creationId xmlns:a16="http://schemas.microsoft.com/office/drawing/2014/main" id="{D1BB0B30-8EDA-C42B-180F-361EA81D6801}"/>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3AF47A8F-D499-E0AD-D00D-1C681DF63235}"/>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63AA1CFD-D1DE-F878-A109-6FE9EC55661F}"/>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F9F69731-5B32-5B1C-5006-2DA1197006D2}"/>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30</a:t>
            </a:r>
            <a:endParaRPr lang="en-US" sz="900" dirty="0"/>
          </a:p>
        </p:txBody>
      </p:sp>
      <p:pic>
        <p:nvPicPr>
          <p:cNvPr id="18" name="object 2">
            <a:extLst>
              <a:ext uri="{FF2B5EF4-FFF2-40B4-BE49-F238E27FC236}">
                <a16:creationId xmlns:a16="http://schemas.microsoft.com/office/drawing/2014/main" id="{5A019C38-2831-4C14-256E-7048C796C8A4}"/>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F595435D-03D5-CEA9-EF2B-77F172C41FC3}"/>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7" name="Text 4">
            <a:extLst>
              <a:ext uri="{FF2B5EF4-FFF2-40B4-BE49-F238E27FC236}">
                <a16:creationId xmlns:a16="http://schemas.microsoft.com/office/drawing/2014/main" id="{68B5CF2B-12AB-CCCC-49C6-23E0E688037A}"/>
              </a:ext>
            </a:extLst>
          </p:cNvPr>
          <p:cNvSpPr/>
          <p:nvPr/>
        </p:nvSpPr>
        <p:spPr>
          <a:xfrm>
            <a:off x="320040" y="731520"/>
            <a:ext cx="8046720" cy="3710920"/>
          </a:xfrm>
          <a:prstGeom prst="rect">
            <a:avLst/>
          </a:prstGeom>
          <a:noFill/>
          <a:ln/>
        </p:spPr>
        <p:txBody>
          <a:bodyPr wrap="square" rtlCol="0" anchor="t"/>
          <a:lstStyle/>
          <a:p>
            <a:pPr>
              <a:lnSpc>
                <a:spcPct val="150000"/>
              </a:lnSpc>
            </a:pPr>
            <a:r>
              <a:rPr lang="fr-FR" sz="1200" b="1" dirty="0"/>
              <a:t>Les trois couches principales</a:t>
            </a:r>
          </a:p>
          <a:p>
            <a:pPr marL="228600" indent="-228600">
              <a:lnSpc>
                <a:spcPct val="150000"/>
              </a:lnSpc>
              <a:buFont typeface="Arial" panose="020B0604020202020204" pitchFamily="34" charset="0"/>
              <a:buChar char="•"/>
            </a:pPr>
            <a:r>
              <a:rPr lang="fr-FR" sz="1200" b="1" dirty="0"/>
              <a:t>Couche Présentation (ou Interface utilisateur)</a:t>
            </a:r>
            <a:r>
              <a:rPr lang="fr-FR" sz="1200" dirty="0"/>
              <a:t> : point d'entrée de l'application (pages web, API, applications mobiles). Elle interagit avec l'utilisateur et affiche les résultats. </a:t>
            </a:r>
          </a:p>
          <a:p>
            <a:pPr marL="228600" indent="-228600">
              <a:lnSpc>
                <a:spcPct val="150000"/>
              </a:lnSpc>
              <a:buFont typeface="Arial" panose="020B0604020202020204" pitchFamily="34" charset="0"/>
              <a:buChar char="•"/>
            </a:pPr>
            <a:r>
              <a:rPr lang="fr-FR" sz="1200" b="1" dirty="0"/>
              <a:t>Couche Métier (ou Logique applicative)</a:t>
            </a:r>
            <a:r>
              <a:rPr lang="fr-FR" sz="1200" dirty="0"/>
              <a:t> : cœur du système. Elle traite les données, applique les règles de gestion et prend des décisions.</a:t>
            </a:r>
          </a:p>
          <a:p>
            <a:pPr marL="228600" indent="-228600">
              <a:lnSpc>
                <a:spcPct val="150000"/>
              </a:lnSpc>
              <a:buFont typeface="Arial" panose="020B0604020202020204" pitchFamily="34" charset="0"/>
              <a:buChar char="•"/>
            </a:pPr>
            <a:r>
              <a:rPr lang="fr-FR" sz="1200" b="1" dirty="0"/>
              <a:t>Couche Données (ou Persistance)</a:t>
            </a:r>
            <a:r>
              <a:rPr lang="fr-FR" sz="1200" dirty="0"/>
              <a:t> : gère la communication avec les bases de données et les systèmes de stockage externes.</a:t>
            </a:r>
          </a:p>
        </p:txBody>
      </p:sp>
      <p:sp>
        <p:nvSpPr>
          <p:cNvPr id="16" name="TextBox 15">
            <a:extLst>
              <a:ext uri="{FF2B5EF4-FFF2-40B4-BE49-F238E27FC236}">
                <a16:creationId xmlns:a16="http://schemas.microsoft.com/office/drawing/2014/main" id="{4926D86E-4228-15FA-CE21-8CD850A4B215}"/>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pic>
        <p:nvPicPr>
          <p:cNvPr id="14" name="Picture 13">
            <a:extLst>
              <a:ext uri="{FF2B5EF4-FFF2-40B4-BE49-F238E27FC236}">
                <a16:creationId xmlns:a16="http://schemas.microsoft.com/office/drawing/2014/main" id="{AD5A26C1-B96D-DA0B-43E0-F59D99889C52}"/>
              </a:ext>
            </a:extLst>
          </p:cNvPr>
          <p:cNvPicPr>
            <a:picLocks noChangeAspect="1"/>
          </p:cNvPicPr>
          <p:nvPr/>
        </p:nvPicPr>
        <p:blipFill>
          <a:blip r:embed="rId7"/>
          <a:stretch/>
        </p:blipFill>
        <p:spPr>
          <a:xfrm>
            <a:off x="2754105" y="2607501"/>
            <a:ext cx="3178589" cy="1912409"/>
          </a:xfrm>
          <a:prstGeom prst="rect">
            <a:avLst/>
          </a:prstGeom>
        </p:spPr>
      </p:pic>
    </p:spTree>
    <p:extLst>
      <p:ext uri="{BB962C8B-B14F-4D97-AF65-F5344CB8AC3E}">
        <p14:creationId xmlns:p14="http://schemas.microsoft.com/office/powerpoint/2010/main" val="21918424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0C0B8BC-EC2B-AF2F-C957-03DB967C3081}"/>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2C5C758-0256-7962-8079-E30FE8148796}"/>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11DA9FF5-0A38-6828-1226-2960B1C19838}"/>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BEE2570F-7A2F-2727-21FA-8165A816A811}"/>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F9702F1D-FFF2-C31E-AA49-EC7A49B88B77}"/>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DED01AA3-3BD2-5FC2-4FD0-C31EF55A3423}"/>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3ACB296E-B030-B512-0975-8A3290EAEFF3}"/>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9CD1A947-1955-364E-22EB-F2B9C4A561E8}"/>
              </a:ext>
            </a:extLst>
          </p:cNvPr>
          <p:cNvSpPr/>
          <p:nvPr/>
        </p:nvSpPr>
        <p:spPr>
          <a:xfrm>
            <a:off x="1993392" y="91440"/>
            <a:ext cx="7333488" cy="411480"/>
          </a:xfrm>
          <a:prstGeom prst="rect">
            <a:avLst/>
          </a:prstGeom>
          <a:noFill/>
          <a:ln/>
        </p:spPr>
        <p:txBody>
          <a:bodyPr wrap="square" lIns="0" tIns="0" rIns="0" bIns="0" rtlCol="0" anchor="ctr"/>
          <a:lstStyle/>
          <a:p>
            <a:r>
              <a:rPr lang="en-GB" sz="1600" b="1" dirty="0">
                <a:solidFill>
                  <a:srgbClr val="1A1A1A"/>
                </a:solidFill>
                <a:latin typeface="Calibri" pitchFamily="34" charset="0"/>
                <a:ea typeface="Calibri" pitchFamily="34" charset="-122"/>
                <a:cs typeface="Calibri" pitchFamily="34" charset="-120"/>
              </a:rPr>
              <a:t>Architecture Pattern - </a:t>
            </a:r>
            <a:r>
              <a:rPr lang="fr-FR" sz="1600" b="1" dirty="0">
                <a:solidFill>
                  <a:srgbClr val="0B1F3A"/>
                </a:solidFill>
                <a:latin typeface="Calibri" pitchFamily="34" charset="0"/>
                <a:ea typeface="Calibri" pitchFamily="34" charset="-122"/>
                <a:cs typeface="Calibri" pitchFamily="34" charset="-120"/>
              </a:rPr>
              <a:t>CQRS (Command Query </a:t>
            </a:r>
            <a:r>
              <a:rPr lang="fr-FR" sz="1600" b="1" dirty="0" err="1">
                <a:solidFill>
                  <a:srgbClr val="0B1F3A"/>
                </a:solidFill>
                <a:latin typeface="Calibri" pitchFamily="34" charset="0"/>
                <a:ea typeface="Calibri" pitchFamily="34" charset="-122"/>
                <a:cs typeface="Calibri" pitchFamily="34" charset="-120"/>
              </a:rPr>
              <a:t>Responsibility</a:t>
            </a:r>
            <a:r>
              <a:rPr lang="fr-FR" sz="1600" b="1" dirty="0">
                <a:solidFill>
                  <a:srgbClr val="0B1F3A"/>
                </a:solidFill>
                <a:latin typeface="Calibri" pitchFamily="34" charset="0"/>
                <a:ea typeface="Calibri" pitchFamily="34" charset="-122"/>
                <a:cs typeface="Calibri" pitchFamily="34" charset="-120"/>
              </a:rPr>
              <a:t> </a:t>
            </a:r>
            <a:r>
              <a:rPr lang="fr-FR" sz="1600" b="1" dirty="0" err="1">
                <a:solidFill>
                  <a:srgbClr val="0B1F3A"/>
                </a:solidFill>
                <a:latin typeface="Calibri" pitchFamily="34" charset="0"/>
                <a:ea typeface="Calibri" pitchFamily="34" charset="-122"/>
                <a:cs typeface="Calibri" pitchFamily="34" charset="-120"/>
              </a:rPr>
              <a:t>Segregation</a:t>
            </a:r>
            <a:r>
              <a:rPr lang="fr-FR" sz="1600" b="1" dirty="0">
                <a:solidFill>
                  <a:srgbClr val="0B1F3A"/>
                </a:solidFill>
                <a:latin typeface="Calibri" pitchFamily="34" charset="0"/>
                <a:ea typeface="Calibri" pitchFamily="34" charset="-122"/>
                <a:cs typeface="Calibri" pitchFamily="34" charset="-120"/>
              </a:rPr>
              <a:t>)</a:t>
            </a:r>
            <a:endParaRPr lang="fr-FR" sz="1600" dirty="0"/>
          </a:p>
        </p:txBody>
      </p:sp>
      <p:sp>
        <p:nvSpPr>
          <p:cNvPr id="10" name="Shape 3">
            <a:extLst>
              <a:ext uri="{FF2B5EF4-FFF2-40B4-BE49-F238E27FC236}">
                <a16:creationId xmlns:a16="http://schemas.microsoft.com/office/drawing/2014/main" id="{7D0B1435-FC50-9B6A-3966-97AC08C8E813}"/>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AC8CF5B1-947B-1BA2-90B4-EFFAC93AD1B4}"/>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DCCCB30A-2A14-4670-EB50-56B362C32904}"/>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67ECD911-569C-8BD1-B93C-300D06F3C673}"/>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31</a:t>
            </a:r>
            <a:endParaRPr lang="en-US" sz="900" dirty="0"/>
          </a:p>
        </p:txBody>
      </p:sp>
      <p:pic>
        <p:nvPicPr>
          <p:cNvPr id="18" name="object 2">
            <a:extLst>
              <a:ext uri="{FF2B5EF4-FFF2-40B4-BE49-F238E27FC236}">
                <a16:creationId xmlns:a16="http://schemas.microsoft.com/office/drawing/2014/main" id="{BCD70533-B92E-FDBB-197E-044F0015F9FA}"/>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C07E9666-4099-EAFC-31C4-E78A86EB10BD}"/>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7" name="Text 4">
            <a:extLst>
              <a:ext uri="{FF2B5EF4-FFF2-40B4-BE49-F238E27FC236}">
                <a16:creationId xmlns:a16="http://schemas.microsoft.com/office/drawing/2014/main" id="{60CFF313-6701-0840-1DC0-0E95E1EB8DCB}"/>
              </a:ext>
            </a:extLst>
          </p:cNvPr>
          <p:cNvSpPr/>
          <p:nvPr/>
        </p:nvSpPr>
        <p:spPr>
          <a:xfrm>
            <a:off x="320040" y="809066"/>
            <a:ext cx="8503920" cy="3710920"/>
          </a:xfrm>
          <a:prstGeom prst="rect">
            <a:avLst/>
          </a:prstGeom>
          <a:noFill/>
          <a:ln/>
        </p:spPr>
        <p:txBody>
          <a:bodyPr wrap="square" rtlCol="0" anchor="t"/>
          <a:lstStyle/>
          <a:p>
            <a:pPr algn="just">
              <a:lnSpc>
                <a:spcPct val="150000"/>
              </a:lnSpc>
            </a:pPr>
            <a:r>
              <a:rPr lang="fr-FR" sz="1200" b="1" dirty="0">
                <a:solidFill>
                  <a:srgbClr val="1E293B"/>
                </a:solidFill>
                <a:latin typeface="Calibri" pitchFamily="34" charset="0"/>
                <a:ea typeface="Calibri" pitchFamily="34" charset="-122"/>
                <a:cs typeface="Calibri" pitchFamily="34" charset="-120"/>
              </a:rPr>
              <a:t>Principe</a:t>
            </a:r>
          </a:p>
          <a:p>
            <a:pPr marL="152400" indent="-152400">
              <a:lnSpc>
                <a:spcPct val="150000"/>
              </a:lnSpc>
              <a:spcAft>
                <a:spcPts val="800"/>
              </a:spcAft>
              <a:buSzPct val="100000"/>
              <a:buChar char="•"/>
            </a:pPr>
            <a:r>
              <a:rPr lang="fr-FR" sz="1200" dirty="0">
                <a:solidFill>
                  <a:srgbClr val="1E293B"/>
                </a:solidFill>
                <a:latin typeface="Calibri" pitchFamily="34" charset="0"/>
                <a:ea typeface="Calibri" pitchFamily="34" charset="-122"/>
                <a:cs typeface="Calibri" pitchFamily="34" charset="-120"/>
              </a:rPr>
              <a:t>Une Command modifie l'état du système </a:t>
            </a:r>
            <a:r>
              <a:rPr lang="fr-FR" sz="1100" i="1" dirty="0">
                <a:solidFill>
                  <a:srgbClr val="1E293B"/>
                </a:solidFill>
                <a:latin typeface="Calibri" pitchFamily="34" charset="0"/>
                <a:ea typeface="Calibri" pitchFamily="34" charset="-122"/>
                <a:cs typeface="Calibri" pitchFamily="34" charset="-120"/>
              </a:rPr>
              <a:t>(créer, modifier, annuler...) </a:t>
            </a:r>
            <a:r>
              <a:rPr lang="fr-FR" sz="1200" dirty="0">
                <a:solidFill>
                  <a:srgbClr val="1E293B"/>
                </a:solidFill>
                <a:latin typeface="Calibri" pitchFamily="34" charset="0"/>
                <a:ea typeface="Calibri" pitchFamily="34" charset="-122"/>
                <a:cs typeface="Calibri" pitchFamily="34" charset="-120"/>
              </a:rPr>
              <a:t>et ne retourne pas de données métier, juste une confirmation.</a:t>
            </a:r>
            <a:endParaRPr lang="fr-FR" sz="1200" dirty="0"/>
          </a:p>
          <a:p>
            <a:pPr marL="152400" indent="-152400">
              <a:lnSpc>
                <a:spcPct val="150000"/>
              </a:lnSpc>
              <a:spcAft>
                <a:spcPts val="800"/>
              </a:spcAft>
              <a:buSzPct val="100000"/>
              <a:buChar char="•"/>
            </a:pPr>
            <a:r>
              <a:rPr lang="fr-FR" sz="1200" dirty="0">
                <a:solidFill>
                  <a:srgbClr val="1E293B"/>
                </a:solidFill>
                <a:latin typeface="Calibri" pitchFamily="34" charset="0"/>
                <a:ea typeface="Calibri" pitchFamily="34" charset="-122"/>
                <a:cs typeface="Calibri" pitchFamily="34" charset="-120"/>
              </a:rPr>
              <a:t>Une Query lit l'état du système et ne le modifie jamais, aucun effet de bord.</a:t>
            </a:r>
            <a:endParaRPr lang="fr-FR" sz="1200" dirty="0"/>
          </a:p>
          <a:p>
            <a:pPr marL="152400" indent="-152400">
              <a:lnSpc>
                <a:spcPct val="150000"/>
              </a:lnSpc>
              <a:spcAft>
                <a:spcPts val="800"/>
              </a:spcAft>
              <a:buSzPct val="100000"/>
              <a:buChar char="•"/>
            </a:pPr>
            <a:r>
              <a:rPr lang="fr-FR" sz="1200" dirty="0">
                <a:solidFill>
                  <a:srgbClr val="1E293B"/>
                </a:solidFill>
                <a:latin typeface="Calibri" pitchFamily="34" charset="0"/>
                <a:ea typeface="Calibri" pitchFamily="34" charset="-122"/>
                <a:cs typeface="Calibri" pitchFamily="34" charset="-120"/>
              </a:rPr>
              <a:t>Le modèle d'écriture peut rester normalisé et strict </a:t>
            </a:r>
            <a:r>
              <a:rPr lang="fr-FR" sz="1100" i="1" dirty="0">
                <a:solidFill>
                  <a:srgbClr val="1E293B"/>
                </a:solidFill>
                <a:latin typeface="Calibri" pitchFamily="34" charset="0"/>
                <a:ea typeface="Calibri" pitchFamily="34" charset="-122"/>
                <a:cs typeface="Calibri" pitchFamily="34" charset="-120"/>
              </a:rPr>
              <a:t>(garant des règles métier), </a:t>
            </a:r>
            <a:r>
              <a:rPr lang="fr-FR" sz="1200" dirty="0">
                <a:solidFill>
                  <a:srgbClr val="1E293B"/>
                </a:solidFill>
                <a:latin typeface="Calibri" pitchFamily="34" charset="0"/>
                <a:ea typeface="Calibri" pitchFamily="34" charset="-122"/>
                <a:cs typeface="Calibri" pitchFamily="34" charset="-120"/>
              </a:rPr>
              <a:t>pendant que le modèle de lecture est dénormalisé et optimisé pour l'affichage.</a:t>
            </a:r>
            <a:endParaRPr lang="fr-FR" sz="1200" dirty="0"/>
          </a:p>
          <a:p>
            <a:pPr marL="152400" indent="-152400">
              <a:lnSpc>
                <a:spcPct val="150000"/>
              </a:lnSpc>
              <a:spcAft>
                <a:spcPts val="800"/>
              </a:spcAft>
              <a:buSzPct val="100000"/>
              <a:buChar char="•"/>
            </a:pPr>
            <a:r>
              <a:rPr lang="fr-FR" sz="1200" dirty="0">
                <a:solidFill>
                  <a:srgbClr val="1E293B"/>
                </a:solidFill>
                <a:latin typeface="Calibri" pitchFamily="34" charset="0"/>
                <a:ea typeface="Calibri" pitchFamily="34" charset="-122"/>
                <a:cs typeface="Calibri" pitchFamily="34" charset="-120"/>
              </a:rPr>
              <a:t>Les deux modèles peuvent même vivre dans des bases différentes, synchronisées de façon asynchrone </a:t>
            </a:r>
            <a:r>
              <a:rPr lang="fr-FR" sz="1100" i="1" dirty="0">
                <a:solidFill>
                  <a:srgbClr val="1E293B"/>
                </a:solidFill>
                <a:latin typeface="Calibri" pitchFamily="34" charset="0"/>
                <a:ea typeface="Calibri" pitchFamily="34" charset="-122"/>
                <a:cs typeface="Calibri" pitchFamily="34" charset="-120"/>
              </a:rPr>
              <a:t>(cohérence à terme).</a:t>
            </a:r>
          </a:p>
          <a:p>
            <a:pPr>
              <a:lnSpc>
                <a:spcPct val="150000"/>
              </a:lnSpc>
              <a:spcAft>
                <a:spcPts val="800"/>
              </a:spcAft>
              <a:buSzPct val="100000"/>
            </a:pPr>
            <a:r>
              <a:rPr lang="fr-FR" sz="1200" b="1" dirty="0">
                <a:solidFill>
                  <a:srgbClr val="1E293B"/>
                </a:solidFill>
                <a:latin typeface="Calibri" pitchFamily="34" charset="0"/>
                <a:ea typeface="Calibri" pitchFamily="34" charset="-122"/>
                <a:cs typeface="Calibri" pitchFamily="34" charset="-120"/>
              </a:rPr>
              <a:t>Exemple</a:t>
            </a:r>
            <a:r>
              <a:rPr lang="fr-FR" sz="1200" dirty="0">
                <a:solidFill>
                  <a:srgbClr val="1E293B"/>
                </a:solidFill>
                <a:latin typeface="Calibri" pitchFamily="34" charset="0"/>
                <a:ea typeface="Calibri" pitchFamily="34" charset="-122"/>
                <a:cs typeface="Calibri" pitchFamily="34" charset="-120"/>
              </a:rPr>
              <a:t> </a:t>
            </a:r>
          </a:p>
          <a:p>
            <a:pPr>
              <a:lnSpc>
                <a:spcPct val="150000"/>
              </a:lnSpc>
              <a:spcAft>
                <a:spcPts val="800"/>
              </a:spcAft>
              <a:buSzPct val="100000"/>
            </a:pPr>
            <a:r>
              <a:rPr lang="fr-FR" sz="1200" dirty="0">
                <a:solidFill>
                  <a:srgbClr val="1E293B"/>
                </a:solidFill>
                <a:latin typeface="Calibri" pitchFamily="34" charset="0"/>
                <a:ea typeface="Calibri" pitchFamily="34" charset="-122"/>
                <a:cs typeface="Calibri" pitchFamily="34" charset="-120"/>
              </a:rPr>
              <a:t>Sur une plateforme de e-commerce, la commande « Passer une commande » écrit dans une base transactionnelle stricte, pendant que le catalogue produit consulté par des millions de visiteurs est lu depuis un cache ou une base dénormalisée dédiée à l'affichage.</a:t>
            </a:r>
          </a:p>
          <a:p>
            <a:pPr>
              <a:lnSpc>
                <a:spcPct val="150000"/>
              </a:lnSpc>
              <a:spcAft>
                <a:spcPts val="800"/>
              </a:spcAft>
              <a:buSzPct val="100000"/>
            </a:pPr>
            <a:endParaRPr lang="fr-FR" sz="1200" dirty="0">
              <a:solidFill>
                <a:srgbClr val="1E293B"/>
              </a:solidFill>
              <a:latin typeface="Calibri" pitchFamily="34" charset="0"/>
              <a:ea typeface="Calibri" pitchFamily="34" charset="-122"/>
              <a:cs typeface="Calibri" pitchFamily="34" charset="-120"/>
            </a:endParaRPr>
          </a:p>
        </p:txBody>
      </p:sp>
      <p:sp>
        <p:nvSpPr>
          <p:cNvPr id="16" name="TextBox 15">
            <a:extLst>
              <a:ext uri="{FF2B5EF4-FFF2-40B4-BE49-F238E27FC236}">
                <a16:creationId xmlns:a16="http://schemas.microsoft.com/office/drawing/2014/main" id="{70041C80-70B1-C8A6-EDB3-C3AE44B6B043}"/>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Tree>
    <p:extLst>
      <p:ext uri="{BB962C8B-B14F-4D97-AF65-F5344CB8AC3E}">
        <p14:creationId xmlns:p14="http://schemas.microsoft.com/office/powerpoint/2010/main" val="30701911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0475BFF-3072-424B-5DC8-62A2A08E01C7}"/>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C809A8BB-CC19-B68E-0F2D-1D5C8015F1D3}"/>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32E65E98-45B2-FD9F-D096-AC00C49FDB72}"/>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7C43A682-6B83-3C8F-5689-8937E604CA27}"/>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964FFED6-96DB-E249-BD30-46D20235AB74}"/>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5A803EF1-EBE6-186C-16A9-A38E4C3AA8A4}"/>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82BAB2B2-E641-277B-B5B5-7546DB56FB21}"/>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BA1738B8-9D8C-3216-FB39-A75742266704}"/>
              </a:ext>
            </a:extLst>
          </p:cNvPr>
          <p:cNvSpPr/>
          <p:nvPr/>
        </p:nvSpPr>
        <p:spPr>
          <a:xfrm>
            <a:off x="1993392" y="91440"/>
            <a:ext cx="7333488" cy="411480"/>
          </a:xfrm>
          <a:prstGeom prst="rect">
            <a:avLst/>
          </a:prstGeom>
          <a:noFill/>
          <a:ln/>
        </p:spPr>
        <p:txBody>
          <a:bodyPr wrap="square" lIns="0" tIns="0" rIns="0" bIns="0" rtlCol="0" anchor="ctr"/>
          <a:lstStyle/>
          <a:p>
            <a:r>
              <a:rPr lang="en-GB" sz="1600" b="1" dirty="0">
                <a:solidFill>
                  <a:srgbClr val="1A1A1A"/>
                </a:solidFill>
                <a:latin typeface="Calibri" pitchFamily="34" charset="0"/>
                <a:ea typeface="Calibri" pitchFamily="34" charset="-122"/>
                <a:cs typeface="Calibri" pitchFamily="34" charset="-120"/>
              </a:rPr>
              <a:t>Architecture Pattern - </a:t>
            </a:r>
            <a:r>
              <a:rPr lang="fr-FR" sz="1600" b="1" dirty="0">
                <a:solidFill>
                  <a:srgbClr val="0B1F3A"/>
                </a:solidFill>
                <a:latin typeface="Calibri" pitchFamily="34" charset="0"/>
                <a:ea typeface="Calibri" pitchFamily="34" charset="-122"/>
                <a:cs typeface="Calibri" pitchFamily="34" charset="-120"/>
              </a:rPr>
              <a:t>CQRS (Command Query </a:t>
            </a:r>
            <a:r>
              <a:rPr lang="fr-FR" sz="1600" b="1" dirty="0" err="1">
                <a:solidFill>
                  <a:srgbClr val="0B1F3A"/>
                </a:solidFill>
                <a:latin typeface="Calibri" pitchFamily="34" charset="0"/>
                <a:ea typeface="Calibri" pitchFamily="34" charset="-122"/>
                <a:cs typeface="Calibri" pitchFamily="34" charset="-120"/>
              </a:rPr>
              <a:t>Responsibility</a:t>
            </a:r>
            <a:r>
              <a:rPr lang="fr-FR" sz="1600" b="1" dirty="0">
                <a:solidFill>
                  <a:srgbClr val="0B1F3A"/>
                </a:solidFill>
                <a:latin typeface="Calibri" pitchFamily="34" charset="0"/>
                <a:ea typeface="Calibri" pitchFamily="34" charset="-122"/>
                <a:cs typeface="Calibri" pitchFamily="34" charset="-120"/>
              </a:rPr>
              <a:t> </a:t>
            </a:r>
            <a:r>
              <a:rPr lang="fr-FR" sz="1600" b="1" dirty="0" err="1">
                <a:solidFill>
                  <a:srgbClr val="0B1F3A"/>
                </a:solidFill>
                <a:latin typeface="Calibri" pitchFamily="34" charset="0"/>
                <a:ea typeface="Calibri" pitchFamily="34" charset="-122"/>
                <a:cs typeface="Calibri" pitchFamily="34" charset="-120"/>
              </a:rPr>
              <a:t>Segregation</a:t>
            </a:r>
            <a:r>
              <a:rPr lang="fr-FR" sz="1600" b="1" dirty="0">
                <a:solidFill>
                  <a:srgbClr val="0B1F3A"/>
                </a:solidFill>
                <a:latin typeface="Calibri" pitchFamily="34" charset="0"/>
                <a:ea typeface="Calibri" pitchFamily="34" charset="-122"/>
                <a:cs typeface="Calibri" pitchFamily="34" charset="-120"/>
              </a:rPr>
              <a:t>)</a:t>
            </a:r>
            <a:endParaRPr lang="fr-FR" sz="1600" dirty="0"/>
          </a:p>
        </p:txBody>
      </p:sp>
      <p:sp>
        <p:nvSpPr>
          <p:cNvPr id="10" name="Shape 3">
            <a:extLst>
              <a:ext uri="{FF2B5EF4-FFF2-40B4-BE49-F238E27FC236}">
                <a16:creationId xmlns:a16="http://schemas.microsoft.com/office/drawing/2014/main" id="{5193C442-4E49-1331-A36F-C9425A00783A}"/>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A78AAEE3-3407-91DD-7157-1C9C1B31EC1D}"/>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39C7D931-1828-9DA6-4F71-57861C1DCF50}"/>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8E30BDBB-91E4-BD19-2748-79C7AE7297E4}"/>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32</a:t>
            </a:r>
            <a:endParaRPr lang="en-US" sz="900" dirty="0"/>
          </a:p>
        </p:txBody>
      </p:sp>
      <p:pic>
        <p:nvPicPr>
          <p:cNvPr id="18" name="object 2">
            <a:extLst>
              <a:ext uri="{FF2B5EF4-FFF2-40B4-BE49-F238E27FC236}">
                <a16:creationId xmlns:a16="http://schemas.microsoft.com/office/drawing/2014/main" id="{BFF218FB-0537-401C-95D3-7FD9FEC50628}"/>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4E5A38B3-E965-7514-9BE8-7AFE15C90478}"/>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16" name="TextBox 15">
            <a:extLst>
              <a:ext uri="{FF2B5EF4-FFF2-40B4-BE49-F238E27FC236}">
                <a16:creationId xmlns:a16="http://schemas.microsoft.com/office/drawing/2014/main" id="{8A217FB5-E07B-6BCC-08BC-7300E366494D}"/>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pic>
        <p:nvPicPr>
          <p:cNvPr id="14" name="Picture 13">
            <a:extLst>
              <a:ext uri="{FF2B5EF4-FFF2-40B4-BE49-F238E27FC236}">
                <a16:creationId xmlns:a16="http://schemas.microsoft.com/office/drawing/2014/main" id="{57CB9318-AC21-8C30-6823-86DBD7A80707}"/>
              </a:ext>
            </a:extLst>
          </p:cNvPr>
          <p:cNvPicPr>
            <a:picLocks noChangeAspect="1"/>
          </p:cNvPicPr>
          <p:nvPr/>
        </p:nvPicPr>
        <p:blipFill>
          <a:blip r:embed="rId7"/>
          <a:stretch>
            <a:fillRect/>
          </a:stretch>
        </p:blipFill>
        <p:spPr>
          <a:xfrm>
            <a:off x="1591056" y="664401"/>
            <a:ext cx="6217920" cy="3886200"/>
          </a:xfrm>
          <a:prstGeom prst="rect">
            <a:avLst/>
          </a:prstGeom>
        </p:spPr>
      </p:pic>
    </p:spTree>
    <p:extLst>
      <p:ext uri="{BB962C8B-B14F-4D97-AF65-F5344CB8AC3E}">
        <p14:creationId xmlns:p14="http://schemas.microsoft.com/office/powerpoint/2010/main" val="25208035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BD0D173-DB9F-22FF-6CDE-897A0F213560}"/>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25DC9DC6-1EE4-251B-9F31-B2E3C6449E53}"/>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8A9CA590-350A-B00C-37A7-BFEB16CF8C2C}"/>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A043B5F8-F6FB-F315-5254-8BFDE4D183A2}"/>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08A1DD12-4DBC-8359-2C9E-07AA70567433}"/>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EAB4B602-287A-6864-4837-ADDF39FA3000}"/>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2EDB6B00-D229-5712-7C0A-8C8EEC016B4F}"/>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65A6B2F7-5C16-AEF0-F190-D8CBE5163F81}"/>
              </a:ext>
            </a:extLst>
          </p:cNvPr>
          <p:cNvSpPr/>
          <p:nvPr/>
        </p:nvSpPr>
        <p:spPr>
          <a:xfrm>
            <a:off x="1993392" y="91440"/>
            <a:ext cx="7333488" cy="411480"/>
          </a:xfrm>
          <a:prstGeom prst="rect">
            <a:avLst/>
          </a:prstGeom>
          <a:noFill/>
          <a:ln/>
        </p:spPr>
        <p:txBody>
          <a:bodyPr wrap="square" lIns="0" tIns="0" rIns="0" bIns="0" rtlCol="0" anchor="ctr"/>
          <a:lstStyle/>
          <a:p>
            <a:r>
              <a:rPr lang="en-GB" sz="1600" b="1" dirty="0">
                <a:solidFill>
                  <a:srgbClr val="1A1A1A"/>
                </a:solidFill>
                <a:latin typeface="Calibri" pitchFamily="34" charset="0"/>
                <a:ea typeface="Calibri" pitchFamily="34" charset="-122"/>
                <a:cs typeface="Calibri" pitchFamily="34" charset="-120"/>
              </a:rPr>
              <a:t>Architecture Pattern - </a:t>
            </a:r>
            <a:r>
              <a:rPr lang="fr-FR" sz="1600" b="1" dirty="0">
                <a:solidFill>
                  <a:srgbClr val="0B1F3A"/>
                </a:solidFill>
                <a:latin typeface="Calibri" pitchFamily="34" charset="0"/>
                <a:ea typeface="Calibri" pitchFamily="34" charset="-122"/>
                <a:cs typeface="Calibri" pitchFamily="34" charset="-120"/>
              </a:rPr>
              <a:t>Le patron Hexagonal (Ports &amp; </a:t>
            </a:r>
            <a:r>
              <a:rPr lang="fr-FR" sz="1600" b="1" dirty="0" err="1">
                <a:solidFill>
                  <a:srgbClr val="0B1F3A"/>
                </a:solidFill>
                <a:latin typeface="Calibri" pitchFamily="34" charset="0"/>
                <a:ea typeface="Calibri" pitchFamily="34" charset="-122"/>
                <a:cs typeface="Calibri" pitchFamily="34" charset="-120"/>
              </a:rPr>
              <a:t>Adapters</a:t>
            </a:r>
            <a:r>
              <a:rPr lang="fr-FR" sz="1600" b="1" dirty="0">
                <a:solidFill>
                  <a:srgbClr val="0B1F3A"/>
                </a:solidFill>
                <a:latin typeface="Calibri" pitchFamily="34" charset="0"/>
                <a:ea typeface="Calibri" pitchFamily="34" charset="-122"/>
                <a:cs typeface="Calibri" pitchFamily="34" charset="-120"/>
              </a:rPr>
              <a:t>)</a:t>
            </a:r>
            <a:endParaRPr lang="fr-FR" sz="1600" dirty="0"/>
          </a:p>
        </p:txBody>
      </p:sp>
      <p:sp>
        <p:nvSpPr>
          <p:cNvPr id="10" name="Shape 3">
            <a:extLst>
              <a:ext uri="{FF2B5EF4-FFF2-40B4-BE49-F238E27FC236}">
                <a16:creationId xmlns:a16="http://schemas.microsoft.com/office/drawing/2014/main" id="{B434F68C-38A1-675E-E6A2-107D4B467DFF}"/>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FFAF384B-DAF8-354F-3A47-9A75766AA189}"/>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56149353-4930-7C02-F3EE-DECE3D09B939}"/>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D766A8F3-A257-9117-62F3-DA72DE9AFDC6}"/>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33</a:t>
            </a:r>
            <a:endParaRPr lang="en-US" sz="900" dirty="0"/>
          </a:p>
        </p:txBody>
      </p:sp>
      <p:pic>
        <p:nvPicPr>
          <p:cNvPr id="18" name="object 2">
            <a:extLst>
              <a:ext uri="{FF2B5EF4-FFF2-40B4-BE49-F238E27FC236}">
                <a16:creationId xmlns:a16="http://schemas.microsoft.com/office/drawing/2014/main" id="{1C09B58A-DA5D-8F5B-7195-56E6776336B3}"/>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B313C78D-6061-23E5-AB0C-19952C0EF2BE}"/>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7" name="Text 4">
            <a:extLst>
              <a:ext uri="{FF2B5EF4-FFF2-40B4-BE49-F238E27FC236}">
                <a16:creationId xmlns:a16="http://schemas.microsoft.com/office/drawing/2014/main" id="{9B9819F7-8D68-68B5-26CB-913607579E7A}"/>
              </a:ext>
            </a:extLst>
          </p:cNvPr>
          <p:cNvSpPr/>
          <p:nvPr/>
        </p:nvSpPr>
        <p:spPr>
          <a:xfrm>
            <a:off x="320040" y="883940"/>
            <a:ext cx="8503920" cy="3710920"/>
          </a:xfrm>
          <a:prstGeom prst="rect">
            <a:avLst/>
          </a:prstGeom>
          <a:noFill/>
          <a:ln/>
        </p:spPr>
        <p:txBody>
          <a:bodyPr wrap="square" rtlCol="0" anchor="t"/>
          <a:lstStyle/>
          <a:p>
            <a:pPr algn="just">
              <a:lnSpc>
                <a:spcPct val="150000"/>
              </a:lnSpc>
            </a:pPr>
            <a:r>
              <a:rPr lang="fr-FR" sz="1200" b="1" dirty="0">
                <a:solidFill>
                  <a:srgbClr val="1E293B"/>
                </a:solidFill>
                <a:latin typeface="Calibri" pitchFamily="34" charset="0"/>
                <a:ea typeface="Calibri" pitchFamily="34" charset="-122"/>
                <a:cs typeface="Calibri" pitchFamily="34" charset="-120"/>
              </a:rPr>
              <a:t>Principe</a:t>
            </a:r>
          </a:p>
          <a:p>
            <a:pPr marL="152400" indent="-152400">
              <a:spcAft>
                <a:spcPts val="800"/>
              </a:spcAft>
              <a:buSzPct val="100000"/>
              <a:buChar char="•"/>
            </a:pPr>
            <a:r>
              <a:rPr lang="fr-FR" sz="1200" dirty="0">
                <a:solidFill>
                  <a:srgbClr val="1E293B"/>
                </a:solidFill>
                <a:latin typeface="Calibri" pitchFamily="34" charset="0"/>
                <a:ea typeface="Calibri" pitchFamily="34" charset="-122"/>
                <a:cs typeface="Calibri" pitchFamily="34" charset="-120"/>
              </a:rPr>
              <a:t>Le domaine métier (le « cœur ») ne dépend d'aucune technologie : ni base de données, ni </a:t>
            </a:r>
            <a:r>
              <a:rPr lang="fr-FR" sz="1200" dirty="0" err="1">
                <a:solidFill>
                  <a:srgbClr val="1E293B"/>
                </a:solidFill>
                <a:latin typeface="Calibri" pitchFamily="34" charset="0"/>
                <a:ea typeface="Calibri" pitchFamily="34" charset="-122"/>
                <a:cs typeface="Calibri" pitchFamily="34" charset="-120"/>
              </a:rPr>
              <a:t>framework</a:t>
            </a:r>
            <a:r>
              <a:rPr lang="fr-FR" sz="1200" dirty="0">
                <a:solidFill>
                  <a:srgbClr val="1E293B"/>
                </a:solidFill>
                <a:latin typeface="Calibri" pitchFamily="34" charset="0"/>
                <a:ea typeface="Calibri" pitchFamily="34" charset="-122"/>
                <a:cs typeface="Calibri" pitchFamily="34" charset="-120"/>
              </a:rPr>
              <a:t> web, ni file de messages.</a:t>
            </a:r>
            <a:endParaRPr lang="fr-FR" sz="1200" dirty="0"/>
          </a:p>
          <a:p>
            <a:pPr marL="152400" indent="-152400">
              <a:spcAft>
                <a:spcPts val="800"/>
              </a:spcAft>
              <a:buSzPct val="100000"/>
              <a:buChar char="•"/>
            </a:pPr>
            <a:r>
              <a:rPr lang="fr-FR" sz="1200" dirty="0">
                <a:solidFill>
                  <a:srgbClr val="1E293B"/>
                </a:solidFill>
                <a:latin typeface="Calibri" pitchFamily="34" charset="0"/>
                <a:ea typeface="Calibri" pitchFamily="34" charset="-122"/>
                <a:cs typeface="Calibri" pitchFamily="34" charset="-120"/>
              </a:rPr>
              <a:t>Les ports sont des interfaces définies par le domaine : ce dont il a besoin (port sortant, ex. sauvegarder) ou ce qu'il propose (port entrant, ex. réserver un véhicule).</a:t>
            </a:r>
            <a:endParaRPr lang="fr-FR" sz="1200" dirty="0"/>
          </a:p>
          <a:p>
            <a:pPr marL="152400" indent="-152400">
              <a:spcAft>
                <a:spcPts val="800"/>
              </a:spcAft>
              <a:buSzPct val="100000"/>
              <a:buChar char="•"/>
            </a:pPr>
            <a:r>
              <a:rPr lang="fr-FR" sz="1200" dirty="0">
                <a:solidFill>
                  <a:srgbClr val="1E293B"/>
                </a:solidFill>
                <a:latin typeface="Calibri" pitchFamily="34" charset="0"/>
                <a:ea typeface="Calibri" pitchFamily="34" charset="-122"/>
                <a:cs typeface="Calibri" pitchFamily="34" charset="-120"/>
              </a:rPr>
              <a:t>Les adaptateurs implémentent ces ports avec une technologie concrète : un contrôleur REST, un repository JPA, un client de messagerie...</a:t>
            </a:r>
            <a:endParaRPr lang="fr-FR" sz="1200" dirty="0"/>
          </a:p>
          <a:p>
            <a:pPr marL="152400" indent="-152400">
              <a:spcAft>
                <a:spcPts val="800"/>
              </a:spcAft>
              <a:buSzPct val="100000"/>
              <a:buChar char="•"/>
            </a:pPr>
            <a:r>
              <a:rPr lang="fr-FR" sz="1200" dirty="0">
                <a:solidFill>
                  <a:srgbClr val="1E293B"/>
                </a:solidFill>
                <a:latin typeface="Calibri" pitchFamily="34" charset="0"/>
                <a:ea typeface="Calibri" pitchFamily="34" charset="-122"/>
                <a:cs typeface="Calibri" pitchFamily="34" charset="-120"/>
              </a:rPr>
              <a:t>On peut ainsi remplacer un adaptateur (ex. passer de MySQL à MongoDB) sans modifier une seule ligne du domaine.</a:t>
            </a:r>
            <a:endParaRPr lang="fr-FR" sz="1200" dirty="0"/>
          </a:p>
          <a:p>
            <a:pPr>
              <a:lnSpc>
                <a:spcPct val="150000"/>
              </a:lnSpc>
              <a:spcAft>
                <a:spcPts val="800"/>
              </a:spcAft>
              <a:buSzPct val="100000"/>
            </a:pPr>
            <a:endParaRPr lang="fr-FR" sz="1200" dirty="0">
              <a:solidFill>
                <a:srgbClr val="1E293B"/>
              </a:solidFill>
              <a:latin typeface="Calibri" pitchFamily="34" charset="0"/>
              <a:ea typeface="Calibri" pitchFamily="34" charset="-122"/>
              <a:cs typeface="Calibri" pitchFamily="34" charset="-120"/>
            </a:endParaRPr>
          </a:p>
        </p:txBody>
      </p:sp>
      <p:sp>
        <p:nvSpPr>
          <p:cNvPr id="16" name="TextBox 15">
            <a:extLst>
              <a:ext uri="{FF2B5EF4-FFF2-40B4-BE49-F238E27FC236}">
                <a16:creationId xmlns:a16="http://schemas.microsoft.com/office/drawing/2014/main" id="{374A91CD-DAA2-FBD3-27D0-39784FAB4C76}"/>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pic>
        <p:nvPicPr>
          <p:cNvPr id="14" name="Picture 13">
            <a:extLst>
              <a:ext uri="{FF2B5EF4-FFF2-40B4-BE49-F238E27FC236}">
                <a16:creationId xmlns:a16="http://schemas.microsoft.com/office/drawing/2014/main" id="{EB0913E1-8F7F-20AF-B028-137C88FC34ED}"/>
              </a:ext>
            </a:extLst>
          </p:cNvPr>
          <p:cNvPicPr>
            <a:picLocks noChangeAspect="1"/>
          </p:cNvPicPr>
          <p:nvPr/>
        </p:nvPicPr>
        <p:blipFill>
          <a:blip r:embed="rId7"/>
          <a:stretch>
            <a:fillRect/>
          </a:stretch>
        </p:blipFill>
        <p:spPr>
          <a:xfrm>
            <a:off x="2646549" y="2524344"/>
            <a:ext cx="3850902" cy="2459136"/>
          </a:xfrm>
          <a:prstGeom prst="rect">
            <a:avLst/>
          </a:prstGeom>
        </p:spPr>
      </p:pic>
    </p:spTree>
    <p:extLst>
      <p:ext uri="{BB962C8B-B14F-4D97-AF65-F5344CB8AC3E}">
        <p14:creationId xmlns:p14="http://schemas.microsoft.com/office/powerpoint/2010/main" val="159863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04E0256-F963-F76C-0ED5-6663A75A238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29E874A2-7E53-CA1C-B461-02B12B2E962A}"/>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7E3FAB11-C1B4-CA88-0EAC-5EBBE1075046}"/>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D8895FB9-B0EB-D205-C06F-641D0D386640}"/>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A364DCA2-B6C6-391B-FF7F-6F3A2CC5D577}"/>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7E7A39A4-AD32-F9DF-7A31-EBD05C115628}"/>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7E0D1942-54C5-F422-8CF1-5CB543DF1F28}"/>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5AFD9E48-29E2-C910-BDE6-47FB9719A7F2}"/>
              </a:ext>
            </a:extLst>
          </p:cNvPr>
          <p:cNvSpPr/>
          <p:nvPr/>
        </p:nvSpPr>
        <p:spPr>
          <a:xfrm>
            <a:off x="1993392" y="91440"/>
            <a:ext cx="6400800" cy="411480"/>
          </a:xfrm>
          <a:prstGeom prst="rect">
            <a:avLst/>
          </a:prstGeom>
          <a:noFill/>
          <a:ln/>
        </p:spPr>
        <p:txBody>
          <a:bodyPr wrap="square" lIns="0" tIns="0" rIns="0" bIns="0" rtlCol="0" anchor="ctr"/>
          <a:lstStyle/>
          <a:p>
            <a:r>
              <a:rPr lang="fr-FR" b="1" dirty="0">
                <a:solidFill>
                  <a:srgbClr val="0B1F3A"/>
                </a:solidFill>
                <a:latin typeface="Cambria" pitchFamily="34" charset="0"/>
                <a:ea typeface="Cambria" pitchFamily="34" charset="-122"/>
                <a:cs typeface="Cambria" pitchFamily="34" charset="-120"/>
              </a:rPr>
              <a:t>Qu'est-ce qu’un Framework ?</a:t>
            </a:r>
            <a:endParaRPr lang="fr-FR" dirty="0"/>
          </a:p>
        </p:txBody>
      </p:sp>
      <p:sp>
        <p:nvSpPr>
          <p:cNvPr id="10" name="Shape 3">
            <a:extLst>
              <a:ext uri="{FF2B5EF4-FFF2-40B4-BE49-F238E27FC236}">
                <a16:creationId xmlns:a16="http://schemas.microsoft.com/office/drawing/2014/main" id="{B3C31BE9-359E-9CE8-E072-9021F24D41EE}"/>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2C4974DC-B85C-609E-3877-7E2714D28AD8}"/>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18BA958D-AC7F-9227-4054-421EC41DEBB2}"/>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351426B5-42A1-BBCA-3E93-25FD3110F3A4}"/>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34</a:t>
            </a:r>
            <a:endParaRPr lang="en-US" sz="900" dirty="0"/>
          </a:p>
        </p:txBody>
      </p:sp>
      <p:pic>
        <p:nvPicPr>
          <p:cNvPr id="18" name="object 2">
            <a:extLst>
              <a:ext uri="{FF2B5EF4-FFF2-40B4-BE49-F238E27FC236}">
                <a16:creationId xmlns:a16="http://schemas.microsoft.com/office/drawing/2014/main" id="{386EBEA3-59FE-2650-E001-D19BA8D851AC}"/>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9103873F-BCD2-7742-4D8C-462E8A274368}"/>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7" name="Text 4">
            <a:extLst>
              <a:ext uri="{FF2B5EF4-FFF2-40B4-BE49-F238E27FC236}">
                <a16:creationId xmlns:a16="http://schemas.microsoft.com/office/drawing/2014/main" id="{1C5EE8A4-751B-DF56-9A4E-BA46D51FDA81}"/>
              </a:ext>
            </a:extLst>
          </p:cNvPr>
          <p:cNvSpPr/>
          <p:nvPr/>
        </p:nvSpPr>
        <p:spPr>
          <a:xfrm>
            <a:off x="320040" y="836538"/>
            <a:ext cx="8412480" cy="3954918"/>
          </a:xfrm>
          <a:prstGeom prst="rect">
            <a:avLst/>
          </a:prstGeom>
          <a:noFill/>
          <a:ln/>
        </p:spPr>
        <p:txBody>
          <a:bodyPr wrap="square" rtlCol="0" anchor="t"/>
          <a:lstStyle/>
          <a:p>
            <a:pPr>
              <a:lnSpc>
                <a:spcPct val="150000"/>
              </a:lnSpc>
            </a:pPr>
            <a:r>
              <a:rPr lang="fr-FR" sz="1200" b="1" dirty="0"/>
              <a:t>Bibliothèque (</a:t>
            </a:r>
            <a:r>
              <a:rPr lang="fr-FR" sz="1200" b="1" dirty="0" err="1"/>
              <a:t>library</a:t>
            </a:r>
            <a:r>
              <a:rPr lang="fr-FR" sz="1200" b="1" dirty="0"/>
              <a:t>)</a:t>
            </a:r>
            <a:endParaRPr lang="fr-FR" sz="1200" dirty="0"/>
          </a:p>
          <a:p>
            <a:pPr>
              <a:lnSpc>
                <a:spcPct val="150000"/>
              </a:lnSpc>
            </a:pPr>
            <a:r>
              <a:rPr lang="fr-FR" sz="1200" dirty="0"/>
              <a:t>Une boîte à outils que vous utilisez à votre initiative, sans qu'elle vous impose de structure. C'est votre code qui décide quand faire appel à elle, vous gardez la main sur le déroulement du programme.</a:t>
            </a:r>
          </a:p>
          <a:p>
            <a:pPr>
              <a:lnSpc>
                <a:spcPct val="150000"/>
              </a:lnSpc>
            </a:pPr>
            <a:r>
              <a:rPr lang="fr-FR" sz="1100" i="1" dirty="0"/>
              <a:t>Exemple : une bibliothèque de calcul de dates, que vous invoquez ponctuellement là où vous en avez besoin.</a:t>
            </a:r>
          </a:p>
          <a:p>
            <a:pPr>
              <a:lnSpc>
                <a:spcPct val="150000"/>
              </a:lnSpc>
            </a:pPr>
            <a:endParaRPr lang="fr-FR" sz="300" b="1" dirty="0"/>
          </a:p>
          <a:p>
            <a:pPr>
              <a:lnSpc>
                <a:spcPct val="150000"/>
              </a:lnSpc>
            </a:pPr>
            <a:r>
              <a:rPr lang="fr-FR" sz="1200" b="1" dirty="0"/>
              <a:t>Framework</a:t>
            </a:r>
            <a:endParaRPr lang="fr-FR" sz="1200" dirty="0"/>
          </a:p>
          <a:p>
            <a:pPr>
              <a:lnSpc>
                <a:spcPct val="150000"/>
              </a:lnSpc>
            </a:pPr>
            <a:r>
              <a:rPr lang="fr-FR" sz="1200" dirty="0"/>
              <a:t>Un cadre qui impose sa propre structure et prend le contrôle du déroulement de l'exécution. Ce n'est plus vous qui appelez le code, c'est le </a:t>
            </a:r>
            <a:r>
              <a:rPr lang="fr-FR" sz="1200" dirty="0" err="1"/>
              <a:t>framework</a:t>
            </a:r>
            <a:r>
              <a:rPr lang="fr-FR" sz="1200" dirty="0"/>
              <a:t> qui appelle le vôtre, au moment où il le juge nécessaire, vous vous contentez de remplir les points d'extension qu'il définit.</a:t>
            </a:r>
          </a:p>
          <a:p>
            <a:pPr>
              <a:lnSpc>
                <a:spcPct val="150000"/>
              </a:lnSpc>
            </a:pPr>
            <a:endParaRPr lang="fr-FR" sz="300" i="1" dirty="0"/>
          </a:p>
          <a:p>
            <a:pPr>
              <a:lnSpc>
                <a:spcPct val="150000"/>
              </a:lnSpc>
            </a:pPr>
            <a:endParaRPr lang="fr-FR" sz="300" i="1" dirty="0"/>
          </a:p>
          <a:p>
            <a:pPr>
              <a:lnSpc>
                <a:spcPct val="150000"/>
              </a:lnSpc>
            </a:pPr>
            <a:r>
              <a:rPr lang="fr-FR" sz="1100" b="1" dirty="0"/>
              <a:t>Principe clé, le principe Hollywood</a:t>
            </a:r>
            <a:endParaRPr lang="fr-FR" sz="1100" dirty="0"/>
          </a:p>
          <a:p>
            <a:pPr>
              <a:lnSpc>
                <a:spcPct val="150000"/>
              </a:lnSpc>
            </a:pPr>
            <a:r>
              <a:rPr lang="fr-FR" sz="1200" dirty="0"/>
              <a:t>« Don't call us, </a:t>
            </a:r>
            <a:r>
              <a:rPr lang="fr-FR" sz="1200" dirty="0" err="1"/>
              <a:t>we'll</a:t>
            </a:r>
            <a:r>
              <a:rPr lang="fr-FR" sz="1200" dirty="0"/>
              <a:t> call </a:t>
            </a:r>
            <a:r>
              <a:rPr lang="fr-FR" sz="1200" dirty="0" err="1"/>
              <a:t>you</a:t>
            </a:r>
            <a:r>
              <a:rPr lang="fr-FR" sz="1200" dirty="0"/>
              <a:t> » </a:t>
            </a:r>
            <a:r>
              <a:rPr lang="fr-FR" sz="1050" i="1" dirty="0"/>
              <a:t>(« Ne nous appelez pas, on vous appellera »). </a:t>
            </a:r>
            <a:r>
              <a:rPr lang="fr-FR" sz="1200" dirty="0"/>
              <a:t>C'est l'image qui résume l'essence de l'inversion de contrôle (</a:t>
            </a:r>
            <a:r>
              <a:rPr lang="fr-FR" sz="1200" dirty="0" err="1"/>
              <a:t>IoC</a:t>
            </a:r>
            <a:r>
              <a:rPr lang="fr-FR" sz="1200" dirty="0"/>
              <a:t>) : le contrôle du flux ne vous appartient plus, il est délégué au </a:t>
            </a:r>
            <a:r>
              <a:rPr lang="fr-FR" sz="1200" dirty="0" err="1"/>
              <a:t>framework</a:t>
            </a:r>
            <a:r>
              <a:rPr lang="fr-FR" sz="1200" dirty="0"/>
              <a:t>. Ce mécanisme sera approfondi au séance 5.</a:t>
            </a:r>
          </a:p>
          <a:p>
            <a:pPr>
              <a:lnSpc>
                <a:spcPct val="150000"/>
              </a:lnSpc>
            </a:pPr>
            <a:endParaRPr lang="fr-FR" sz="1100" i="1" dirty="0"/>
          </a:p>
        </p:txBody>
      </p:sp>
      <p:sp>
        <p:nvSpPr>
          <p:cNvPr id="11" name="TextBox 10">
            <a:extLst>
              <a:ext uri="{FF2B5EF4-FFF2-40B4-BE49-F238E27FC236}">
                <a16:creationId xmlns:a16="http://schemas.microsoft.com/office/drawing/2014/main" id="{3182715F-A6F6-AF47-AE58-6B0C96E6F2AA}"/>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Tree>
    <p:extLst>
      <p:ext uri="{BB962C8B-B14F-4D97-AF65-F5344CB8AC3E}">
        <p14:creationId xmlns:p14="http://schemas.microsoft.com/office/powerpoint/2010/main" val="29905582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9671AD6-E5B3-7729-1DB6-83D51EC2127E}"/>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7F2F2612-A372-1121-D0F9-C30341A9CC9B}"/>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C9BF0F3B-D572-0B08-EA6D-DAB3C11E3F78}"/>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072A3F0A-573B-D200-A5B2-2E7F5EC1E84C}"/>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9F3E6C71-E512-9844-8E12-FC9F0898C0A3}"/>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99B75034-5CED-29FF-538C-F9C11221139B}"/>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6AF9B8E3-125D-0C4C-248D-01124E6C4D42}"/>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8F2C8B2C-D063-BA47-6289-374E51C40550}"/>
              </a:ext>
            </a:extLst>
          </p:cNvPr>
          <p:cNvSpPr/>
          <p:nvPr/>
        </p:nvSpPr>
        <p:spPr>
          <a:xfrm>
            <a:off x="1993392" y="91440"/>
            <a:ext cx="6400800" cy="411480"/>
          </a:xfrm>
          <a:prstGeom prst="rect">
            <a:avLst/>
          </a:prstGeom>
          <a:noFill/>
          <a:ln/>
        </p:spPr>
        <p:txBody>
          <a:bodyPr wrap="square" lIns="0" tIns="0" rIns="0" bIns="0" rtlCol="0" anchor="ctr"/>
          <a:lstStyle/>
          <a:p>
            <a:r>
              <a:rPr lang="fr-FR" b="1" dirty="0">
                <a:solidFill>
                  <a:srgbClr val="0B1F3A"/>
                </a:solidFill>
                <a:latin typeface="Cambria" pitchFamily="34" charset="0"/>
                <a:ea typeface="Cambria" pitchFamily="34" charset="-122"/>
                <a:cs typeface="Cambria" pitchFamily="34" charset="-120"/>
              </a:rPr>
              <a:t>Qu'est-ce qu’un Framework ?</a:t>
            </a:r>
            <a:endParaRPr lang="fr-FR" dirty="0"/>
          </a:p>
        </p:txBody>
      </p:sp>
      <p:sp>
        <p:nvSpPr>
          <p:cNvPr id="10" name="Shape 3">
            <a:extLst>
              <a:ext uri="{FF2B5EF4-FFF2-40B4-BE49-F238E27FC236}">
                <a16:creationId xmlns:a16="http://schemas.microsoft.com/office/drawing/2014/main" id="{B11F0E29-EF89-FB96-CFD4-5C95F5512256}"/>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E8D31670-9E1A-E3C6-8964-58E68B9C5D15}"/>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69F058CF-4531-DF92-BACA-23D38A0F492F}"/>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52DA3AF8-CEE0-6344-DAC1-1E3DF372F91C}"/>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35</a:t>
            </a:r>
            <a:endParaRPr lang="en-US" sz="900" dirty="0"/>
          </a:p>
        </p:txBody>
      </p:sp>
      <p:pic>
        <p:nvPicPr>
          <p:cNvPr id="18" name="object 2">
            <a:extLst>
              <a:ext uri="{FF2B5EF4-FFF2-40B4-BE49-F238E27FC236}">
                <a16:creationId xmlns:a16="http://schemas.microsoft.com/office/drawing/2014/main" id="{0071F963-D657-CC96-B21C-C0BA849AFCCC}"/>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CDA8CB8A-7539-6AB8-5D85-F440FEAF3D3B}"/>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7" name="Text 4">
            <a:extLst>
              <a:ext uri="{FF2B5EF4-FFF2-40B4-BE49-F238E27FC236}">
                <a16:creationId xmlns:a16="http://schemas.microsoft.com/office/drawing/2014/main" id="{B0A2102D-78C3-10ED-E01F-60A795385462}"/>
              </a:ext>
            </a:extLst>
          </p:cNvPr>
          <p:cNvSpPr/>
          <p:nvPr/>
        </p:nvSpPr>
        <p:spPr>
          <a:xfrm>
            <a:off x="320040" y="814572"/>
            <a:ext cx="8522208" cy="3954918"/>
          </a:xfrm>
          <a:prstGeom prst="rect">
            <a:avLst/>
          </a:prstGeom>
          <a:noFill/>
          <a:ln/>
        </p:spPr>
        <p:txBody>
          <a:bodyPr wrap="square" rtlCol="0" anchor="t"/>
          <a:lstStyle/>
          <a:p>
            <a:pPr>
              <a:lnSpc>
                <a:spcPct val="150000"/>
              </a:lnSpc>
            </a:pPr>
            <a:r>
              <a:rPr lang="fr-FR" sz="1200" dirty="0"/>
              <a:t>Une fois le style d'architecture et les patrons d'architecture choisis, nous passerons à la phase de développement en commençant par choisir un </a:t>
            </a:r>
            <a:r>
              <a:rPr lang="fr-FR" sz="1200" dirty="0" err="1"/>
              <a:t>framework</a:t>
            </a:r>
            <a:r>
              <a:rPr lang="fr-FR" sz="1200" dirty="0"/>
              <a:t>. Un </a:t>
            </a:r>
            <a:r>
              <a:rPr lang="fr-FR" sz="1200" dirty="0" err="1"/>
              <a:t>framework</a:t>
            </a:r>
            <a:r>
              <a:rPr lang="fr-FR" sz="1200" dirty="0"/>
              <a:t> nous apporte plusieurs avantages concrets :</a:t>
            </a:r>
          </a:p>
          <a:p>
            <a:pPr marL="228600" indent="-228600">
              <a:lnSpc>
                <a:spcPct val="150000"/>
              </a:lnSpc>
              <a:buFont typeface="Arial" panose="020B0604020202020204" pitchFamily="34" charset="0"/>
              <a:buChar char="•"/>
            </a:pPr>
            <a:r>
              <a:rPr lang="fr-FR" sz="1200" b="1" dirty="0"/>
              <a:t>Productivité</a:t>
            </a:r>
            <a:r>
              <a:rPr lang="fr-FR" sz="1200" dirty="0"/>
              <a:t> : il évite de réécrire des mécanismes récurrents déjà résolus (routage des requêtes, accès aux données, sécurité, etc.).</a:t>
            </a:r>
          </a:p>
          <a:p>
            <a:pPr marL="228600" indent="-228600">
              <a:lnSpc>
                <a:spcPct val="150000"/>
              </a:lnSpc>
              <a:buFont typeface="Arial" panose="020B0604020202020204" pitchFamily="34" charset="0"/>
              <a:buChar char="•"/>
            </a:pPr>
            <a:r>
              <a:rPr lang="fr-FR" sz="1200" b="1" dirty="0"/>
              <a:t>Standardisation</a:t>
            </a:r>
            <a:r>
              <a:rPr lang="fr-FR" sz="1200" dirty="0"/>
              <a:t> : il impose des conventions communes à toute l'équipe, ce qui facilite la lecture et la maintenance du code par d'autres développeurs.</a:t>
            </a:r>
          </a:p>
          <a:p>
            <a:pPr marL="228600" indent="-228600">
              <a:lnSpc>
                <a:spcPct val="150000"/>
              </a:lnSpc>
              <a:buFont typeface="Arial" panose="020B0604020202020204" pitchFamily="34" charset="0"/>
              <a:buChar char="•"/>
            </a:pPr>
            <a:r>
              <a:rPr lang="fr-FR" sz="1200" b="1" dirty="0"/>
              <a:t>Écosystème mature</a:t>
            </a:r>
            <a:r>
              <a:rPr lang="fr-FR" sz="1200" dirty="0"/>
              <a:t> : documentation abondante, communauté active, plugins et intégrations déjà disponibles (sécurité, monitoring, messagerie, etc.).</a:t>
            </a:r>
          </a:p>
          <a:p>
            <a:pPr marL="228600" indent="-228600">
              <a:lnSpc>
                <a:spcPct val="150000"/>
              </a:lnSpc>
              <a:buFont typeface="Arial" panose="020B0604020202020204" pitchFamily="34" charset="0"/>
              <a:buChar char="•"/>
            </a:pPr>
            <a:r>
              <a:rPr lang="fr-FR" sz="1200" b="1" dirty="0"/>
              <a:t>Fiabilité</a:t>
            </a:r>
            <a:r>
              <a:rPr lang="fr-FR" sz="1200" dirty="0"/>
              <a:t> : des modules critiques (authentification, protection CSRF, gestion des transactions) sont déjà éprouvés en production, plutôt que réimplémentés à la main avec les risques que cela comporte.</a:t>
            </a:r>
          </a:p>
          <a:p>
            <a:pPr marL="228600" indent="-228600">
              <a:lnSpc>
                <a:spcPct val="150000"/>
              </a:lnSpc>
              <a:buFont typeface="Arial" panose="020B0604020202020204" pitchFamily="34" charset="0"/>
              <a:buChar char="•"/>
            </a:pPr>
            <a:r>
              <a:rPr lang="fr-FR" sz="1200" b="1" dirty="0"/>
              <a:t>Time-to-</a:t>
            </a:r>
            <a:r>
              <a:rPr lang="fr-FR" sz="1200" b="1" dirty="0" err="1"/>
              <a:t>market</a:t>
            </a:r>
            <a:r>
              <a:rPr lang="fr-FR" sz="1200" dirty="0"/>
              <a:t> : un socle solide permet de se concentrer sur la logique métier plutôt que sur la plomberie technique.</a:t>
            </a:r>
          </a:p>
          <a:p>
            <a:pPr algn="ctr">
              <a:lnSpc>
                <a:spcPct val="150000"/>
              </a:lnSpc>
            </a:pPr>
            <a:endParaRPr lang="fr-FR" sz="1050" b="1" dirty="0"/>
          </a:p>
          <a:p>
            <a:pPr algn="ctr">
              <a:lnSpc>
                <a:spcPct val="150000"/>
              </a:lnSpc>
            </a:pPr>
            <a:r>
              <a:rPr lang="fr-FR" sz="1050" b="1" dirty="0"/>
              <a:t>Nous nous intéressons au langage Java, nous allons donc présenter une étude comparative entre Jakarta EE, </a:t>
            </a:r>
            <a:r>
              <a:rPr lang="fr-FR" sz="1050" b="1" dirty="0" err="1"/>
              <a:t>Quarkus</a:t>
            </a:r>
            <a:r>
              <a:rPr lang="fr-FR" sz="1050" b="1" dirty="0"/>
              <a:t> et Spring.</a:t>
            </a:r>
          </a:p>
        </p:txBody>
      </p:sp>
      <p:sp>
        <p:nvSpPr>
          <p:cNvPr id="11" name="TextBox 10">
            <a:extLst>
              <a:ext uri="{FF2B5EF4-FFF2-40B4-BE49-F238E27FC236}">
                <a16:creationId xmlns:a16="http://schemas.microsoft.com/office/drawing/2014/main" id="{9D53A5B7-1B60-457D-34A2-C0AD60220134}"/>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Tree>
    <p:extLst>
      <p:ext uri="{BB962C8B-B14F-4D97-AF65-F5344CB8AC3E}">
        <p14:creationId xmlns:p14="http://schemas.microsoft.com/office/powerpoint/2010/main" val="1421583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51EADAE-B756-8B7A-2657-7D456A11E605}"/>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98B8265-B840-3F47-1B88-C571476B717E}"/>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539AC096-802F-5D65-E578-4D1011DDD48F}"/>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A1E46D63-F44D-DB79-139F-96472CCB9D56}"/>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42407EC0-E1A0-B6FB-64AA-FAB4E6E49770}"/>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5D1E3027-FE27-8CAE-F9BD-35A8120C141F}"/>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D597D112-8A7D-FEA7-6371-4558C236706B}"/>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2844C322-A7C7-A274-E116-D6FACD936C67}"/>
              </a:ext>
            </a:extLst>
          </p:cNvPr>
          <p:cNvSpPr/>
          <p:nvPr/>
        </p:nvSpPr>
        <p:spPr>
          <a:xfrm>
            <a:off x="1993392" y="91440"/>
            <a:ext cx="6400800" cy="411480"/>
          </a:xfrm>
          <a:prstGeom prst="rect">
            <a:avLst/>
          </a:prstGeom>
          <a:noFill/>
          <a:ln/>
        </p:spPr>
        <p:txBody>
          <a:bodyPr wrap="square" lIns="0" tIns="0" rIns="0" bIns="0" rtlCol="0" anchor="ctr"/>
          <a:lstStyle/>
          <a:p>
            <a:r>
              <a:rPr lang="fr-FR" b="1" dirty="0">
                <a:solidFill>
                  <a:srgbClr val="0B1F3A"/>
                </a:solidFill>
                <a:latin typeface="Cambria" pitchFamily="34" charset="0"/>
                <a:ea typeface="Cambria" pitchFamily="34" charset="-122"/>
                <a:cs typeface="Cambria" pitchFamily="34" charset="-120"/>
              </a:rPr>
              <a:t>Qu'est-ce qu’un Framework ? – Jakarta EE</a:t>
            </a:r>
            <a:endParaRPr lang="fr-FR" dirty="0"/>
          </a:p>
        </p:txBody>
      </p:sp>
      <p:sp>
        <p:nvSpPr>
          <p:cNvPr id="10" name="Shape 3">
            <a:extLst>
              <a:ext uri="{FF2B5EF4-FFF2-40B4-BE49-F238E27FC236}">
                <a16:creationId xmlns:a16="http://schemas.microsoft.com/office/drawing/2014/main" id="{55D984B2-CFDB-F2D7-8065-AEA5ECFD655C}"/>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E93D3D6E-F865-1698-2FD5-033C85254754}"/>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8584E425-6696-47F9-3135-43DDF6F3B00A}"/>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5FF5D5B5-38EB-21EF-8990-905B31B5CF97}"/>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36</a:t>
            </a:r>
            <a:endParaRPr lang="en-US" sz="900" dirty="0"/>
          </a:p>
        </p:txBody>
      </p:sp>
      <p:pic>
        <p:nvPicPr>
          <p:cNvPr id="18" name="object 2">
            <a:extLst>
              <a:ext uri="{FF2B5EF4-FFF2-40B4-BE49-F238E27FC236}">
                <a16:creationId xmlns:a16="http://schemas.microsoft.com/office/drawing/2014/main" id="{56B0F438-05DC-5F5C-1C71-D892ED80B710}"/>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5C4707A4-DB14-B622-FE26-8619576FB061}"/>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7" name="Text 4">
            <a:extLst>
              <a:ext uri="{FF2B5EF4-FFF2-40B4-BE49-F238E27FC236}">
                <a16:creationId xmlns:a16="http://schemas.microsoft.com/office/drawing/2014/main" id="{6E0BBFD6-6307-2B91-B9C3-A2138239FB10}"/>
              </a:ext>
            </a:extLst>
          </p:cNvPr>
          <p:cNvSpPr/>
          <p:nvPr/>
        </p:nvSpPr>
        <p:spPr>
          <a:xfrm>
            <a:off x="320040" y="814572"/>
            <a:ext cx="8522208" cy="3954918"/>
          </a:xfrm>
          <a:prstGeom prst="rect">
            <a:avLst/>
          </a:prstGeom>
          <a:noFill/>
          <a:ln/>
        </p:spPr>
        <p:txBody>
          <a:bodyPr wrap="square" rtlCol="0" anchor="t"/>
          <a:lstStyle/>
          <a:p>
            <a:pPr>
              <a:lnSpc>
                <a:spcPct val="130000"/>
              </a:lnSpc>
            </a:pPr>
            <a:r>
              <a:rPr lang="en-US" sz="1200" b="1" dirty="0" err="1">
                <a:solidFill>
                  <a:srgbClr val="3A3A3A"/>
                </a:solidFill>
                <a:latin typeface="Calibri" pitchFamily="34" charset="0"/>
                <a:ea typeface="Calibri" pitchFamily="34" charset="-122"/>
                <a:cs typeface="Calibri" pitchFamily="34" charset="-120"/>
              </a:rPr>
              <a:t>Définition</a:t>
            </a:r>
            <a:r>
              <a:rPr lang="en-US" sz="1200" dirty="0">
                <a:solidFill>
                  <a:srgbClr val="3A3A3A"/>
                </a:solidFill>
                <a:latin typeface="Calibri" pitchFamily="34" charset="0"/>
                <a:ea typeface="Calibri" pitchFamily="34" charset="-122"/>
                <a:cs typeface="Calibri" pitchFamily="34" charset="-120"/>
              </a:rPr>
              <a:t> </a:t>
            </a:r>
          </a:p>
          <a:p>
            <a:pPr>
              <a:lnSpc>
                <a:spcPct val="130000"/>
              </a:lnSpc>
            </a:pPr>
            <a:r>
              <a:rPr lang="en-US" sz="1200" dirty="0">
                <a:solidFill>
                  <a:srgbClr val="3A3A3A"/>
                </a:solidFill>
                <a:latin typeface="Calibri" pitchFamily="34" charset="0"/>
                <a:ea typeface="Calibri" pitchFamily="34" charset="-122"/>
                <a:cs typeface="Calibri" pitchFamily="34" charset="-120"/>
              </a:rPr>
              <a:t>Jakarta EE (</a:t>
            </a:r>
            <a:r>
              <a:rPr lang="en-US" sz="1200" dirty="0" err="1">
                <a:solidFill>
                  <a:srgbClr val="3A3A3A"/>
                </a:solidFill>
                <a:latin typeface="Calibri" pitchFamily="34" charset="0"/>
                <a:ea typeface="Calibri" pitchFamily="34" charset="-122"/>
                <a:cs typeface="Calibri" pitchFamily="34" charset="-120"/>
              </a:rPr>
              <a:t>anciennement</a:t>
            </a:r>
            <a:r>
              <a:rPr lang="en-US" sz="1200" dirty="0">
                <a:solidFill>
                  <a:srgbClr val="3A3A3A"/>
                </a:solidFill>
                <a:latin typeface="Calibri" pitchFamily="34" charset="0"/>
                <a:ea typeface="Calibri" pitchFamily="34" charset="-122"/>
                <a:cs typeface="Calibri" pitchFamily="34" charset="-120"/>
              </a:rPr>
              <a:t> Java EE) est un ensemble de </a:t>
            </a:r>
            <a:r>
              <a:rPr lang="en-US" sz="1200" dirty="0" err="1">
                <a:solidFill>
                  <a:srgbClr val="3A3A3A"/>
                </a:solidFill>
                <a:latin typeface="Calibri" pitchFamily="34" charset="0"/>
                <a:ea typeface="Calibri" pitchFamily="34" charset="-122"/>
                <a:cs typeface="Calibri" pitchFamily="34" charset="-120"/>
              </a:rPr>
              <a:t>spécifications</a:t>
            </a:r>
            <a:r>
              <a:rPr lang="en-US" sz="1200" dirty="0">
                <a:solidFill>
                  <a:srgbClr val="3A3A3A"/>
                </a:solidFill>
                <a:latin typeface="Calibri" pitchFamily="34" charset="0"/>
                <a:ea typeface="Calibri" pitchFamily="34" charset="-122"/>
                <a:cs typeface="Calibri" pitchFamily="34" charset="-120"/>
              </a:rPr>
              <a:t> </a:t>
            </a:r>
            <a:r>
              <a:rPr lang="en-US" sz="1200" dirty="0" err="1">
                <a:solidFill>
                  <a:srgbClr val="3A3A3A"/>
                </a:solidFill>
                <a:latin typeface="Calibri" pitchFamily="34" charset="0"/>
                <a:ea typeface="Calibri" pitchFamily="34" charset="-122"/>
                <a:cs typeface="Calibri" pitchFamily="34" charset="-120"/>
              </a:rPr>
              <a:t>standardisées</a:t>
            </a:r>
            <a:r>
              <a:rPr lang="en-US" sz="1200" dirty="0">
                <a:solidFill>
                  <a:srgbClr val="3A3A3A"/>
                </a:solidFill>
                <a:latin typeface="Calibri" pitchFamily="34" charset="0"/>
                <a:ea typeface="Calibri" pitchFamily="34" charset="-122"/>
                <a:cs typeface="Calibri" pitchFamily="34" charset="-120"/>
              </a:rPr>
              <a:t> pour </a:t>
            </a:r>
            <a:r>
              <a:rPr lang="en-US" sz="1200" dirty="0" err="1">
                <a:solidFill>
                  <a:srgbClr val="3A3A3A"/>
                </a:solidFill>
                <a:latin typeface="Calibri" pitchFamily="34" charset="0"/>
                <a:ea typeface="Calibri" pitchFamily="34" charset="-122"/>
                <a:cs typeface="Calibri" pitchFamily="34" charset="-120"/>
              </a:rPr>
              <a:t>construire</a:t>
            </a:r>
            <a:r>
              <a:rPr lang="en-US" sz="1200" dirty="0">
                <a:solidFill>
                  <a:srgbClr val="3A3A3A"/>
                </a:solidFill>
                <a:latin typeface="Calibri" pitchFamily="34" charset="0"/>
                <a:ea typeface="Calibri" pitchFamily="34" charset="-122"/>
                <a:cs typeface="Calibri" pitchFamily="34" charset="-120"/>
              </a:rPr>
              <a:t> des applications Java </a:t>
            </a:r>
            <a:r>
              <a:rPr lang="en-US" sz="1200" dirty="0" err="1">
                <a:solidFill>
                  <a:srgbClr val="3A3A3A"/>
                </a:solidFill>
                <a:latin typeface="Calibri" pitchFamily="34" charset="0"/>
                <a:ea typeface="Calibri" pitchFamily="34" charset="-122"/>
                <a:cs typeface="Calibri" pitchFamily="34" charset="-120"/>
              </a:rPr>
              <a:t>d'entreprise</a:t>
            </a:r>
            <a:r>
              <a:rPr lang="en-US" sz="1200" dirty="0">
                <a:solidFill>
                  <a:srgbClr val="3A3A3A"/>
                </a:solidFill>
                <a:latin typeface="Calibri" pitchFamily="34" charset="0"/>
                <a:ea typeface="Calibri" pitchFamily="34" charset="-122"/>
                <a:cs typeface="Calibri" pitchFamily="34" charset="-120"/>
              </a:rPr>
              <a:t>, </a:t>
            </a:r>
            <a:r>
              <a:rPr lang="en-US" sz="1200" dirty="0" err="1">
                <a:solidFill>
                  <a:srgbClr val="3A3A3A"/>
                </a:solidFill>
                <a:latin typeface="Calibri" pitchFamily="34" charset="0"/>
                <a:ea typeface="Calibri" pitchFamily="34" charset="-122"/>
                <a:cs typeface="Calibri" pitchFamily="34" charset="-120"/>
              </a:rPr>
              <a:t>implémentées</a:t>
            </a:r>
            <a:r>
              <a:rPr lang="en-US" sz="1200" dirty="0">
                <a:solidFill>
                  <a:srgbClr val="3A3A3A"/>
                </a:solidFill>
                <a:latin typeface="Calibri" pitchFamily="34" charset="0"/>
                <a:ea typeface="Calibri" pitchFamily="34" charset="-122"/>
                <a:cs typeface="Calibri" pitchFamily="34" charset="-120"/>
              </a:rPr>
              <a:t> par </a:t>
            </a:r>
            <a:r>
              <a:rPr lang="en-US" sz="1200" dirty="0" err="1">
                <a:solidFill>
                  <a:srgbClr val="3A3A3A"/>
                </a:solidFill>
                <a:latin typeface="Calibri" pitchFamily="34" charset="0"/>
                <a:ea typeface="Calibri" pitchFamily="34" charset="-122"/>
                <a:cs typeface="Calibri" pitchFamily="34" charset="-120"/>
              </a:rPr>
              <a:t>plusieurs</a:t>
            </a:r>
            <a:r>
              <a:rPr lang="en-US" sz="1200" dirty="0">
                <a:solidFill>
                  <a:srgbClr val="3A3A3A"/>
                </a:solidFill>
                <a:latin typeface="Calibri" pitchFamily="34" charset="0"/>
                <a:ea typeface="Calibri" pitchFamily="34" charset="-122"/>
                <a:cs typeface="Calibri" pitchFamily="34" charset="-120"/>
              </a:rPr>
              <a:t> </a:t>
            </a:r>
            <a:r>
              <a:rPr lang="en-US" sz="1200" dirty="0" err="1">
                <a:solidFill>
                  <a:srgbClr val="3A3A3A"/>
                </a:solidFill>
                <a:latin typeface="Calibri" pitchFamily="34" charset="0"/>
                <a:ea typeface="Calibri" pitchFamily="34" charset="-122"/>
                <a:cs typeface="Calibri" pitchFamily="34" charset="-120"/>
              </a:rPr>
              <a:t>serveurs</a:t>
            </a:r>
            <a:r>
              <a:rPr lang="en-US" sz="1200" dirty="0">
                <a:solidFill>
                  <a:srgbClr val="3A3A3A"/>
                </a:solidFill>
                <a:latin typeface="Calibri" pitchFamily="34" charset="0"/>
                <a:ea typeface="Calibri" pitchFamily="34" charset="-122"/>
                <a:cs typeface="Calibri" pitchFamily="34" charset="-120"/>
              </a:rPr>
              <a:t> </a:t>
            </a:r>
            <a:r>
              <a:rPr lang="en-US" sz="1200" dirty="0" err="1">
                <a:solidFill>
                  <a:srgbClr val="3A3A3A"/>
                </a:solidFill>
                <a:latin typeface="Calibri" pitchFamily="34" charset="0"/>
                <a:ea typeface="Calibri" pitchFamily="34" charset="-122"/>
                <a:cs typeface="Calibri" pitchFamily="34" charset="-120"/>
              </a:rPr>
              <a:t>d'application</a:t>
            </a:r>
            <a:r>
              <a:rPr lang="en-US" sz="1200" dirty="0">
                <a:solidFill>
                  <a:srgbClr val="3A3A3A"/>
                </a:solidFill>
                <a:latin typeface="Calibri" pitchFamily="34" charset="0"/>
                <a:ea typeface="Calibri" pitchFamily="34" charset="-122"/>
                <a:cs typeface="Calibri" pitchFamily="34" charset="-120"/>
              </a:rPr>
              <a:t> (</a:t>
            </a:r>
            <a:r>
              <a:rPr lang="en-US" sz="1200" dirty="0" err="1">
                <a:solidFill>
                  <a:srgbClr val="3A3A3A"/>
                </a:solidFill>
                <a:latin typeface="Calibri" pitchFamily="34" charset="0"/>
                <a:ea typeface="Calibri" pitchFamily="34" charset="-122"/>
                <a:cs typeface="Calibri" pitchFamily="34" charset="-120"/>
              </a:rPr>
              <a:t>WildFly</a:t>
            </a:r>
            <a:r>
              <a:rPr lang="en-US" sz="1200" dirty="0">
                <a:solidFill>
                  <a:srgbClr val="3A3A3A"/>
                </a:solidFill>
                <a:latin typeface="Calibri" pitchFamily="34" charset="0"/>
                <a:ea typeface="Calibri" pitchFamily="34" charset="-122"/>
                <a:cs typeface="Calibri" pitchFamily="34" charset="-120"/>
              </a:rPr>
              <a:t>, Payara, </a:t>
            </a:r>
            <a:r>
              <a:rPr lang="en-US" sz="1200" dirty="0" err="1">
                <a:solidFill>
                  <a:srgbClr val="3A3A3A"/>
                </a:solidFill>
                <a:latin typeface="Calibri" pitchFamily="34" charset="0"/>
                <a:ea typeface="Calibri" pitchFamily="34" charset="-122"/>
                <a:cs typeface="Calibri" pitchFamily="34" charset="-120"/>
              </a:rPr>
              <a:t>GlassFish</a:t>
            </a:r>
            <a:r>
              <a:rPr lang="en-US" sz="1200" dirty="0">
                <a:solidFill>
                  <a:srgbClr val="3A3A3A"/>
                </a:solidFill>
                <a:latin typeface="Calibri" pitchFamily="34" charset="0"/>
                <a:ea typeface="Calibri" pitchFamily="34" charset="-122"/>
                <a:cs typeface="Calibri" pitchFamily="34" charset="-120"/>
              </a:rPr>
              <a:t>…).</a:t>
            </a:r>
          </a:p>
          <a:p>
            <a:pPr>
              <a:lnSpc>
                <a:spcPct val="130000"/>
              </a:lnSpc>
            </a:pPr>
            <a:endParaRPr lang="en-US" sz="1200" dirty="0">
              <a:solidFill>
                <a:srgbClr val="3A3A3A"/>
              </a:solidFill>
              <a:latin typeface="Calibri" pitchFamily="34" charset="0"/>
              <a:ea typeface="Calibri" pitchFamily="34" charset="-122"/>
              <a:cs typeface="Calibri" pitchFamily="34" charset="-120"/>
            </a:endParaRPr>
          </a:p>
          <a:p>
            <a:pPr>
              <a:lnSpc>
                <a:spcPct val="130000"/>
              </a:lnSpc>
            </a:pPr>
            <a:r>
              <a:rPr lang="en-US" sz="1200" b="1" dirty="0">
                <a:solidFill>
                  <a:srgbClr val="3A3A3A"/>
                </a:solidFill>
                <a:latin typeface="Calibri" pitchFamily="34" charset="0"/>
                <a:ea typeface="Calibri" pitchFamily="34" charset="-122"/>
                <a:cs typeface="Calibri" pitchFamily="34" charset="-120"/>
              </a:rPr>
              <a:t>Points </a:t>
            </a:r>
            <a:r>
              <a:rPr lang="en-US" sz="1200" b="1" dirty="0" err="1">
                <a:solidFill>
                  <a:srgbClr val="3A3A3A"/>
                </a:solidFill>
                <a:latin typeface="Calibri" pitchFamily="34" charset="0"/>
                <a:ea typeface="Calibri" pitchFamily="34" charset="-122"/>
                <a:cs typeface="Calibri" pitchFamily="34" charset="-120"/>
              </a:rPr>
              <a:t>Clés</a:t>
            </a:r>
            <a:endParaRPr lang="en-US" sz="1200" b="1" dirty="0">
              <a:solidFill>
                <a:srgbClr val="3A3A3A"/>
              </a:solidFill>
              <a:latin typeface="Calibri" pitchFamily="34" charset="0"/>
              <a:ea typeface="Calibri" pitchFamily="34" charset="-122"/>
              <a:cs typeface="Calibri" pitchFamily="34" charset="-120"/>
            </a:endParaRPr>
          </a:p>
          <a:p>
            <a:pPr marL="228600" indent="-228600">
              <a:spcAft>
                <a:spcPts val="1200"/>
              </a:spcAft>
              <a:buSzPct val="100000"/>
              <a:buFont typeface="Arial" panose="020B0604020202020204" pitchFamily="34" charset="0"/>
              <a:buChar char="•"/>
            </a:pPr>
            <a:r>
              <a:rPr lang="en-US" sz="1200" dirty="0" err="1">
                <a:solidFill>
                  <a:srgbClr val="3A3A3A"/>
                </a:solidFill>
                <a:latin typeface="Calibri" pitchFamily="34" charset="0"/>
                <a:ea typeface="Calibri" pitchFamily="34" charset="-122"/>
                <a:cs typeface="Calibri" pitchFamily="34" charset="-120"/>
              </a:rPr>
              <a:t>Anciennement</a:t>
            </a:r>
            <a:r>
              <a:rPr lang="en-US" sz="1200" dirty="0">
                <a:solidFill>
                  <a:srgbClr val="3A3A3A"/>
                </a:solidFill>
                <a:latin typeface="Calibri" pitchFamily="34" charset="0"/>
                <a:ea typeface="Calibri" pitchFamily="34" charset="-122"/>
                <a:cs typeface="Calibri" pitchFamily="34" charset="-120"/>
              </a:rPr>
              <a:t> Java EE / J2EE, </a:t>
            </a:r>
            <a:r>
              <a:rPr lang="en-US" sz="1200" dirty="0" err="1">
                <a:solidFill>
                  <a:srgbClr val="3A3A3A"/>
                </a:solidFill>
                <a:latin typeface="Calibri" pitchFamily="34" charset="0"/>
                <a:ea typeface="Calibri" pitchFamily="34" charset="-122"/>
                <a:cs typeface="Calibri" pitchFamily="34" charset="-120"/>
              </a:rPr>
              <a:t>transféré</a:t>
            </a:r>
            <a:r>
              <a:rPr lang="en-US" sz="1200" dirty="0">
                <a:solidFill>
                  <a:srgbClr val="3A3A3A"/>
                </a:solidFill>
                <a:latin typeface="Calibri" pitchFamily="34" charset="0"/>
                <a:ea typeface="Calibri" pitchFamily="34" charset="-122"/>
                <a:cs typeface="Calibri" pitchFamily="34" charset="-120"/>
              </a:rPr>
              <a:t> à la </a:t>
            </a:r>
            <a:r>
              <a:rPr lang="en-US" sz="1200" dirty="0" err="1">
                <a:solidFill>
                  <a:srgbClr val="3A3A3A"/>
                </a:solidFill>
                <a:latin typeface="Calibri" pitchFamily="34" charset="0"/>
                <a:ea typeface="Calibri" pitchFamily="34" charset="-122"/>
                <a:cs typeface="Calibri" pitchFamily="34" charset="-120"/>
              </a:rPr>
              <a:t>fondation</a:t>
            </a:r>
            <a:r>
              <a:rPr lang="en-US" sz="1200" dirty="0">
                <a:solidFill>
                  <a:srgbClr val="3A3A3A"/>
                </a:solidFill>
                <a:latin typeface="Calibri" pitchFamily="34" charset="0"/>
                <a:ea typeface="Calibri" pitchFamily="34" charset="-122"/>
                <a:cs typeface="Calibri" pitchFamily="34" charset="-120"/>
              </a:rPr>
              <a:t> Eclipse </a:t>
            </a:r>
            <a:r>
              <a:rPr lang="en-US" sz="1200" dirty="0" err="1">
                <a:solidFill>
                  <a:srgbClr val="3A3A3A"/>
                </a:solidFill>
                <a:latin typeface="Calibri" pitchFamily="34" charset="0"/>
                <a:ea typeface="Calibri" pitchFamily="34" charset="-122"/>
                <a:cs typeface="Calibri" pitchFamily="34" charset="-120"/>
              </a:rPr>
              <a:t>en</a:t>
            </a:r>
            <a:r>
              <a:rPr lang="en-US" sz="1200" dirty="0">
                <a:solidFill>
                  <a:srgbClr val="3A3A3A"/>
                </a:solidFill>
                <a:latin typeface="Calibri" pitchFamily="34" charset="0"/>
                <a:ea typeface="Calibri" pitchFamily="34" charset="-122"/>
                <a:cs typeface="Calibri" pitchFamily="34" charset="-120"/>
              </a:rPr>
              <a:t> 2017</a:t>
            </a:r>
            <a:endParaRPr lang="en-US" sz="1200" dirty="0"/>
          </a:p>
          <a:p>
            <a:pPr marL="228600" indent="-228600">
              <a:spcAft>
                <a:spcPts val="1200"/>
              </a:spcAft>
              <a:buSzPct val="100000"/>
              <a:buFont typeface="Arial" panose="020B0604020202020204" pitchFamily="34" charset="0"/>
              <a:buChar char="•"/>
            </a:pPr>
            <a:r>
              <a:rPr lang="en-US" sz="1200" dirty="0" err="1">
                <a:solidFill>
                  <a:srgbClr val="3A3A3A"/>
                </a:solidFill>
                <a:latin typeface="Calibri" pitchFamily="34" charset="0"/>
                <a:ea typeface="Calibri" pitchFamily="34" charset="-122"/>
                <a:cs typeface="Calibri" pitchFamily="34" charset="-120"/>
              </a:rPr>
              <a:t>Approche</a:t>
            </a:r>
            <a:r>
              <a:rPr lang="en-US" sz="1200" dirty="0">
                <a:solidFill>
                  <a:srgbClr val="3A3A3A"/>
                </a:solidFill>
                <a:latin typeface="Calibri" pitchFamily="34" charset="0"/>
                <a:ea typeface="Calibri" pitchFamily="34" charset="-122"/>
                <a:cs typeface="Calibri" pitchFamily="34" charset="-120"/>
              </a:rPr>
              <a:t> par </a:t>
            </a:r>
            <a:r>
              <a:rPr lang="en-US" sz="1200" dirty="0" err="1">
                <a:solidFill>
                  <a:srgbClr val="3A3A3A"/>
                </a:solidFill>
                <a:latin typeface="Calibri" pitchFamily="34" charset="0"/>
                <a:ea typeface="Calibri" pitchFamily="34" charset="-122"/>
                <a:cs typeface="Calibri" pitchFamily="34" charset="-120"/>
              </a:rPr>
              <a:t>spécifications</a:t>
            </a:r>
            <a:r>
              <a:rPr lang="en-US" sz="1200" dirty="0">
                <a:solidFill>
                  <a:srgbClr val="3A3A3A"/>
                </a:solidFill>
                <a:latin typeface="Calibri" pitchFamily="34" charset="0"/>
                <a:ea typeface="Calibri" pitchFamily="34" charset="-122"/>
                <a:cs typeface="Calibri" pitchFamily="34" charset="-120"/>
              </a:rPr>
              <a:t>, avec </a:t>
            </a:r>
            <a:r>
              <a:rPr lang="en-US" sz="1200" dirty="0" err="1">
                <a:solidFill>
                  <a:srgbClr val="3A3A3A"/>
                </a:solidFill>
                <a:latin typeface="Calibri" pitchFamily="34" charset="0"/>
                <a:ea typeface="Calibri" pitchFamily="34" charset="-122"/>
                <a:cs typeface="Calibri" pitchFamily="34" charset="-120"/>
              </a:rPr>
              <a:t>plusieurs</a:t>
            </a:r>
            <a:r>
              <a:rPr lang="en-US" sz="1200" dirty="0">
                <a:solidFill>
                  <a:srgbClr val="3A3A3A"/>
                </a:solidFill>
                <a:latin typeface="Calibri" pitchFamily="34" charset="0"/>
                <a:ea typeface="Calibri" pitchFamily="34" charset="-122"/>
                <a:cs typeface="Calibri" pitchFamily="34" charset="-120"/>
              </a:rPr>
              <a:t> </a:t>
            </a:r>
            <a:r>
              <a:rPr lang="en-US" sz="1200" dirty="0" err="1">
                <a:solidFill>
                  <a:srgbClr val="3A3A3A"/>
                </a:solidFill>
                <a:latin typeface="Calibri" pitchFamily="34" charset="0"/>
                <a:ea typeface="Calibri" pitchFamily="34" charset="-122"/>
                <a:cs typeface="Calibri" pitchFamily="34" charset="-120"/>
              </a:rPr>
              <a:t>implémentations</a:t>
            </a:r>
            <a:r>
              <a:rPr lang="en-US" sz="1200" dirty="0">
                <a:solidFill>
                  <a:srgbClr val="3A3A3A"/>
                </a:solidFill>
                <a:latin typeface="Calibri" pitchFamily="34" charset="0"/>
                <a:ea typeface="Calibri" pitchFamily="34" charset="-122"/>
                <a:cs typeface="Calibri" pitchFamily="34" charset="-120"/>
              </a:rPr>
              <a:t> possibles</a:t>
            </a:r>
            <a:endParaRPr lang="en-US" sz="1200" dirty="0"/>
          </a:p>
          <a:p>
            <a:pPr marL="228600" indent="-228600">
              <a:spcAft>
                <a:spcPts val="1200"/>
              </a:spcAft>
              <a:buSzPct val="100000"/>
              <a:buFont typeface="Arial" panose="020B0604020202020204" pitchFamily="34" charset="0"/>
              <a:buChar char="•"/>
            </a:pPr>
            <a:r>
              <a:rPr lang="en-US" sz="1200" dirty="0" err="1">
                <a:solidFill>
                  <a:srgbClr val="3A3A3A"/>
                </a:solidFill>
                <a:latin typeface="Calibri" pitchFamily="34" charset="0"/>
                <a:ea typeface="Calibri" pitchFamily="34" charset="-122"/>
                <a:cs typeface="Calibri" pitchFamily="34" charset="-120"/>
              </a:rPr>
              <a:t>Composants</a:t>
            </a:r>
            <a:r>
              <a:rPr lang="en-US" sz="1200" dirty="0">
                <a:solidFill>
                  <a:srgbClr val="3A3A3A"/>
                </a:solidFill>
                <a:latin typeface="Calibri" pitchFamily="34" charset="0"/>
                <a:ea typeface="Calibri" pitchFamily="34" charset="-122"/>
                <a:cs typeface="Calibri" pitchFamily="34" charset="-120"/>
              </a:rPr>
              <a:t> </a:t>
            </a:r>
            <a:r>
              <a:rPr lang="en-US" sz="1200" dirty="0" err="1">
                <a:solidFill>
                  <a:srgbClr val="3A3A3A"/>
                </a:solidFill>
                <a:latin typeface="Calibri" pitchFamily="34" charset="0"/>
                <a:ea typeface="Calibri" pitchFamily="34" charset="-122"/>
                <a:cs typeface="Calibri" pitchFamily="34" charset="-120"/>
              </a:rPr>
              <a:t>historiques</a:t>
            </a:r>
            <a:r>
              <a:rPr lang="en-US" sz="1200" dirty="0">
                <a:solidFill>
                  <a:srgbClr val="3A3A3A"/>
                </a:solidFill>
                <a:latin typeface="Calibri" pitchFamily="34" charset="0"/>
                <a:ea typeface="Calibri" pitchFamily="34" charset="-122"/>
                <a:cs typeface="Calibri" pitchFamily="34" charset="-120"/>
              </a:rPr>
              <a:t> : EJB, JPA, CDI, JAX-RS, Servlet</a:t>
            </a:r>
            <a:endParaRPr lang="en-US" sz="1200" dirty="0"/>
          </a:p>
          <a:p>
            <a:pPr marL="228600" indent="-228600">
              <a:spcAft>
                <a:spcPts val="1200"/>
              </a:spcAft>
              <a:buSzPct val="100000"/>
              <a:buFont typeface="Arial" panose="020B0604020202020204" pitchFamily="34" charset="0"/>
              <a:buChar char="•"/>
            </a:pPr>
            <a:r>
              <a:rPr lang="en-US" sz="1200" dirty="0" err="1">
                <a:solidFill>
                  <a:srgbClr val="3A3A3A"/>
                </a:solidFill>
                <a:latin typeface="Calibri" pitchFamily="34" charset="0"/>
                <a:ea typeface="Calibri" pitchFamily="34" charset="-122"/>
                <a:cs typeface="Calibri" pitchFamily="34" charset="-120"/>
              </a:rPr>
              <a:t>Modèle</a:t>
            </a:r>
            <a:r>
              <a:rPr lang="en-US" sz="1200" dirty="0">
                <a:solidFill>
                  <a:srgbClr val="3A3A3A"/>
                </a:solidFill>
                <a:latin typeface="Calibri" pitchFamily="34" charset="0"/>
                <a:ea typeface="Calibri" pitchFamily="34" charset="-122"/>
                <a:cs typeface="Calibri" pitchFamily="34" charset="-120"/>
              </a:rPr>
              <a:t> </a:t>
            </a:r>
            <a:r>
              <a:rPr lang="en-US" sz="1200" dirty="0" err="1">
                <a:solidFill>
                  <a:srgbClr val="3A3A3A"/>
                </a:solidFill>
                <a:latin typeface="Calibri" pitchFamily="34" charset="0"/>
                <a:ea typeface="Calibri" pitchFamily="34" charset="-122"/>
                <a:cs typeface="Calibri" pitchFamily="34" charset="-120"/>
              </a:rPr>
              <a:t>traditionnel</a:t>
            </a:r>
            <a:r>
              <a:rPr lang="en-US" sz="1200" dirty="0">
                <a:solidFill>
                  <a:srgbClr val="3A3A3A"/>
                </a:solidFill>
                <a:latin typeface="Calibri" pitchFamily="34" charset="0"/>
                <a:ea typeface="Calibri" pitchFamily="34" charset="-122"/>
                <a:cs typeface="Calibri" pitchFamily="34" charset="-120"/>
              </a:rPr>
              <a:t> de </a:t>
            </a:r>
            <a:r>
              <a:rPr lang="en-US" sz="1200" dirty="0" err="1">
                <a:solidFill>
                  <a:srgbClr val="3A3A3A"/>
                </a:solidFill>
                <a:latin typeface="Calibri" pitchFamily="34" charset="0"/>
                <a:ea typeface="Calibri" pitchFamily="34" charset="-122"/>
                <a:cs typeface="Calibri" pitchFamily="34" charset="-120"/>
              </a:rPr>
              <a:t>serveur</a:t>
            </a:r>
            <a:r>
              <a:rPr lang="en-US" sz="1200" dirty="0">
                <a:solidFill>
                  <a:srgbClr val="3A3A3A"/>
                </a:solidFill>
                <a:latin typeface="Calibri" pitchFamily="34" charset="0"/>
                <a:ea typeface="Calibri" pitchFamily="34" charset="-122"/>
                <a:cs typeface="Calibri" pitchFamily="34" charset="-120"/>
              </a:rPr>
              <a:t> </a:t>
            </a:r>
            <a:r>
              <a:rPr lang="en-US" sz="1200" dirty="0" err="1">
                <a:solidFill>
                  <a:srgbClr val="3A3A3A"/>
                </a:solidFill>
                <a:latin typeface="Calibri" pitchFamily="34" charset="0"/>
                <a:ea typeface="Calibri" pitchFamily="34" charset="-122"/>
                <a:cs typeface="Calibri" pitchFamily="34" charset="-120"/>
              </a:rPr>
              <a:t>d'application</a:t>
            </a:r>
            <a:r>
              <a:rPr lang="en-US" sz="1200" dirty="0">
                <a:solidFill>
                  <a:srgbClr val="3A3A3A"/>
                </a:solidFill>
                <a:latin typeface="Calibri" pitchFamily="34" charset="0"/>
                <a:ea typeface="Calibri" pitchFamily="34" charset="-122"/>
                <a:cs typeface="Calibri" pitchFamily="34" charset="-120"/>
              </a:rPr>
              <a:t>, </a:t>
            </a:r>
            <a:r>
              <a:rPr lang="en-US" sz="1200" dirty="0" err="1">
                <a:solidFill>
                  <a:srgbClr val="3A3A3A"/>
                </a:solidFill>
                <a:latin typeface="Calibri" pitchFamily="34" charset="0"/>
                <a:ea typeface="Calibri" pitchFamily="34" charset="-122"/>
                <a:cs typeface="Calibri" pitchFamily="34" charset="-120"/>
              </a:rPr>
              <a:t>souvent</a:t>
            </a:r>
            <a:r>
              <a:rPr lang="en-US" sz="1200" dirty="0">
                <a:solidFill>
                  <a:srgbClr val="3A3A3A"/>
                </a:solidFill>
                <a:latin typeface="Calibri" pitchFamily="34" charset="0"/>
                <a:ea typeface="Calibri" pitchFamily="34" charset="-122"/>
                <a:cs typeface="Calibri" pitchFamily="34" charset="-120"/>
              </a:rPr>
              <a:t> plus </a:t>
            </a:r>
            <a:r>
              <a:rPr lang="en-US" sz="1200" dirty="0" err="1">
                <a:solidFill>
                  <a:srgbClr val="3A3A3A"/>
                </a:solidFill>
                <a:latin typeface="Calibri" pitchFamily="34" charset="0"/>
                <a:ea typeface="Calibri" pitchFamily="34" charset="-122"/>
                <a:cs typeface="Calibri" pitchFamily="34" charset="-120"/>
              </a:rPr>
              <a:t>lourd</a:t>
            </a:r>
            <a:r>
              <a:rPr lang="en-US" sz="1200" dirty="0">
                <a:solidFill>
                  <a:srgbClr val="3A3A3A"/>
                </a:solidFill>
                <a:latin typeface="Calibri" pitchFamily="34" charset="0"/>
                <a:ea typeface="Calibri" pitchFamily="34" charset="-122"/>
                <a:cs typeface="Calibri" pitchFamily="34" charset="-120"/>
              </a:rPr>
              <a:t> à </a:t>
            </a:r>
            <a:r>
              <a:rPr lang="en-US" sz="1200" dirty="0" err="1">
                <a:solidFill>
                  <a:srgbClr val="3A3A3A"/>
                </a:solidFill>
                <a:latin typeface="Calibri" pitchFamily="34" charset="0"/>
                <a:ea typeface="Calibri" pitchFamily="34" charset="-122"/>
                <a:cs typeface="Calibri" pitchFamily="34" charset="-120"/>
              </a:rPr>
              <a:t>déployer</a:t>
            </a:r>
            <a:endParaRPr lang="en-US" sz="1200" dirty="0"/>
          </a:p>
          <a:p>
            <a:pPr>
              <a:lnSpc>
                <a:spcPct val="130000"/>
              </a:lnSpc>
            </a:pPr>
            <a:endParaRPr lang="en-US" sz="1200" b="1" dirty="0"/>
          </a:p>
        </p:txBody>
      </p:sp>
      <p:sp>
        <p:nvSpPr>
          <p:cNvPr id="11" name="TextBox 10">
            <a:extLst>
              <a:ext uri="{FF2B5EF4-FFF2-40B4-BE49-F238E27FC236}">
                <a16:creationId xmlns:a16="http://schemas.microsoft.com/office/drawing/2014/main" id="{78DCD41C-158A-E17F-8C1D-61292DA28D13}"/>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pic>
        <p:nvPicPr>
          <p:cNvPr id="14" name="Picture 13" descr="Jakarta EE — Wikipédia">
            <a:extLst>
              <a:ext uri="{FF2B5EF4-FFF2-40B4-BE49-F238E27FC236}">
                <a16:creationId xmlns:a16="http://schemas.microsoft.com/office/drawing/2014/main" id="{DDB0E9D7-61B3-ECF1-526B-3CBC4388FE22}"/>
              </a:ext>
            </a:extLst>
          </p:cNvPr>
          <p:cNvPicPr>
            <a:picLocks noChangeAspect="1"/>
          </p:cNvPicPr>
          <p:nvPr/>
        </p:nvPicPr>
        <p:blipFill>
          <a:blip r:embed="rId7"/>
          <a:stretch>
            <a:fillRect/>
          </a:stretch>
        </p:blipFill>
        <p:spPr>
          <a:xfrm>
            <a:off x="6788488" y="2255955"/>
            <a:ext cx="1349672" cy="1287998"/>
          </a:xfrm>
          <a:prstGeom prst="rect">
            <a:avLst/>
          </a:prstGeom>
        </p:spPr>
      </p:pic>
    </p:spTree>
    <p:extLst>
      <p:ext uri="{BB962C8B-B14F-4D97-AF65-F5344CB8AC3E}">
        <p14:creationId xmlns:p14="http://schemas.microsoft.com/office/powerpoint/2010/main" val="12906805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2AD13AC-25B8-0A38-37B6-8F84AFC15FD7}"/>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D2D8EDA-A062-9654-BB50-1B9D5969F617}"/>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1B36699E-D6A2-680A-C6E7-5B3BD13AB6BF}"/>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A593284C-8306-927B-B538-9ABF558F04DE}"/>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8F4308E2-D1D5-5858-4C55-0596A2260572}"/>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F6B70A1C-9DA0-D15D-3D99-72A8A659B6C6}"/>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21DB667E-5796-F69E-C7DF-F1EDB3A2D9C3}"/>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7A2D7ED0-D12F-684C-47C4-A601754D9B7B}"/>
              </a:ext>
            </a:extLst>
          </p:cNvPr>
          <p:cNvSpPr/>
          <p:nvPr/>
        </p:nvSpPr>
        <p:spPr>
          <a:xfrm>
            <a:off x="1993392" y="91440"/>
            <a:ext cx="6400800" cy="411480"/>
          </a:xfrm>
          <a:prstGeom prst="rect">
            <a:avLst/>
          </a:prstGeom>
          <a:noFill/>
          <a:ln/>
        </p:spPr>
        <p:txBody>
          <a:bodyPr wrap="square" lIns="0" tIns="0" rIns="0" bIns="0" rtlCol="0" anchor="ctr"/>
          <a:lstStyle/>
          <a:p>
            <a:r>
              <a:rPr lang="fr-FR" b="1" dirty="0">
                <a:solidFill>
                  <a:srgbClr val="0B1F3A"/>
                </a:solidFill>
                <a:latin typeface="Cambria" pitchFamily="34" charset="0"/>
                <a:ea typeface="Cambria" pitchFamily="34" charset="-122"/>
                <a:cs typeface="Cambria" pitchFamily="34" charset="-120"/>
              </a:rPr>
              <a:t>Qu'est-ce qu’un Framework ? – </a:t>
            </a:r>
            <a:r>
              <a:rPr lang="en-US" b="1" dirty="0" err="1">
                <a:solidFill>
                  <a:srgbClr val="0B1F3A"/>
                </a:solidFill>
                <a:latin typeface="Cambria" pitchFamily="34" charset="0"/>
                <a:ea typeface="Cambria" pitchFamily="34" charset="-122"/>
              </a:rPr>
              <a:t>Quarkus</a:t>
            </a:r>
            <a:endParaRPr lang="fr-FR" b="1" dirty="0">
              <a:solidFill>
                <a:srgbClr val="0B1F3A"/>
              </a:solidFill>
              <a:latin typeface="Cambria" pitchFamily="34" charset="0"/>
              <a:ea typeface="Cambria" pitchFamily="34" charset="-122"/>
            </a:endParaRPr>
          </a:p>
        </p:txBody>
      </p:sp>
      <p:sp>
        <p:nvSpPr>
          <p:cNvPr id="10" name="Shape 3">
            <a:extLst>
              <a:ext uri="{FF2B5EF4-FFF2-40B4-BE49-F238E27FC236}">
                <a16:creationId xmlns:a16="http://schemas.microsoft.com/office/drawing/2014/main" id="{DAF45937-9501-A5C2-400E-23CA9DD0D6CC}"/>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C4247FFB-35BB-6A09-1A95-D60F3A58F547}"/>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B62571A5-0495-343E-4DF4-4BA49EB39ACE}"/>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F08497A0-84C6-E140-C06B-274E04869DA1}"/>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37</a:t>
            </a:r>
            <a:endParaRPr lang="en-US" sz="900" dirty="0"/>
          </a:p>
        </p:txBody>
      </p:sp>
      <p:pic>
        <p:nvPicPr>
          <p:cNvPr id="18" name="object 2">
            <a:extLst>
              <a:ext uri="{FF2B5EF4-FFF2-40B4-BE49-F238E27FC236}">
                <a16:creationId xmlns:a16="http://schemas.microsoft.com/office/drawing/2014/main" id="{89BFBCB5-450F-443E-773E-4DE3D6D9660B}"/>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DF62A9A6-A90F-5BD6-9567-EEF2BD0D2018}"/>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7" name="Text 4">
            <a:extLst>
              <a:ext uri="{FF2B5EF4-FFF2-40B4-BE49-F238E27FC236}">
                <a16:creationId xmlns:a16="http://schemas.microsoft.com/office/drawing/2014/main" id="{3C08DB40-5FD5-19D3-B725-BDABB7760319}"/>
              </a:ext>
            </a:extLst>
          </p:cNvPr>
          <p:cNvSpPr/>
          <p:nvPr/>
        </p:nvSpPr>
        <p:spPr>
          <a:xfrm>
            <a:off x="320040" y="814572"/>
            <a:ext cx="8522208" cy="3954918"/>
          </a:xfrm>
          <a:prstGeom prst="rect">
            <a:avLst/>
          </a:prstGeom>
          <a:noFill/>
          <a:ln/>
        </p:spPr>
        <p:txBody>
          <a:bodyPr wrap="square" rtlCol="0" anchor="t"/>
          <a:lstStyle/>
          <a:p>
            <a:pPr>
              <a:lnSpc>
                <a:spcPct val="130000"/>
              </a:lnSpc>
            </a:pPr>
            <a:r>
              <a:rPr lang="en-US" sz="1200" b="1" dirty="0" err="1">
                <a:solidFill>
                  <a:srgbClr val="3A3A3A"/>
                </a:solidFill>
                <a:latin typeface="Calibri" pitchFamily="34" charset="0"/>
                <a:ea typeface="Calibri" pitchFamily="34" charset="-122"/>
                <a:cs typeface="Calibri" pitchFamily="34" charset="-120"/>
              </a:rPr>
              <a:t>Définition</a:t>
            </a:r>
            <a:r>
              <a:rPr lang="en-US" sz="1200" dirty="0">
                <a:solidFill>
                  <a:srgbClr val="3A3A3A"/>
                </a:solidFill>
                <a:latin typeface="Calibri" pitchFamily="34" charset="0"/>
                <a:ea typeface="Calibri" pitchFamily="34" charset="-122"/>
                <a:cs typeface="Calibri" pitchFamily="34" charset="-120"/>
              </a:rPr>
              <a:t> </a:t>
            </a:r>
          </a:p>
          <a:p>
            <a:pPr>
              <a:lnSpc>
                <a:spcPct val="130000"/>
              </a:lnSpc>
            </a:pPr>
            <a:r>
              <a:rPr lang="en-US" sz="1200" dirty="0" err="1">
                <a:solidFill>
                  <a:srgbClr val="3A3A3A"/>
                </a:solidFill>
                <a:latin typeface="Calibri" pitchFamily="34" charset="0"/>
                <a:ea typeface="Calibri" pitchFamily="34" charset="-122"/>
                <a:cs typeface="Calibri" pitchFamily="34" charset="-120"/>
              </a:rPr>
              <a:t>Quarkus</a:t>
            </a:r>
            <a:r>
              <a:rPr lang="en-US" sz="1200" dirty="0">
                <a:solidFill>
                  <a:srgbClr val="3A3A3A"/>
                </a:solidFill>
                <a:latin typeface="Calibri" pitchFamily="34" charset="0"/>
                <a:ea typeface="Calibri" pitchFamily="34" charset="-122"/>
                <a:cs typeface="Calibri" pitchFamily="34" charset="-120"/>
              </a:rPr>
              <a:t> est un framework Java cloud-native </a:t>
            </a:r>
            <a:r>
              <a:rPr lang="en-US" sz="1200" dirty="0" err="1">
                <a:solidFill>
                  <a:srgbClr val="3A3A3A"/>
                </a:solidFill>
                <a:latin typeface="Calibri" pitchFamily="34" charset="0"/>
                <a:ea typeface="Calibri" pitchFamily="34" charset="-122"/>
                <a:cs typeface="Calibri" pitchFamily="34" charset="-120"/>
              </a:rPr>
              <a:t>créé</a:t>
            </a:r>
            <a:r>
              <a:rPr lang="en-US" sz="1200" dirty="0">
                <a:solidFill>
                  <a:srgbClr val="3A3A3A"/>
                </a:solidFill>
                <a:latin typeface="Calibri" pitchFamily="34" charset="0"/>
                <a:ea typeface="Calibri" pitchFamily="34" charset="-122"/>
                <a:cs typeface="Calibri" pitchFamily="34" charset="-120"/>
              </a:rPr>
              <a:t> par Red Hat, </a:t>
            </a:r>
            <a:r>
              <a:rPr lang="en-US" sz="1200" dirty="0" err="1">
                <a:solidFill>
                  <a:srgbClr val="3A3A3A"/>
                </a:solidFill>
                <a:latin typeface="Calibri" pitchFamily="34" charset="0"/>
                <a:ea typeface="Calibri" pitchFamily="34" charset="-122"/>
                <a:cs typeface="Calibri" pitchFamily="34" charset="-120"/>
              </a:rPr>
              <a:t>conçu</a:t>
            </a:r>
            <a:r>
              <a:rPr lang="en-US" sz="1200" dirty="0">
                <a:solidFill>
                  <a:srgbClr val="3A3A3A"/>
                </a:solidFill>
                <a:latin typeface="Calibri" pitchFamily="34" charset="0"/>
                <a:ea typeface="Calibri" pitchFamily="34" charset="-122"/>
                <a:cs typeface="Calibri" pitchFamily="34" charset="-120"/>
              </a:rPr>
              <a:t> pour les </a:t>
            </a:r>
            <a:r>
              <a:rPr lang="en-US" sz="1200" dirty="0" err="1">
                <a:solidFill>
                  <a:srgbClr val="3A3A3A"/>
                </a:solidFill>
                <a:latin typeface="Calibri" pitchFamily="34" charset="0"/>
                <a:ea typeface="Calibri" pitchFamily="34" charset="-122"/>
                <a:cs typeface="Calibri" pitchFamily="34" charset="-120"/>
              </a:rPr>
              <a:t>conteneurs</a:t>
            </a:r>
            <a:r>
              <a:rPr lang="en-US" sz="1200" dirty="0">
                <a:solidFill>
                  <a:srgbClr val="3A3A3A"/>
                </a:solidFill>
                <a:latin typeface="Calibri" pitchFamily="34" charset="0"/>
                <a:ea typeface="Calibri" pitchFamily="34" charset="-122"/>
                <a:cs typeface="Calibri" pitchFamily="34" charset="-120"/>
              </a:rPr>
              <a:t>, le serverless et les microservices, avec un </a:t>
            </a:r>
            <a:r>
              <a:rPr lang="en-US" sz="1200" dirty="0" err="1">
                <a:solidFill>
                  <a:srgbClr val="3A3A3A"/>
                </a:solidFill>
                <a:latin typeface="Calibri" pitchFamily="34" charset="0"/>
                <a:ea typeface="Calibri" pitchFamily="34" charset="-122"/>
                <a:cs typeface="Calibri" pitchFamily="34" charset="-120"/>
              </a:rPr>
              <a:t>démarrage</a:t>
            </a:r>
            <a:r>
              <a:rPr lang="en-US" sz="1200" dirty="0">
                <a:solidFill>
                  <a:srgbClr val="3A3A3A"/>
                </a:solidFill>
                <a:latin typeface="Calibri" pitchFamily="34" charset="0"/>
                <a:ea typeface="Calibri" pitchFamily="34" charset="-122"/>
                <a:cs typeface="Calibri" pitchFamily="34" charset="-120"/>
              </a:rPr>
              <a:t> quasi </a:t>
            </a:r>
            <a:r>
              <a:rPr lang="en-US" sz="1200" dirty="0" err="1">
                <a:solidFill>
                  <a:srgbClr val="3A3A3A"/>
                </a:solidFill>
                <a:latin typeface="Calibri" pitchFamily="34" charset="0"/>
                <a:ea typeface="Calibri" pitchFamily="34" charset="-122"/>
                <a:cs typeface="Calibri" pitchFamily="34" charset="-120"/>
              </a:rPr>
              <a:t>instantané</a:t>
            </a:r>
            <a:r>
              <a:rPr lang="en-US" sz="1200" dirty="0">
                <a:solidFill>
                  <a:srgbClr val="3A3A3A"/>
                </a:solidFill>
                <a:latin typeface="Calibri" pitchFamily="34" charset="0"/>
                <a:ea typeface="Calibri" pitchFamily="34" charset="-122"/>
                <a:cs typeface="Calibri" pitchFamily="34" charset="-120"/>
              </a:rPr>
              <a:t> et </a:t>
            </a:r>
            <a:r>
              <a:rPr lang="en-US" sz="1200" dirty="0" err="1">
                <a:solidFill>
                  <a:srgbClr val="3A3A3A"/>
                </a:solidFill>
                <a:latin typeface="Calibri" pitchFamily="34" charset="0"/>
                <a:ea typeface="Calibri" pitchFamily="34" charset="-122"/>
                <a:cs typeface="Calibri" pitchFamily="34" charset="-120"/>
              </a:rPr>
              <a:t>une</a:t>
            </a:r>
            <a:r>
              <a:rPr lang="en-US" sz="1200" dirty="0">
                <a:solidFill>
                  <a:srgbClr val="3A3A3A"/>
                </a:solidFill>
                <a:latin typeface="Calibri" pitchFamily="34" charset="0"/>
                <a:ea typeface="Calibri" pitchFamily="34" charset="-122"/>
                <a:cs typeface="Calibri" pitchFamily="34" charset="-120"/>
              </a:rPr>
              <a:t> </a:t>
            </a:r>
            <a:r>
              <a:rPr lang="en-US" sz="1200" dirty="0" err="1">
                <a:solidFill>
                  <a:srgbClr val="3A3A3A"/>
                </a:solidFill>
                <a:latin typeface="Calibri" pitchFamily="34" charset="0"/>
                <a:ea typeface="Calibri" pitchFamily="34" charset="-122"/>
                <a:cs typeface="Calibri" pitchFamily="34" charset="-120"/>
              </a:rPr>
              <a:t>empreinte</a:t>
            </a:r>
            <a:r>
              <a:rPr lang="en-US" sz="1200" dirty="0">
                <a:solidFill>
                  <a:srgbClr val="3A3A3A"/>
                </a:solidFill>
                <a:latin typeface="Calibri" pitchFamily="34" charset="0"/>
                <a:ea typeface="Calibri" pitchFamily="34" charset="-122"/>
                <a:cs typeface="Calibri" pitchFamily="34" charset="-120"/>
              </a:rPr>
              <a:t> </a:t>
            </a:r>
            <a:r>
              <a:rPr lang="en-US" sz="1200" dirty="0" err="1">
                <a:solidFill>
                  <a:srgbClr val="3A3A3A"/>
                </a:solidFill>
                <a:latin typeface="Calibri" pitchFamily="34" charset="0"/>
                <a:ea typeface="Calibri" pitchFamily="34" charset="-122"/>
                <a:cs typeface="Calibri" pitchFamily="34" charset="-120"/>
              </a:rPr>
              <a:t>mémoire</a:t>
            </a:r>
            <a:r>
              <a:rPr lang="en-US" sz="1200" dirty="0">
                <a:solidFill>
                  <a:srgbClr val="3A3A3A"/>
                </a:solidFill>
                <a:latin typeface="Calibri" pitchFamily="34" charset="0"/>
                <a:ea typeface="Calibri" pitchFamily="34" charset="-122"/>
                <a:cs typeface="Calibri" pitchFamily="34" charset="-120"/>
              </a:rPr>
              <a:t> </a:t>
            </a:r>
            <a:r>
              <a:rPr lang="en-US" sz="1200" dirty="0" err="1">
                <a:solidFill>
                  <a:srgbClr val="3A3A3A"/>
                </a:solidFill>
                <a:latin typeface="Calibri" pitchFamily="34" charset="0"/>
                <a:ea typeface="Calibri" pitchFamily="34" charset="-122"/>
                <a:cs typeface="Calibri" pitchFamily="34" charset="-120"/>
              </a:rPr>
              <a:t>minimale</a:t>
            </a:r>
            <a:r>
              <a:rPr lang="en-US" sz="1200" dirty="0">
                <a:solidFill>
                  <a:srgbClr val="3A3A3A"/>
                </a:solidFill>
                <a:latin typeface="Calibri" pitchFamily="34" charset="0"/>
                <a:ea typeface="Calibri" pitchFamily="34" charset="-122"/>
                <a:cs typeface="Calibri" pitchFamily="34" charset="-120"/>
              </a:rPr>
              <a:t>.</a:t>
            </a:r>
            <a:endParaRPr lang="en-US" sz="1200" dirty="0"/>
          </a:p>
          <a:p>
            <a:pPr>
              <a:lnSpc>
                <a:spcPct val="130000"/>
              </a:lnSpc>
            </a:pPr>
            <a:endParaRPr lang="en-US" sz="1200" dirty="0">
              <a:solidFill>
                <a:srgbClr val="3A3A3A"/>
              </a:solidFill>
              <a:latin typeface="Calibri" pitchFamily="34" charset="0"/>
              <a:ea typeface="Calibri" pitchFamily="34" charset="-122"/>
              <a:cs typeface="Calibri" pitchFamily="34" charset="-120"/>
            </a:endParaRPr>
          </a:p>
          <a:p>
            <a:pPr>
              <a:lnSpc>
                <a:spcPct val="130000"/>
              </a:lnSpc>
            </a:pPr>
            <a:r>
              <a:rPr lang="en-US" sz="1200" b="1" dirty="0">
                <a:solidFill>
                  <a:srgbClr val="3A3A3A"/>
                </a:solidFill>
                <a:latin typeface="Calibri" pitchFamily="34" charset="0"/>
                <a:ea typeface="Calibri" pitchFamily="34" charset="-122"/>
                <a:cs typeface="Calibri" pitchFamily="34" charset="-120"/>
              </a:rPr>
              <a:t>Points </a:t>
            </a:r>
            <a:r>
              <a:rPr lang="en-US" sz="1200" b="1" dirty="0" err="1">
                <a:solidFill>
                  <a:srgbClr val="3A3A3A"/>
                </a:solidFill>
                <a:latin typeface="Calibri" pitchFamily="34" charset="0"/>
                <a:ea typeface="Calibri" pitchFamily="34" charset="-122"/>
                <a:cs typeface="Calibri" pitchFamily="34" charset="-120"/>
              </a:rPr>
              <a:t>Clés</a:t>
            </a:r>
            <a:endParaRPr lang="en-US" sz="1200" b="1" dirty="0">
              <a:solidFill>
                <a:srgbClr val="3A3A3A"/>
              </a:solidFill>
              <a:latin typeface="Calibri" pitchFamily="34" charset="0"/>
              <a:ea typeface="Calibri" pitchFamily="34" charset="-122"/>
              <a:cs typeface="Calibri" pitchFamily="34" charset="-120"/>
            </a:endParaRPr>
          </a:p>
          <a:p>
            <a:pPr marL="228600" indent="-228600">
              <a:spcAft>
                <a:spcPts val="1200"/>
              </a:spcAft>
              <a:buSzPct val="100000"/>
              <a:buFont typeface="Arial" panose="020B0604020202020204" pitchFamily="34" charset="0"/>
              <a:buChar char="•"/>
            </a:pPr>
            <a:r>
              <a:rPr lang="en-US" sz="1200" dirty="0" err="1">
                <a:solidFill>
                  <a:srgbClr val="3A3A3A"/>
                </a:solidFill>
                <a:latin typeface="Calibri" pitchFamily="34" charset="0"/>
                <a:ea typeface="Calibri" pitchFamily="34" charset="-122"/>
                <a:cs typeface="Calibri" pitchFamily="34" charset="-120"/>
              </a:rPr>
              <a:t>Créé</a:t>
            </a:r>
            <a:r>
              <a:rPr lang="en-US" sz="1200" dirty="0">
                <a:solidFill>
                  <a:srgbClr val="3A3A3A"/>
                </a:solidFill>
                <a:latin typeface="Calibri" pitchFamily="34" charset="0"/>
                <a:ea typeface="Calibri" pitchFamily="34" charset="-122"/>
                <a:cs typeface="Calibri" pitchFamily="34" charset="-120"/>
              </a:rPr>
              <a:t> </a:t>
            </a:r>
            <a:r>
              <a:rPr lang="en-US" sz="1200" dirty="0" err="1">
                <a:solidFill>
                  <a:srgbClr val="3A3A3A"/>
                </a:solidFill>
                <a:latin typeface="Calibri" pitchFamily="34" charset="0"/>
                <a:ea typeface="Calibri" pitchFamily="34" charset="-122"/>
                <a:cs typeface="Calibri" pitchFamily="34" charset="-120"/>
              </a:rPr>
              <a:t>en</a:t>
            </a:r>
            <a:r>
              <a:rPr lang="en-US" sz="1200" dirty="0">
                <a:solidFill>
                  <a:srgbClr val="3A3A3A"/>
                </a:solidFill>
                <a:latin typeface="Calibri" pitchFamily="34" charset="0"/>
                <a:ea typeface="Calibri" pitchFamily="34" charset="-122"/>
                <a:cs typeface="Calibri" pitchFamily="34" charset="-120"/>
              </a:rPr>
              <a:t> 2019 par Red Hat</a:t>
            </a:r>
          </a:p>
          <a:p>
            <a:pPr marL="228600" indent="-228600">
              <a:spcAft>
                <a:spcPts val="1200"/>
              </a:spcAft>
              <a:buSzPct val="100000"/>
              <a:buFont typeface="Arial" panose="020B0604020202020204" pitchFamily="34" charset="0"/>
              <a:buChar char="•"/>
            </a:pPr>
            <a:r>
              <a:rPr lang="en-US" sz="1200" dirty="0">
                <a:solidFill>
                  <a:srgbClr val="3A3A3A"/>
                </a:solidFill>
                <a:latin typeface="Calibri" pitchFamily="34" charset="0"/>
                <a:ea typeface="Calibri" pitchFamily="34" charset="-122"/>
                <a:cs typeface="Calibri" pitchFamily="34" charset="-120"/>
              </a:rPr>
              <a:t>Compilation native via </a:t>
            </a:r>
            <a:r>
              <a:rPr lang="en-US" sz="1200" dirty="0" err="1">
                <a:solidFill>
                  <a:srgbClr val="3A3A3A"/>
                </a:solidFill>
                <a:latin typeface="Calibri" pitchFamily="34" charset="0"/>
                <a:ea typeface="Calibri" pitchFamily="34" charset="-122"/>
                <a:cs typeface="Calibri" pitchFamily="34" charset="-120"/>
              </a:rPr>
              <a:t>GraalVM</a:t>
            </a:r>
            <a:endParaRPr lang="en-US" sz="1200" dirty="0">
              <a:solidFill>
                <a:srgbClr val="3A3A3A"/>
              </a:solidFill>
              <a:latin typeface="Calibri" pitchFamily="34" charset="0"/>
              <a:ea typeface="Calibri" pitchFamily="34" charset="-122"/>
              <a:cs typeface="Calibri" pitchFamily="34" charset="-120"/>
            </a:endParaRPr>
          </a:p>
          <a:p>
            <a:pPr marL="228600" indent="-228600">
              <a:spcAft>
                <a:spcPts val="1200"/>
              </a:spcAft>
              <a:buSzPct val="100000"/>
              <a:buFont typeface="Arial" panose="020B0604020202020204" pitchFamily="34" charset="0"/>
              <a:buChar char="•"/>
            </a:pPr>
            <a:r>
              <a:rPr lang="en-US" sz="1200" dirty="0" err="1">
                <a:solidFill>
                  <a:srgbClr val="3A3A3A"/>
                </a:solidFill>
                <a:latin typeface="Calibri" pitchFamily="34" charset="0"/>
                <a:ea typeface="Calibri" pitchFamily="34" charset="-122"/>
                <a:cs typeface="Calibri" pitchFamily="34" charset="-120"/>
              </a:rPr>
              <a:t>Démarrage</a:t>
            </a:r>
            <a:r>
              <a:rPr lang="en-US" sz="1200" dirty="0">
                <a:solidFill>
                  <a:srgbClr val="3A3A3A"/>
                </a:solidFill>
                <a:latin typeface="Calibri" pitchFamily="34" charset="0"/>
                <a:ea typeface="Calibri" pitchFamily="34" charset="-122"/>
                <a:cs typeface="Calibri" pitchFamily="34" charset="-120"/>
              </a:rPr>
              <a:t> </a:t>
            </a:r>
            <a:r>
              <a:rPr lang="en-US" sz="1200" dirty="0" err="1">
                <a:solidFill>
                  <a:srgbClr val="3A3A3A"/>
                </a:solidFill>
                <a:latin typeface="Calibri" pitchFamily="34" charset="0"/>
                <a:ea typeface="Calibri" pitchFamily="34" charset="-122"/>
                <a:cs typeface="Calibri" pitchFamily="34" charset="-120"/>
              </a:rPr>
              <a:t>en</a:t>
            </a:r>
            <a:r>
              <a:rPr lang="en-US" sz="1200" dirty="0">
                <a:solidFill>
                  <a:srgbClr val="3A3A3A"/>
                </a:solidFill>
                <a:latin typeface="Calibri" pitchFamily="34" charset="0"/>
                <a:ea typeface="Calibri" pitchFamily="34" charset="-122"/>
                <a:cs typeface="Calibri" pitchFamily="34" charset="-120"/>
              </a:rPr>
              <a:t> </a:t>
            </a:r>
            <a:r>
              <a:rPr lang="en-US" sz="1200" dirty="0" err="1">
                <a:solidFill>
                  <a:srgbClr val="3A3A3A"/>
                </a:solidFill>
                <a:latin typeface="Calibri" pitchFamily="34" charset="0"/>
                <a:ea typeface="Calibri" pitchFamily="34" charset="-122"/>
                <a:cs typeface="Calibri" pitchFamily="34" charset="-120"/>
              </a:rPr>
              <a:t>millisecondes</a:t>
            </a:r>
            <a:r>
              <a:rPr lang="en-US" sz="1200" dirty="0">
                <a:solidFill>
                  <a:srgbClr val="3A3A3A"/>
                </a:solidFill>
                <a:latin typeface="Calibri" pitchFamily="34" charset="0"/>
                <a:ea typeface="Calibri" pitchFamily="34" charset="-122"/>
                <a:cs typeface="Calibri" pitchFamily="34" charset="-120"/>
              </a:rPr>
              <a:t>, </a:t>
            </a:r>
            <a:r>
              <a:rPr lang="en-US" sz="1200" dirty="0" err="1">
                <a:solidFill>
                  <a:srgbClr val="3A3A3A"/>
                </a:solidFill>
                <a:latin typeface="Calibri" pitchFamily="34" charset="0"/>
                <a:ea typeface="Calibri" pitchFamily="34" charset="-122"/>
                <a:cs typeface="Calibri" pitchFamily="34" charset="-120"/>
              </a:rPr>
              <a:t>faible</a:t>
            </a:r>
            <a:r>
              <a:rPr lang="en-US" sz="1200" dirty="0">
                <a:solidFill>
                  <a:srgbClr val="3A3A3A"/>
                </a:solidFill>
                <a:latin typeface="Calibri" pitchFamily="34" charset="0"/>
                <a:ea typeface="Calibri" pitchFamily="34" charset="-122"/>
                <a:cs typeface="Calibri" pitchFamily="34" charset="-120"/>
              </a:rPr>
              <a:t> </a:t>
            </a:r>
            <a:r>
              <a:rPr lang="en-US" sz="1200" dirty="0" err="1">
                <a:solidFill>
                  <a:srgbClr val="3A3A3A"/>
                </a:solidFill>
                <a:latin typeface="Calibri" pitchFamily="34" charset="0"/>
                <a:ea typeface="Calibri" pitchFamily="34" charset="-122"/>
                <a:cs typeface="Calibri" pitchFamily="34" charset="-120"/>
              </a:rPr>
              <a:t>consommation</a:t>
            </a:r>
            <a:r>
              <a:rPr lang="en-US" sz="1200" dirty="0">
                <a:solidFill>
                  <a:srgbClr val="3A3A3A"/>
                </a:solidFill>
                <a:latin typeface="Calibri" pitchFamily="34" charset="0"/>
                <a:ea typeface="Calibri" pitchFamily="34" charset="-122"/>
                <a:cs typeface="Calibri" pitchFamily="34" charset="-120"/>
              </a:rPr>
              <a:t> </a:t>
            </a:r>
            <a:r>
              <a:rPr lang="en-US" sz="1200" dirty="0" err="1">
                <a:solidFill>
                  <a:srgbClr val="3A3A3A"/>
                </a:solidFill>
                <a:latin typeface="Calibri" pitchFamily="34" charset="0"/>
                <a:ea typeface="Calibri" pitchFamily="34" charset="-122"/>
                <a:cs typeface="Calibri" pitchFamily="34" charset="-120"/>
              </a:rPr>
              <a:t>mémoire</a:t>
            </a:r>
            <a:endParaRPr lang="en-US" sz="1200" dirty="0">
              <a:solidFill>
                <a:srgbClr val="3A3A3A"/>
              </a:solidFill>
              <a:latin typeface="Calibri" pitchFamily="34" charset="0"/>
              <a:ea typeface="Calibri" pitchFamily="34" charset="-122"/>
              <a:cs typeface="Calibri" pitchFamily="34" charset="-120"/>
            </a:endParaRPr>
          </a:p>
          <a:p>
            <a:pPr marL="228600" indent="-228600">
              <a:spcAft>
                <a:spcPts val="1200"/>
              </a:spcAft>
              <a:buSzPct val="100000"/>
              <a:buFont typeface="Arial" panose="020B0604020202020204" pitchFamily="34" charset="0"/>
              <a:buChar char="•"/>
            </a:pPr>
            <a:r>
              <a:rPr lang="en-US" sz="1200" dirty="0" err="1">
                <a:solidFill>
                  <a:srgbClr val="3A3A3A"/>
                </a:solidFill>
                <a:latin typeface="Calibri" pitchFamily="34" charset="0"/>
                <a:ea typeface="Calibri" pitchFamily="34" charset="-122"/>
                <a:cs typeface="Calibri" pitchFamily="34" charset="-120"/>
              </a:rPr>
              <a:t>Pensé</a:t>
            </a:r>
            <a:r>
              <a:rPr lang="en-US" sz="1200" dirty="0">
                <a:solidFill>
                  <a:srgbClr val="3A3A3A"/>
                </a:solidFill>
                <a:latin typeface="Calibri" pitchFamily="34" charset="0"/>
                <a:ea typeface="Calibri" pitchFamily="34" charset="-122"/>
                <a:cs typeface="Calibri" pitchFamily="34" charset="-120"/>
              </a:rPr>
              <a:t> pour Kubernetes, microservices et architectures serverless</a:t>
            </a:r>
            <a:endParaRPr lang="en-US" sz="1200" dirty="0"/>
          </a:p>
          <a:p>
            <a:pPr>
              <a:lnSpc>
                <a:spcPct val="130000"/>
              </a:lnSpc>
            </a:pPr>
            <a:endParaRPr lang="en-US" sz="1200" b="1" dirty="0"/>
          </a:p>
        </p:txBody>
      </p:sp>
      <p:sp>
        <p:nvSpPr>
          <p:cNvPr id="11" name="TextBox 10">
            <a:extLst>
              <a:ext uri="{FF2B5EF4-FFF2-40B4-BE49-F238E27FC236}">
                <a16:creationId xmlns:a16="http://schemas.microsoft.com/office/drawing/2014/main" id="{5D118A62-B2E3-4E37-DF79-24AF604FF9DA}"/>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pic>
        <p:nvPicPr>
          <p:cNvPr id="16" name="Picture 15">
            <a:extLst>
              <a:ext uri="{FF2B5EF4-FFF2-40B4-BE49-F238E27FC236}">
                <a16:creationId xmlns:a16="http://schemas.microsoft.com/office/drawing/2014/main" id="{B4A28089-A812-0D0A-9DAB-DFF5D0CFF47B}"/>
              </a:ext>
            </a:extLst>
          </p:cNvPr>
          <p:cNvPicPr>
            <a:picLocks noChangeAspect="1"/>
          </p:cNvPicPr>
          <p:nvPr/>
        </p:nvPicPr>
        <p:blipFill>
          <a:blip r:embed="rId7"/>
          <a:stretch>
            <a:fillRect/>
          </a:stretch>
        </p:blipFill>
        <p:spPr>
          <a:xfrm>
            <a:off x="6199871" y="2730528"/>
            <a:ext cx="2365868" cy="1355533"/>
          </a:xfrm>
          <a:prstGeom prst="rect">
            <a:avLst/>
          </a:prstGeom>
        </p:spPr>
      </p:pic>
    </p:spTree>
    <p:extLst>
      <p:ext uri="{BB962C8B-B14F-4D97-AF65-F5344CB8AC3E}">
        <p14:creationId xmlns:p14="http://schemas.microsoft.com/office/powerpoint/2010/main" val="30759994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46DE237-80DC-CA92-388E-D953AC1A9443}"/>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C8B7B21E-4560-B1FD-F32A-244EEC4197C2}"/>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ACF71153-098C-9403-113A-B3F9D9FB6ADD}"/>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EB4247CE-F0AE-7162-6633-9D493672EEBD}"/>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84EACB78-56F6-A9B5-68D2-27F6E403D6A8}"/>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E4C281D0-A798-EC7B-00A0-A386ACE8678D}"/>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24F2B658-CB1C-D5FC-36D5-3B8C4E706EC3}"/>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11D94478-DFB8-A3AE-02B5-359EA2E97F80}"/>
              </a:ext>
            </a:extLst>
          </p:cNvPr>
          <p:cNvSpPr/>
          <p:nvPr/>
        </p:nvSpPr>
        <p:spPr>
          <a:xfrm>
            <a:off x="1993392" y="91440"/>
            <a:ext cx="6400800" cy="411480"/>
          </a:xfrm>
          <a:prstGeom prst="rect">
            <a:avLst/>
          </a:prstGeom>
          <a:noFill/>
          <a:ln/>
        </p:spPr>
        <p:txBody>
          <a:bodyPr wrap="square" lIns="0" tIns="0" rIns="0" bIns="0" rtlCol="0" anchor="ctr"/>
          <a:lstStyle/>
          <a:p>
            <a:r>
              <a:rPr lang="fr-FR" b="1" dirty="0">
                <a:solidFill>
                  <a:srgbClr val="1A1A1A"/>
                </a:solidFill>
                <a:latin typeface="Calibri" pitchFamily="34" charset="0"/>
                <a:ea typeface="Calibri" pitchFamily="34" charset="-122"/>
                <a:cs typeface="Calibri" pitchFamily="34" charset="-120"/>
              </a:rPr>
              <a:t>Spring et le marché de l'emploi</a:t>
            </a:r>
            <a:r>
              <a:rPr lang="en-GB" b="1" dirty="0">
                <a:solidFill>
                  <a:srgbClr val="1A1A1A"/>
                </a:solidFill>
                <a:latin typeface="Calibri" pitchFamily="34" charset="0"/>
                <a:ea typeface="Calibri" pitchFamily="34" charset="-122"/>
                <a:cs typeface="Calibri" pitchFamily="34" charset="-120"/>
              </a:rPr>
              <a:t> </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02E3522D-BA91-C494-A297-E77F9BCE5366}"/>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CCC3CF32-CCF2-EC9F-D2A5-15DC65D442F1}"/>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89663048-61E0-7BE8-814D-85FEE028F1E9}"/>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376BB3CF-F9A7-8A94-ED67-27A17EB4A495}"/>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38</a:t>
            </a:r>
            <a:endParaRPr lang="en-US" sz="900" dirty="0"/>
          </a:p>
        </p:txBody>
      </p:sp>
      <p:pic>
        <p:nvPicPr>
          <p:cNvPr id="18" name="object 2">
            <a:extLst>
              <a:ext uri="{FF2B5EF4-FFF2-40B4-BE49-F238E27FC236}">
                <a16:creationId xmlns:a16="http://schemas.microsoft.com/office/drawing/2014/main" id="{CF33F20F-1812-4D78-5552-1F72625D4022}"/>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B69091EF-964F-4FC1-9493-6A24F59609FA}"/>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7" name="Text 4">
            <a:extLst>
              <a:ext uri="{FF2B5EF4-FFF2-40B4-BE49-F238E27FC236}">
                <a16:creationId xmlns:a16="http://schemas.microsoft.com/office/drawing/2014/main" id="{ED22A62D-36E2-ABB1-D397-8FC207ED778F}"/>
              </a:ext>
            </a:extLst>
          </p:cNvPr>
          <p:cNvSpPr/>
          <p:nvPr/>
        </p:nvSpPr>
        <p:spPr>
          <a:xfrm>
            <a:off x="320040" y="836538"/>
            <a:ext cx="8046720" cy="3954918"/>
          </a:xfrm>
          <a:prstGeom prst="rect">
            <a:avLst/>
          </a:prstGeom>
          <a:noFill/>
          <a:ln/>
        </p:spPr>
        <p:txBody>
          <a:bodyPr wrap="square" rtlCol="0" anchor="t"/>
          <a:lstStyle/>
          <a:p>
            <a:pPr>
              <a:lnSpc>
                <a:spcPct val="150000"/>
              </a:lnSpc>
            </a:pPr>
            <a:r>
              <a:rPr lang="fr-FR" sz="1200" dirty="0"/>
              <a:t>Les offres d'emploi pour un profil Développeur Java requièrent généralement les compétences suivantes :</a:t>
            </a:r>
          </a:p>
          <a:p>
            <a:pPr marL="285750" indent="-285750">
              <a:lnSpc>
                <a:spcPct val="150000"/>
              </a:lnSpc>
              <a:buFont typeface="Arial" panose="020B0604020202020204" pitchFamily="34" charset="0"/>
              <a:buChar char="•"/>
            </a:pPr>
            <a:r>
              <a:rPr lang="en-GB" sz="1200" dirty="0" err="1"/>
              <a:t>Maîtrise</a:t>
            </a:r>
            <a:r>
              <a:rPr lang="en-GB" sz="1200" dirty="0"/>
              <a:t> de Java et du framework Spring (Spring Boot, Spring Core, Spring Data, Spring Security..)</a:t>
            </a:r>
          </a:p>
          <a:p>
            <a:pPr marL="285750" indent="-285750">
              <a:lnSpc>
                <a:spcPct val="150000"/>
              </a:lnSpc>
              <a:buFont typeface="Arial" panose="020B0604020202020204" pitchFamily="34" charset="0"/>
              <a:buChar char="•"/>
            </a:pPr>
            <a:r>
              <a:rPr lang="en-GB" sz="1200" dirty="0"/>
              <a:t>La </a:t>
            </a:r>
            <a:r>
              <a:rPr lang="en-GB" sz="1200" dirty="0" err="1"/>
              <a:t>connaissance</a:t>
            </a:r>
            <a:r>
              <a:rPr lang="en-GB" sz="1200" dirty="0"/>
              <a:t> des microservices est un </a:t>
            </a:r>
            <a:r>
              <a:rPr lang="en-GB" sz="1200" dirty="0" err="1"/>
              <a:t>atout</a:t>
            </a:r>
            <a:r>
              <a:rPr lang="en-GB" sz="1200" dirty="0"/>
              <a:t>.</a:t>
            </a:r>
          </a:p>
          <a:p>
            <a:pPr marL="285750" indent="-285750">
              <a:lnSpc>
                <a:spcPct val="150000"/>
              </a:lnSpc>
              <a:buFont typeface="Arial" panose="020B0604020202020204" pitchFamily="34" charset="0"/>
              <a:buChar char="•"/>
            </a:pPr>
            <a:r>
              <a:rPr lang="en-GB" sz="1200" dirty="0" err="1"/>
              <a:t>Connaissance</a:t>
            </a:r>
            <a:r>
              <a:rPr lang="en-GB" sz="1200" dirty="0"/>
              <a:t> de Git et des </a:t>
            </a:r>
            <a:r>
              <a:rPr lang="en-GB" sz="1200" dirty="0" err="1"/>
              <a:t>outils</a:t>
            </a:r>
            <a:r>
              <a:rPr lang="en-GB" sz="1200" dirty="0"/>
              <a:t> de build (Maven, Gradle).</a:t>
            </a:r>
          </a:p>
          <a:p>
            <a:pPr marL="285750" indent="-285750">
              <a:lnSpc>
                <a:spcPct val="150000"/>
              </a:lnSpc>
              <a:buFont typeface="Arial" panose="020B0604020202020204" pitchFamily="34" charset="0"/>
              <a:buChar char="•"/>
            </a:pPr>
            <a:r>
              <a:rPr lang="en-GB" sz="1200" dirty="0" err="1"/>
              <a:t>Maîtrise</a:t>
            </a:r>
            <a:r>
              <a:rPr lang="en-GB" sz="1200" dirty="0"/>
              <a:t> des APIs REST.</a:t>
            </a:r>
          </a:p>
          <a:p>
            <a:pPr marL="285750" indent="-285750">
              <a:lnSpc>
                <a:spcPct val="150000"/>
              </a:lnSpc>
              <a:buFont typeface="Arial" panose="020B0604020202020204" pitchFamily="34" charset="0"/>
              <a:buChar char="•"/>
            </a:pPr>
            <a:r>
              <a:rPr lang="en-GB" sz="1200" dirty="0" err="1"/>
              <a:t>Connaissance</a:t>
            </a:r>
            <a:r>
              <a:rPr lang="en-GB" sz="1200" dirty="0"/>
              <a:t> </a:t>
            </a:r>
            <a:r>
              <a:rPr lang="en-GB" sz="1200" dirty="0" err="1"/>
              <a:t>d'Angular</a:t>
            </a:r>
            <a:r>
              <a:rPr lang="en-GB" sz="1200" dirty="0"/>
              <a:t> </a:t>
            </a:r>
            <a:r>
              <a:rPr lang="en-GB" sz="1200" dirty="0" err="1"/>
              <a:t>ou</a:t>
            </a:r>
            <a:r>
              <a:rPr lang="en-GB" sz="1200" dirty="0"/>
              <a:t> React.</a:t>
            </a:r>
          </a:p>
          <a:p>
            <a:pPr marL="285750" indent="-285750">
              <a:lnSpc>
                <a:spcPct val="150000"/>
              </a:lnSpc>
              <a:buFont typeface="Arial" panose="020B0604020202020204" pitchFamily="34" charset="0"/>
              <a:buChar char="•"/>
            </a:pPr>
            <a:r>
              <a:rPr lang="en-GB" sz="1200" dirty="0" err="1"/>
              <a:t>Connaissance</a:t>
            </a:r>
            <a:r>
              <a:rPr lang="en-GB" sz="1200" dirty="0"/>
              <a:t> de JPA / Hibernate.</a:t>
            </a:r>
          </a:p>
          <a:p>
            <a:pPr marL="285750" indent="-285750">
              <a:lnSpc>
                <a:spcPct val="150000"/>
              </a:lnSpc>
              <a:buFont typeface="Arial" panose="020B0604020202020204" pitchFamily="34" charset="0"/>
              <a:buChar char="•"/>
            </a:pPr>
            <a:endParaRPr lang="en-GB" sz="1200" dirty="0"/>
          </a:p>
          <a:p>
            <a:pPr marL="285750" indent="-285750">
              <a:lnSpc>
                <a:spcPct val="150000"/>
              </a:lnSpc>
              <a:buFont typeface="Arial" panose="020B0604020202020204" pitchFamily="34" charset="0"/>
              <a:buChar char="•"/>
            </a:pPr>
            <a:endParaRPr lang="en-GB" sz="1200" dirty="0"/>
          </a:p>
          <a:p>
            <a:pPr marL="285750" indent="-285750">
              <a:lnSpc>
                <a:spcPct val="150000"/>
              </a:lnSpc>
              <a:buFont typeface="Arial" panose="020B0604020202020204" pitchFamily="34" charset="0"/>
              <a:buChar char="•"/>
            </a:pPr>
            <a:endParaRPr lang="en-GB" sz="1200" dirty="0"/>
          </a:p>
          <a:p>
            <a:pPr>
              <a:lnSpc>
                <a:spcPct val="125000"/>
              </a:lnSpc>
              <a:buSzPct val="100000"/>
            </a:pPr>
            <a:endParaRPr lang="en-US" sz="1200" dirty="0"/>
          </a:p>
        </p:txBody>
      </p:sp>
      <p:pic>
        <p:nvPicPr>
          <p:cNvPr id="15" name="Picture 14">
            <a:extLst>
              <a:ext uri="{FF2B5EF4-FFF2-40B4-BE49-F238E27FC236}">
                <a16:creationId xmlns:a16="http://schemas.microsoft.com/office/drawing/2014/main" id="{41BB4228-CF29-BC65-452B-7EAA2F2FE026}"/>
              </a:ext>
            </a:extLst>
          </p:cNvPr>
          <p:cNvPicPr>
            <a:picLocks noChangeAspect="1"/>
          </p:cNvPicPr>
          <p:nvPr/>
        </p:nvPicPr>
        <p:blipFill>
          <a:blip r:embed="rId7"/>
          <a:stretch>
            <a:fillRect/>
          </a:stretch>
        </p:blipFill>
        <p:spPr>
          <a:xfrm>
            <a:off x="3553097" y="2450316"/>
            <a:ext cx="5055326" cy="2080033"/>
          </a:xfrm>
          <a:prstGeom prst="rect">
            <a:avLst/>
          </a:prstGeom>
          <a:ln w="6350" cap="sq">
            <a:solidFill>
              <a:srgbClr val="000000"/>
            </a:solidFill>
            <a:prstDash val="solid"/>
            <a:miter lim="800000"/>
          </a:ln>
          <a:effectLst>
            <a:outerShdw blurRad="50800" dist="38100" dir="2700000" algn="tl" rotWithShape="0">
              <a:srgbClr val="000000">
                <a:alpha val="43000"/>
              </a:srgbClr>
            </a:outerShdw>
          </a:effectLst>
        </p:spPr>
      </p:pic>
      <p:sp>
        <p:nvSpPr>
          <p:cNvPr id="11" name="TextBox 10">
            <a:extLst>
              <a:ext uri="{FF2B5EF4-FFF2-40B4-BE49-F238E27FC236}">
                <a16:creationId xmlns:a16="http://schemas.microsoft.com/office/drawing/2014/main" id="{02BBDE76-5C1E-0E8F-B6C2-E99299EF2FB3}"/>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Tree>
    <p:extLst>
      <p:ext uri="{BB962C8B-B14F-4D97-AF65-F5344CB8AC3E}">
        <p14:creationId xmlns:p14="http://schemas.microsoft.com/office/powerpoint/2010/main" val="19408714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9955383-DEED-AB75-AEC7-BC8EBD39BAEF}"/>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8395C8F4-0032-5869-9203-B5F1A02080BE}"/>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BD52D17F-209D-9EE7-A5B8-EB307D4F653D}"/>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64C00BCB-971E-D889-72C2-781BDA020E45}"/>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969D3986-7423-2822-3A74-5CA97C17CE64}"/>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C7C32B14-19DF-E751-C99D-D5561C604D78}"/>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F9F4EF26-91CA-1A39-233B-E8365DC0D184}"/>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0F26158E-3B2B-FD1D-33BA-77804E95583C}"/>
              </a:ext>
            </a:extLst>
          </p:cNvPr>
          <p:cNvSpPr/>
          <p:nvPr/>
        </p:nvSpPr>
        <p:spPr>
          <a:xfrm>
            <a:off x="1993392" y="91440"/>
            <a:ext cx="6400800" cy="411480"/>
          </a:xfrm>
          <a:prstGeom prst="rect">
            <a:avLst/>
          </a:prstGeom>
          <a:noFill/>
          <a:ln/>
        </p:spPr>
        <p:txBody>
          <a:bodyPr wrap="square" lIns="0" tIns="0" rIns="0" bIns="0" rtlCol="0" anchor="ctr"/>
          <a:lstStyle/>
          <a:p>
            <a:r>
              <a:rPr lang="fr-FR" b="1" dirty="0">
                <a:solidFill>
                  <a:srgbClr val="1E2A38"/>
                </a:solidFill>
                <a:latin typeface="Cambria" pitchFamily="34" charset="0"/>
                <a:ea typeface="Cambria" pitchFamily="34" charset="-122"/>
                <a:cs typeface="Cambria" pitchFamily="34" charset="-120"/>
              </a:rPr>
              <a:t>Qu'est-ce que Spring ?</a:t>
            </a:r>
            <a:endParaRPr lang="fr-FR" dirty="0"/>
          </a:p>
        </p:txBody>
      </p:sp>
      <p:sp>
        <p:nvSpPr>
          <p:cNvPr id="10" name="Shape 3">
            <a:extLst>
              <a:ext uri="{FF2B5EF4-FFF2-40B4-BE49-F238E27FC236}">
                <a16:creationId xmlns:a16="http://schemas.microsoft.com/office/drawing/2014/main" id="{1FBD3302-3FC7-3F46-ED13-1CFF759EBD6E}"/>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A776DDB1-22F7-4DD0-8CAD-8B55A60B9F73}"/>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334A623B-5D5D-5434-FD3E-ED1B6F8F1915}"/>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D112A055-5A9C-572D-4DFC-E49B52DA71F3}"/>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39</a:t>
            </a:r>
            <a:endParaRPr lang="en-US" sz="900" dirty="0"/>
          </a:p>
        </p:txBody>
      </p:sp>
      <p:pic>
        <p:nvPicPr>
          <p:cNvPr id="18" name="object 2">
            <a:extLst>
              <a:ext uri="{FF2B5EF4-FFF2-40B4-BE49-F238E27FC236}">
                <a16:creationId xmlns:a16="http://schemas.microsoft.com/office/drawing/2014/main" id="{F634A9A9-53E1-84BF-1A9D-723B1A2DEC51}"/>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DCC0ECD7-76A8-BA64-51C4-6A463D7E0802}"/>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7" name="Text 4">
            <a:extLst>
              <a:ext uri="{FF2B5EF4-FFF2-40B4-BE49-F238E27FC236}">
                <a16:creationId xmlns:a16="http://schemas.microsoft.com/office/drawing/2014/main" id="{F714400B-4489-50A7-B83B-33F5368CE3E1}"/>
              </a:ext>
            </a:extLst>
          </p:cNvPr>
          <p:cNvSpPr/>
          <p:nvPr/>
        </p:nvSpPr>
        <p:spPr>
          <a:xfrm>
            <a:off x="320040" y="836538"/>
            <a:ext cx="8046720" cy="3954918"/>
          </a:xfrm>
          <a:prstGeom prst="rect">
            <a:avLst/>
          </a:prstGeom>
          <a:noFill/>
          <a:ln/>
        </p:spPr>
        <p:txBody>
          <a:bodyPr wrap="square" rtlCol="0" anchor="t"/>
          <a:lstStyle/>
          <a:p>
            <a:pPr>
              <a:lnSpc>
                <a:spcPct val="150000"/>
              </a:lnSpc>
            </a:pPr>
            <a:r>
              <a:rPr lang="fr-FR" sz="1200" dirty="0">
                <a:solidFill>
                  <a:srgbClr val="1E2A38"/>
                </a:solidFill>
                <a:ea typeface="Calibri" pitchFamily="34" charset="-122"/>
                <a:cs typeface="Calibri" pitchFamily="34" charset="-120"/>
              </a:rPr>
              <a:t>Spring fournit une infrastructure complète pour développer des applications Java d'entreprise robustes, en s'appuyant sur des principes d'architecture éprouvés : couches, inversion de contrôle, programmation orientée aspect.</a:t>
            </a:r>
          </a:p>
          <a:p>
            <a:pPr marL="342900" indent="-342900">
              <a:lnSpc>
                <a:spcPct val="150000"/>
              </a:lnSpc>
              <a:spcAft>
                <a:spcPts val="800"/>
              </a:spcAft>
              <a:buSzPct val="100000"/>
              <a:buChar char="•"/>
            </a:pPr>
            <a:r>
              <a:rPr lang="fr-FR" sz="1200" dirty="0">
                <a:solidFill>
                  <a:srgbClr val="1E2A38"/>
                </a:solidFill>
                <a:ea typeface="Calibri" pitchFamily="34" charset="-122"/>
                <a:cs typeface="Calibri" pitchFamily="34" charset="-120"/>
              </a:rPr>
              <a:t>Créé en 2003 par Rod Johnson</a:t>
            </a:r>
          </a:p>
          <a:p>
            <a:pPr marL="342900" indent="-342900">
              <a:lnSpc>
                <a:spcPct val="150000"/>
              </a:lnSpc>
              <a:spcAft>
                <a:spcPts val="800"/>
              </a:spcAft>
              <a:buSzPct val="100000"/>
              <a:buChar char="•"/>
            </a:pPr>
            <a:r>
              <a:rPr lang="fr-FR" sz="1200" dirty="0">
                <a:solidFill>
                  <a:srgbClr val="1E2A38"/>
                </a:solidFill>
                <a:ea typeface="Calibri" pitchFamily="34" charset="-122"/>
                <a:cs typeface="Calibri" pitchFamily="34" charset="-120"/>
              </a:rPr>
              <a:t>Alternative légère à J2EE / EJB</a:t>
            </a:r>
          </a:p>
          <a:p>
            <a:pPr marL="342900" indent="-342900">
              <a:lnSpc>
                <a:spcPct val="150000"/>
              </a:lnSpc>
              <a:spcAft>
                <a:spcPts val="800"/>
              </a:spcAft>
              <a:buSzPct val="100000"/>
              <a:buChar char="•"/>
            </a:pPr>
            <a:r>
              <a:rPr lang="fr-FR" sz="1200" dirty="0">
                <a:solidFill>
                  <a:srgbClr val="1E2A38"/>
                </a:solidFill>
                <a:ea typeface="Calibri" pitchFamily="34" charset="-122"/>
                <a:cs typeface="Calibri" pitchFamily="34" charset="-120"/>
              </a:rPr>
              <a:t>Aujourd'hui standard de facto du Java d'entreprise</a:t>
            </a:r>
          </a:p>
          <a:p>
            <a:pPr marL="342900" indent="-342900">
              <a:lnSpc>
                <a:spcPct val="150000"/>
              </a:lnSpc>
              <a:spcAft>
                <a:spcPts val="800"/>
              </a:spcAft>
              <a:buSzPct val="100000"/>
              <a:buChar char="•"/>
            </a:pPr>
            <a:r>
              <a:rPr lang="fr-FR" sz="1200" dirty="0">
                <a:solidFill>
                  <a:srgbClr val="1E2A38"/>
                </a:solidFill>
                <a:ea typeface="Calibri" pitchFamily="34" charset="-122"/>
                <a:cs typeface="Calibri" pitchFamily="34" charset="-120"/>
              </a:rPr>
              <a:t>Écosystème très riche (Spring Boot, Cloud, Security…)</a:t>
            </a:r>
          </a:p>
          <a:p>
            <a:endParaRPr lang="fr-FR" sz="1200" dirty="0"/>
          </a:p>
        </p:txBody>
      </p:sp>
      <p:sp>
        <p:nvSpPr>
          <p:cNvPr id="11" name="TextBox 10">
            <a:extLst>
              <a:ext uri="{FF2B5EF4-FFF2-40B4-BE49-F238E27FC236}">
                <a16:creationId xmlns:a16="http://schemas.microsoft.com/office/drawing/2014/main" id="{4B52A2B2-D7DD-1B39-49CF-8BAA30E8E1C8}"/>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pic>
        <p:nvPicPr>
          <p:cNvPr id="19" name="Picture 18" descr="Fichier:Spring Framework Logo 2018.svg — Wikipédia">
            <a:extLst>
              <a:ext uri="{FF2B5EF4-FFF2-40B4-BE49-F238E27FC236}">
                <a16:creationId xmlns:a16="http://schemas.microsoft.com/office/drawing/2014/main" id="{CE9F9A29-E0A6-9AFC-63D6-6D0B45B55FE3}"/>
              </a:ext>
            </a:extLst>
          </p:cNvPr>
          <p:cNvPicPr>
            <a:picLocks noChangeAspect="1"/>
          </p:cNvPicPr>
          <p:nvPr/>
        </p:nvPicPr>
        <p:blipFill>
          <a:blip r:embed="rId7"/>
          <a:stretch>
            <a:fillRect/>
          </a:stretch>
        </p:blipFill>
        <p:spPr>
          <a:xfrm>
            <a:off x="6093823" y="1965729"/>
            <a:ext cx="1883414" cy="484587"/>
          </a:xfrm>
          <a:prstGeom prst="rect">
            <a:avLst/>
          </a:prstGeom>
        </p:spPr>
      </p:pic>
      <p:pic>
        <p:nvPicPr>
          <p:cNvPr id="21" name="Picture 20">
            <a:extLst>
              <a:ext uri="{FF2B5EF4-FFF2-40B4-BE49-F238E27FC236}">
                <a16:creationId xmlns:a16="http://schemas.microsoft.com/office/drawing/2014/main" id="{FEA787A4-73FC-B99E-6508-6014FE2430A4}"/>
              </a:ext>
            </a:extLst>
          </p:cNvPr>
          <p:cNvPicPr>
            <a:picLocks noChangeAspect="1"/>
          </p:cNvPicPr>
          <p:nvPr/>
        </p:nvPicPr>
        <p:blipFill>
          <a:blip r:embed="rId8"/>
          <a:stretch>
            <a:fillRect/>
          </a:stretch>
        </p:blipFill>
        <p:spPr>
          <a:xfrm>
            <a:off x="1920240" y="3171242"/>
            <a:ext cx="4710347" cy="1215779"/>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308838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B20FD91-3230-9D13-E91E-15472EB6DA8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78BE760-19EA-C656-9F1C-B8A9EB5166E8}"/>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7537C5A0-F955-EC8D-61AE-CEEB789EE873}"/>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FEB5CB94-401C-6D90-0D8C-FBEECEF1765B}"/>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1A3CCB03-4C0F-6D6C-F86A-1760303690EC}"/>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12A08595-0E2F-56F4-A24B-6885E5A8ED56}"/>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8E314B10-8D6C-4AC5-B3BE-C61483ABC873}"/>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E47F9193-CEC0-8151-9C3B-D81F776A65F2}"/>
              </a:ext>
            </a:extLst>
          </p:cNvPr>
          <p:cNvSpPr/>
          <p:nvPr/>
        </p:nvSpPr>
        <p:spPr>
          <a:xfrm>
            <a:off x="1993392" y="91440"/>
            <a:ext cx="6400800" cy="411480"/>
          </a:xfrm>
          <a:prstGeom prst="rect">
            <a:avLst/>
          </a:prstGeom>
          <a:noFill/>
          <a:ln/>
        </p:spPr>
        <p:txBody>
          <a:bodyPr wrap="square" lIns="0" tIns="0" rIns="0" bIns="0" rtlCol="0" anchor="ctr"/>
          <a:lstStyle/>
          <a:p>
            <a:r>
              <a:rPr lang="fr-FR" b="1" dirty="0">
                <a:solidFill>
                  <a:srgbClr val="1E2A38"/>
                </a:solidFill>
                <a:latin typeface="Cambria" pitchFamily="34" charset="0"/>
                <a:ea typeface="Cambria" pitchFamily="34" charset="-122"/>
                <a:cs typeface="Cambria" pitchFamily="34" charset="-120"/>
              </a:rPr>
              <a:t>Principaux modules de l'écosystème Spring</a:t>
            </a:r>
            <a:endParaRPr lang="fr-FR" dirty="0"/>
          </a:p>
        </p:txBody>
      </p:sp>
      <p:sp>
        <p:nvSpPr>
          <p:cNvPr id="10" name="Shape 3">
            <a:extLst>
              <a:ext uri="{FF2B5EF4-FFF2-40B4-BE49-F238E27FC236}">
                <a16:creationId xmlns:a16="http://schemas.microsoft.com/office/drawing/2014/main" id="{43D447F2-18F8-7D8D-681C-2F3000EA9108}"/>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18C6B594-06B1-DEBE-1C25-F12095E1597D}"/>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4412D62B-0E07-192E-0320-60ABDC0B50AF}"/>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63111415-B23F-1E47-C24E-65FAE4EDAF84}"/>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40</a:t>
            </a:r>
            <a:endParaRPr lang="en-US" sz="900" dirty="0"/>
          </a:p>
        </p:txBody>
      </p:sp>
      <p:pic>
        <p:nvPicPr>
          <p:cNvPr id="18" name="object 2">
            <a:extLst>
              <a:ext uri="{FF2B5EF4-FFF2-40B4-BE49-F238E27FC236}">
                <a16:creationId xmlns:a16="http://schemas.microsoft.com/office/drawing/2014/main" id="{182E19BD-C82C-492C-CEE5-19297AF109E4}"/>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86DC084C-1183-9E86-5D71-833D47AEDB4E}"/>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11" name="TextBox 10">
            <a:extLst>
              <a:ext uri="{FF2B5EF4-FFF2-40B4-BE49-F238E27FC236}">
                <a16:creationId xmlns:a16="http://schemas.microsoft.com/office/drawing/2014/main" id="{C9C609B1-6C7B-F22A-2DB2-994136FD42C7}"/>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
        <p:nvSpPr>
          <p:cNvPr id="15" name="TextBox 14">
            <a:extLst>
              <a:ext uri="{FF2B5EF4-FFF2-40B4-BE49-F238E27FC236}">
                <a16:creationId xmlns:a16="http://schemas.microsoft.com/office/drawing/2014/main" id="{32282B7A-682B-8BE3-C180-47A160C3809C}"/>
              </a:ext>
            </a:extLst>
          </p:cNvPr>
          <p:cNvSpPr txBox="1"/>
          <p:nvPr/>
        </p:nvSpPr>
        <p:spPr>
          <a:xfrm>
            <a:off x="2222319" y="4222609"/>
            <a:ext cx="4699362" cy="369332"/>
          </a:xfrm>
          <a:prstGeom prst="rect">
            <a:avLst/>
          </a:prstGeom>
          <a:noFill/>
        </p:spPr>
        <p:txBody>
          <a:bodyPr wrap="square">
            <a:spAutoFit/>
          </a:bodyPr>
          <a:lstStyle/>
          <a:p>
            <a:pPr algn="ctr"/>
            <a:r>
              <a:rPr lang="fr-FR" sz="1800" noProof="0" dirty="0">
                <a:hlinkClick r:id="rId7"/>
              </a:rPr>
              <a:t>https://spring.io/projects</a:t>
            </a:r>
            <a:endParaRPr lang="fr-FR" sz="1800" noProof="0" dirty="0"/>
          </a:p>
        </p:txBody>
      </p:sp>
      <p:pic>
        <p:nvPicPr>
          <p:cNvPr id="20" name="Picture 19">
            <a:extLst>
              <a:ext uri="{FF2B5EF4-FFF2-40B4-BE49-F238E27FC236}">
                <a16:creationId xmlns:a16="http://schemas.microsoft.com/office/drawing/2014/main" id="{CC33EB82-430A-8AEE-80BC-F128FFCEEF59}"/>
              </a:ext>
            </a:extLst>
          </p:cNvPr>
          <p:cNvPicPr>
            <a:picLocks noChangeAspect="1"/>
          </p:cNvPicPr>
          <p:nvPr/>
        </p:nvPicPr>
        <p:blipFill>
          <a:blip r:embed="rId8"/>
          <a:stretch>
            <a:fillRect/>
          </a:stretch>
        </p:blipFill>
        <p:spPr>
          <a:xfrm>
            <a:off x="1275302" y="822050"/>
            <a:ext cx="6593396" cy="3045862"/>
          </a:xfrm>
          <a:prstGeom prst="rect">
            <a:avLst/>
          </a:prstGeom>
        </p:spPr>
      </p:pic>
    </p:spTree>
    <p:extLst>
      <p:ext uri="{BB962C8B-B14F-4D97-AF65-F5344CB8AC3E}">
        <p14:creationId xmlns:p14="http://schemas.microsoft.com/office/powerpoint/2010/main" val="16502571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C1CE119-539F-080E-2811-B4E57C0D9B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F1D3BAAC-CD06-8E55-4A47-C4BB2D295780}"/>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535020DD-D737-85F3-2C36-0BE3A1C7DB54}"/>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2EA3A13F-83FB-582A-5749-2DAB76597856}"/>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E7E31CD0-399B-970B-6D1A-1C491C513FFA}"/>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2C4212D2-CFC1-3A07-CDAE-CFD43DC84521}"/>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586CF3D5-3A85-1290-C573-8358D06585D1}"/>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11DBDD68-7BF6-9DD8-6201-F6D8DAB8690D}"/>
              </a:ext>
            </a:extLst>
          </p:cNvPr>
          <p:cNvSpPr/>
          <p:nvPr/>
        </p:nvSpPr>
        <p:spPr>
          <a:xfrm>
            <a:off x="1993392" y="91440"/>
            <a:ext cx="6400800" cy="411480"/>
          </a:xfrm>
          <a:prstGeom prst="rect">
            <a:avLst/>
          </a:prstGeom>
          <a:noFill/>
          <a:ln/>
        </p:spPr>
        <p:txBody>
          <a:bodyPr wrap="square" lIns="0" tIns="0" rIns="0" bIns="0" rtlCol="0" anchor="ctr"/>
          <a:lstStyle/>
          <a:p>
            <a:r>
              <a:rPr lang="fr-FR" b="1" dirty="0">
                <a:solidFill>
                  <a:srgbClr val="1A1A1A"/>
                </a:solidFill>
                <a:latin typeface="Calibri" pitchFamily="34" charset="0"/>
                <a:ea typeface="Calibri" pitchFamily="34" charset="-122"/>
                <a:cs typeface="Calibri" pitchFamily="34" charset="-120"/>
              </a:rPr>
              <a:t>Critères de choix d'un </a:t>
            </a:r>
            <a:r>
              <a:rPr lang="fr-FR" b="1" dirty="0" err="1">
                <a:solidFill>
                  <a:srgbClr val="1A1A1A"/>
                </a:solidFill>
                <a:latin typeface="Calibri" pitchFamily="34" charset="0"/>
                <a:ea typeface="Calibri" pitchFamily="34" charset="-122"/>
                <a:cs typeface="Calibri" pitchFamily="34" charset="-120"/>
              </a:rPr>
              <a:t>framework</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1374BDA1-3AAB-000B-F409-AA735BAD83FD}"/>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26A0013B-70E3-9BA4-1852-BD555C4382C7}"/>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32C3B66F-B385-2A26-AF92-97E09BC7DE4D}"/>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EFF32942-0067-7811-3496-DC4D5978EFBB}"/>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41</a:t>
            </a:r>
            <a:endParaRPr lang="en-US" sz="900" dirty="0"/>
          </a:p>
        </p:txBody>
      </p:sp>
      <p:pic>
        <p:nvPicPr>
          <p:cNvPr id="18" name="object 2">
            <a:extLst>
              <a:ext uri="{FF2B5EF4-FFF2-40B4-BE49-F238E27FC236}">
                <a16:creationId xmlns:a16="http://schemas.microsoft.com/office/drawing/2014/main" id="{355C5B5C-9755-D4AC-A6B1-39C2C52E027E}"/>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57613A7A-30CC-9293-8C7B-FED3F507C0E9}"/>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7" name="Text 4">
            <a:extLst>
              <a:ext uri="{FF2B5EF4-FFF2-40B4-BE49-F238E27FC236}">
                <a16:creationId xmlns:a16="http://schemas.microsoft.com/office/drawing/2014/main" id="{A33D1836-701A-A26E-44C3-527E93F83675}"/>
              </a:ext>
            </a:extLst>
          </p:cNvPr>
          <p:cNvSpPr/>
          <p:nvPr/>
        </p:nvSpPr>
        <p:spPr>
          <a:xfrm>
            <a:off x="274320" y="792500"/>
            <a:ext cx="8046720" cy="807544"/>
          </a:xfrm>
          <a:prstGeom prst="rect">
            <a:avLst/>
          </a:prstGeom>
          <a:noFill/>
          <a:ln/>
        </p:spPr>
        <p:txBody>
          <a:bodyPr wrap="square" rtlCol="0" anchor="t"/>
          <a:lstStyle/>
          <a:p>
            <a:pPr marL="285750" indent="-285750" algn="just">
              <a:lnSpc>
                <a:spcPct val="150000"/>
              </a:lnSpc>
              <a:buFont typeface="Arial" panose="020B0604020202020204" pitchFamily="34" charset="0"/>
              <a:buChar char="•"/>
            </a:pPr>
            <a:r>
              <a:rPr lang="fr-FR" sz="1400" dirty="0"/>
              <a:t>Le choix d'un </a:t>
            </a:r>
            <a:r>
              <a:rPr lang="fr-FR" sz="1400" dirty="0" err="1"/>
              <a:t>framework</a:t>
            </a:r>
            <a:r>
              <a:rPr lang="fr-FR" sz="1400" dirty="0"/>
              <a:t> backend ne se fait pas au hasard. Plusieurs critères objectifs doivent guider cette décision :</a:t>
            </a:r>
            <a:endParaRPr lang="en-US" sz="1400" dirty="0"/>
          </a:p>
        </p:txBody>
      </p:sp>
      <p:sp>
        <p:nvSpPr>
          <p:cNvPr id="25" name="TextBox 24">
            <a:extLst>
              <a:ext uri="{FF2B5EF4-FFF2-40B4-BE49-F238E27FC236}">
                <a16:creationId xmlns:a16="http://schemas.microsoft.com/office/drawing/2014/main" id="{C042EC35-3AA3-C223-49FE-AB2E07AAAB9D}"/>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grpSp>
        <p:nvGrpSpPr>
          <p:cNvPr id="11" name="Group 10">
            <a:extLst>
              <a:ext uri="{FF2B5EF4-FFF2-40B4-BE49-F238E27FC236}">
                <a16:creationId xmlns:a16="http://schemas.microsoft.com/office/drawing/2014/main" id="{9F0C311F-5BE9-8252-5AAF-5C35C0165D77}"/>
              </a:ext>
            </a:extLst>
          </p:cNvPr>
          <p:cNvGrpSpPr/>
          <p:nvPr/>
        </p:nvGrpSpPr>
        <p:grpSpPr>
          <a:xfrm>
            <a:off x="1971447" y="1478964"/>
            <a:ext cx="5175610" cy="3076956"/>
            <a:chOff x="457200" y="502920"/>
            <a:chExt cx="11137392" cy="5266944"/>
          </a:xfrm>
        </p:grpSpPr>
        <p:sp>
          <p:nvSpPr>
            <p:cNvPr id="14" name="Shape 0">
              <a:extLst>
                <a:ext uri="{FF2B5EF4-FFF2-40B4-BE49-F238E27FC236}">
                  <a16:creationId xmlns:a16="http://schemas.microsoft.com/office/drawing/2014/main" id="{070FA9B4-3A1D-75F5-57D3-A1F3844214F9}"/>
                </a:ext>
              </a:extLst>
            </p:cNvPr>
            <p:cNvSpPr/>
            <p:nvPr/>
          </p:nvSpPr>
          <p:spPr>
            <a:xfrm>
              <a:off x="457200" y="502920"/>
              <a:ext cx="2743200" cy="658368"/>
            </a:xfrm>
            <a:prstGeom prst="roundRect">
              <a:avLst>
                <a:gd name="adj" fmla="val 8333"/>
              </a:avLst>
            </a:prstGeom>
            <a:solidFill>
              <a:srgbClr val="444441"/>
            </a:solidFill>
            <a:ln/>
          </p:spPr>
          <p:txBody>
            <a:bodyPr/>
            <a:lstStyle/>
            <a:p>
              <a:endParaRPr lang="fr-FR" sz="1100" dirty="0"/>
            </a:p>
          </p:txBody>
        </p:sp>
        <p:sp>
          <p:nvSpPr>
            <p:cNvPr id="15" name="Text 1">
              <a:extLst>
                <a:ext uri="{FF2B5EF4-FFF2-40B4-BE49-F238E27FC236}">
                  <a16:creationId xmlns:a16="http://schemas.microsoft.com/office/drawing/2014/main" id="{D3275FEF-8E98-0952-E067-D7F30969E477}"/>
                </a:ext>
              </a:extLst>
            </p:cNvPr>
            <p:cNvSpPr/>
            <p:nvPr/>
          </p:nvSpPr>
          <p:spPr>
            <a:xfrm>
              <a:off x="457200" y="502920"/>
              <a:ext cx="2743200" cy="65836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Critère</a:t>
              </a:r>
              <a:endParaRPr lang="en-US" sz="1050" dirty="0"/>
            </a:p>
          </p:txBody>
        </p:sp>
        <p:sp>
          <p:nvSpPr>
            <p:cNvPr id="16" name="Shape 2">
              <a:extLst>
                <a:ext uri="{FF2B5EF4-FFF2-40B4-BE49-F238E27FC236}">
                  <a16:creationId xmlns:a16="http://schemas.microsoft.com/office/drawing/2014/main" id="{8B8DB07B-32DE-85B6-DAC4-5D87CC5FBD03}"/>
                </a:ext>
              </a:extLst>
            </p:cNvPr>
            <p:cNvSpPr/>
            <p:nvPr/>
          </p:nvSpPr>
          <p:spPr>
            <a:xfrm>
              <a:off x="3310128" y="502920"/>
              <a:ext cx="2688336" cy="658368"/>
            </a:xfrm>
            <a:prstGeom prst="roundRect">
              <a:avLst>
                <a:gd name="adj" fmla="val 8333"/>
              </a:avLst>
            </a:prstGeom>
            <a:solidFill>
              <a:srgbClr val="085041"/>
            </a:solidFill>
            <a:ln/>
          </p:spPr>
          <p:txBody>
            <a:bodyPr/>
            <a:lstStyle/>
            <a:p>
              <a:endParaRPr lang="fr-FR" sz="1100"/>
            </a:p>
          </p:txBody>
        </p:sp>
        <p:sp>
          <p:nvSpPr>
            <p:cNvPr id="19" name="Text 3">
              <a:extLst>
                <a:ext uri="{FF2B5EF4-FFF2-40B4-BE49-F238E27FC236}">
                  <a16:creationId xmlns:a16="http://schemas.microsoft.com/office/drawing/2014/main" id="{E2986FE7-1D48-7227-92C3-6FAA07F2D59E}"/>
                </a:ext>
              </a:extLst>
            </p:cNvPr>
            <p:cNvSpPr/>
            <p:nvPr/>
          </p:nvSpPr>
          <p:spPr>
            <a:xfrm>
              <a:off x="3310128" y="502920"/>
              <a:ext cx="2688336" cy="65836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Spring</a:t>
              </a:r>
              <a:endParaRPr lang="en-US" sz="1050" dirty="0"/>
            </a:p>
          </p:txBody>
        </p:sp>
        <p:sp>
          <p:nvSpPr>
            <p:cNvPr id="20" name="Shape 4">
              <a:extLst>
                <a:ext uri="{FF2B5EF4-FFF2-40B4-BE49-F238E27FC236}">
                  <a16:creationId xmlns:a16="http://schemas.microsoft.com/office/drawing/2014/main" id="{A2788681-E83F-C19C-2575-00BFB8324C50}"/>
                </a:ext>
              </a:extLst>
            </p:cNvPr>
            <p:cNvSpPr/>
            <p:nvPr/>
          </p:nvSpPr>
          <p:spPr>
            <a:xfrm>
              <a:off x="6108192" y="502920"/>
              <a:ext cx="2688336" cy="658368"/>
            </a:xfrm>
            <a:prstGeom prst="roundRect">
              <a:avLst>
                <a:gd name="adj" fmla="val 8333"/>
              </a:avLst>
            </a:prstGeom>
            <a:solidFill>
              <a:srgbClr val="3C3489"/>
            </a:solidFill>
            <a:ln/>
          </p:spPr>
          <p:txBody>
            <a:bodyPr/>
            <a:lstStyle/>
            <a:p>
              <a:endParaRPr lang="fr-FR" sz="1100"/>
            </a:p>
          </p:txBody>
        </p:sp>
        <p:sp>
          <p:nvSpPr>
            <p:cNvPr id="21" name="Text 5">
              <a:extLst>
                <a:ext uri="{FF2B5EF4-FFF2-40B4-BE49-F238E27FC236}">
                  <a16:creationId xmlns:a16="http://schemas.microsoft.com/office/drawing/2014/main" id="{1A03BF5F-100F-D20F-ECEE-6134B132135C}"/>
                </a:ext>
              </a:extLst>
            </p:cNvPr>
            <p:cNvSpPr/>
            <p:nvPr/>
          </p:nvSpPr>
          <p:spPr>
            <a:xfrm>
              <a:off x="6108192" y="502920"/>
              <a:ext cx="2688336" cy="65836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Jakarta EE</a:t>
              </a:r>
              <a:endParaRPr lang="en-US" sz="1050" dirty="0"/>
            </a:p>
          </p:txBody>
        </p:sp>
        <p:sp>
          <p:nvSpPr>
            <p:cNvPr id="22" name="Shape 6">
              <a:extLst>
                <a:ext uri="{FF2B5EF4-FFF2-40B4-BE49-F238E27FC236}">
                  <a16:creationId xmlns:a16="http://schemas.microsoft.com/office/drawing/2014/main" id="{3885B3CC-095B-3A8F-5A3F-FC825B5041D3}"/>
                </a:ext>
              </a:extLst>
            </p:cNvPr>
            <p:cNvSpPr/>
            <p:nvPr/>
          </p:nvSpPr>
          <p:spPr>
            <a:xfrm>
              <a:off x="8906256" y="502920"/>
              <a:ext cx="2688336" cy="658368"/>
            </a:xfrm>
            <a:prstGeom prst="roundRect">
              <a:avLst>
                <a:gd name="adj" fmla="val 8333"/>
              </a:avLst>
            </a:prstGeom>
            <a:solidFill>
              <a:srgbClr val="633806"/>
            </a:solidFill>
            <a:ln/>
          </p:spPr>
          <p:txBody>
            <a:bodyPr/>
            <a:lstStyle/>
            <a:p>
              <a:endParaRPr lang="fr-FR" sz="1100"/>
            </a:p>
          </p:txBody>
        </p:sp>
        <p:sp>
          <p:nvSpPr>
            <p:cNvPr id="23" name="Text 7">
              <a:extLst>
                <a:ext uri="{FF2B5EF4-FFF2-40B4-BE49-F238E27FC236}">
                  <a16:creationId xmlns:a16="http://schemas.microsoft.com/office/drawing/2014/main" id="{BD80E411-F0C1-5575-73D9-5F0DF286D999}"/>
                </a:ext>
              </a:extLst>
            </p:cNvPr>
            <p:cNvSpPr/>
            <p:nvPr/>
          </p:nvSpPr>
          <p:spPr>
            <a:xfrm>
              <a:off x="8906256" y="502920"/>
              <a:ext cx="2688336" cy="65836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Quarkus</a:t>
              </a:r>
              <a:endParaRPr lang="en-US" sz="1050" dirty="0"/>
            </a:p>
          </p:txBody>
        </p:sp>
        <p:sp>
          <p:nvSpPr>
            <p:cNvPr id="26" name="Shape 8">
              <a:extLst>
                <a:ext uri="{FF2B5EF4-FFF2-40B4-BE49-F238E27FC236}">
                  <a16:creationId xmlns:a16="http://schemas.microsoft.com/office/drawing/2014/main" id="{A2E976B8-19B5-AB50-99D1-A36CAEE1F398}"/>
                </a:ext>
              </a:extLst>
            </p:cNvPr>
            <p:cNvSpPr/>
            <p:nvPr/>
          </p:nvSpPr>
          <p:spPr>
            <a:xfrm>
              <a:off x="457200" y="1271016"/>
              <a:ext cx="2743200" cy="658368"/>
            </a:xfrm>
            <a:prstGeom prst="roundRect">
              <a:avLst>
                <a:gd name="adj" fmla="val 8333"/>
              </a:avLst>
            </a:prstGeom>
            <a:solidFill>
              <a:srgbClr val="F1EFE8"/>
            </a:solidFill>
            <a:ln/>
          </p:spPr>
          <p:txBody>
            <a:bodyPr/>
            <a:lstStyle/>
            <a:p>
              <a:pPr algn="ctr"/>
              <a:endParaRPr lang="fr-FR" sz="1100"/>
            </a:p>
          </p:txBody>
        </p:sp>
        <p:sp>
          <p:nvSpPr>
            <p:cNvPr id="27" name="Text 9">
              <a:extLst>
                <a:ext uri="{FF2B5EF4-FFF2-40B4-BE49-F238E27FC236}">
                  <a16:creationId xmlns:a16="http://schemas.microsoft.com/office/drawing/2014/main" id="{5F7DCF5E-66DB-291E-CEC4-1716D0312905}"/>
                </a:ext>
              </a:extLst>
            </p:cNvPr>
            <p:cNvSpPr/>
            <p:nvPr/>
          </p:nvSpPr>
          <p:spPr>
            <a:xfrm>
              <a:off x="640080" y="1271016"/>
              <a:ext cx="2468880" cy="658368"/>
            </a:xfrm>
            <a:prstGeom prst="rect">
              <a:avLst/>
            </a:prstGeom>
            <a:noFill/>
            <a:ln/>
          </p:spPr>
          <p:txBody>
            <a:bodyPr wrap="square" lIns="0" tIns="0" rIns="0" bIns="0" rtlCol="0" anchor="ctr"/>
            <a:lstStyle/>
            <a:p>
              <a:pPr marL="0" indent="0" algn="ctr">
                <a:buNone/>
              </a:pPr>
              <a:r>
                <a:rPr lang="en-US" sz="1000" dirty="0">
                  <a:solidFill>
                    <a:srgbClr val="2C2C2A"/>
                  </a:solidFill>
                  <a:latin typeface="Calibri" pitchFamily="34" charset="0"/>
                  <a:ea typeface="Calibri" pitchFamily="34" charset="-122"/>
                  <a:cs typeface="Calibri" pitchFamily="34" charset="-120"/>
                </a:rPr>
                <a:t>Maturité</a:t>
              </a:r>
              <a:endParaRPr lang="en-US" sz="1000" dirty="0"/>
            </a:p>
          </p:txBody>
        </p:sp>
        <p:sp>
          <p:nvSpPr>
            <p:cNvPr id="28" name="Shape 10">
              <a:extLst>
                <a:ext uri="{FF2B5EF4-FFF2-40B4-BE49-F238E27FC236}">
                  <a16:creationId xmlns:a16="http://schemas.microsoft.com/office/drawing/2014/main" id="{21514444-9B4E-7366-2086-BB01B58C5638}"/>
                </a:ext>
              </a:extLst>
            </p:cNvPr>
            <p:cNvSpPr/>
            <p:nvPr/>
          </p:nvSpPr>
          <p:spPr>
            <a:xfrm>
              <a:off x="3310128" y="1271016"/>
              <a:ext cx="2688336" cy="658368"/>
            </a:xfrm>
            <a:prstGeom prst="roundRect">
              <a:avLst>
                <a:gd name="adj" fmla="val 8333"/>
              </a:avLst>
            </a:prstGeom>
            <a:solidFill>
              <a:srgbClr val="E1F5EE"/>
            </a:solidFill>
            <a:ln/>
          </p:spPr>
          <p:txBody>
            <a:bodyPr/>
            <a:lstStyle/>
            <a:p>
              <a:endParaRPr lang="fr-FR" sz="1100"/>
            </a:p>
          </p:txBody>
        </p:sp>
        <p:sp>
          <p:nvSpPr>
            <p:cNvPr id="29" name="Shape 11">
              <a:extLst>
                <a:ext uri="{FF2B5EF4-FFF2-40B4-BE49-F238E27FC236}">
                  <a16:creationId xmlns:a16="http://schemas.microsoft.com/office/drawing/2014/main" id="{20BFB589-4B8B-947F-28BD-DBC2803AB776}"/>
                </a:ext>
              </a:extLst>
            </p:cNvPr>
            <p:cNvSpPr/>
            <p:nvPr/>
          </p:nvSpPr>
          <p:spPr>
            <a:xfrm>
              <a:off x="3584448" y="1417320"/>
              <a:ext cx="2139696" cy="365760"/>
            </a:xfrm>
            <a:prstGeom prst="roundRect">
              <a:avLst>
                <a:gd name="adj" fmla="val 50000"/>
              </a:avLst>
            </a:prstGeom>
            <a:solidFill>
              <a:srgbClr val="0F6E56"/>
            </a:solidFill>
            <a:ln/>
          </p:spPr>
          <p:txBody>
            <a:bodyPr/>
            <a:lstStyle/>
            <a:p>
              <a:endParaRPr lang="fr-FR" sz="1100"/>
            </a:p>
          </p:txBody>
        </p:sp>
        <p:sp>
          <p:nvSpPr>
            <p:cNvPr id="30" name="Text 12">
              <a:extLst>
                <a:ext uri="{FF2B5EF4-FFF2-40B4-BE49-F238E27FC236}">
                  <a16:creationId xmlns:a16="http://schemas.microsoft.com/office/drawing/2014/main" id="{976A0FCF-DB62-D59C-B49C-6CF71D2CBD51}"/>
                </a:ext>
              </a:extLst>
            </p:cNvPr>
            <p:cNvSpPr/>
            <p:nvPr/>
          </p:nvSpPr>
          <p:spPr>
            <a:xfrm>
              <a:off x="3584448" y="1417320"/>
              <a:ext cx="2139696"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Très mature</a:t>
              </a:r>
              <a:endParaRPr lang="en-US" sz="1000" dirty="0"/>
            </a:p>
          </p:txBody>
        </p:sp>
        <p:sp>
          <p:nvSpPr>
            <p:cNvPr id="31" name="Shape 13">
              <a:extLst>
                <a:ext uri="{FF2B5EF4-FFF2-40B4-BE49-F238E27FC236}">
                  <a16:creationId xmlns:a16="http://schemas.microsoft.com/office/drawing/2014/main" id="{C4FFD460-8501-3326-D82E-CD8D4FD758BA}"/>
                </a:ext>
              </a:extLst>
            </p:cNvPr>
            <p:cNvSpPr/>
            <p:nvPr/>
          </p:nvSpPr>
          <p:spPr>
            <a:xfrm>
              <a:off x="6108192" y="1271016"/>
              <a:ext cx="2688336" cy="658368"/>
            </a:xfrm>
            <a:prstGeom prst="roundRect">
              <a:avLst>
                <a:gd name="adj" fmla="val 8333"/>
              </a:avLst>
            </a:prstGeom>
            <a:solidFill>
              <a:srgbClr val="E1F5EE"/>
            </a:solidFill>
            <a:ln/>
          </p:spPr>
          <p:txBody>
            <a:bodyPr/>
            <a:lstStyle/>
            <a:p>
              <a:endParaRPr lang="fr-FR" sz="1100"/>
            </a:p>
          </p:txBody>
        </p:sp>
        <p:sp>
          <p:nvSpPr>
            <p:cNvPr id="32" name="Shape 14">
              <a:extLst>
                <a:ext uri="{FF2B5EF4-FFF2-40B4-BE49-F238E27FC236}">
                  <a16:creationId xmlns:a16="http://schemas.microsoft.com/office/drawing/2014/main" id="{C2788247-B8E3-E732-49E6-79ADCDA4FD76}"/>
                </a:ext>
              </a:extLst>
            </p:cNvPr>
            <p:cNvSpPr/>
            <p:nvPr/>
          </p:nvSpPr>
          <p:spPr>
            <a:xfrm>
              <a:off x="6382512" y="1417320"/>
              <a:ext cx="2139696" cy="365760"/>
            </a:xfrm>
            <a:prstGeom prst="roundRect">
              <a:avLst>
                <a:gd name="adj" fmla="val 50000"/>
              </a:avLst>
            </a:prstGeom>
            <a:solidFill>
              <a:srgbClr val="0F6E56"/>
            </a:solidFill>
            <a:ln/>
          </p:spPr>
          <p:txBody>
            <a:bodyPr/>
            <a:lstStyle/>
            <a:p>
              <a:endParaRPr lang="fr-FR" sz="1100"/>
            </a:p>
          </p:txBody>
        </p:sp>
        <p:sp>
          <p:nvSpPr>
            <p:cNvPr id="33" name="Text 15">
              <a:extLst>
                <a:ext uri="{FF2B5EF4-FFF2-40B4-BE49-F238E27FC236}">
                  <a16:creationId xmlns:a16="http://schemas.microsoft.com/office/drawing/2014/main" id="{CB73D976-626B-2122-BA0D-2CE228363CB8}"/>
                </a:ext>
              </a:extLst>
            </p:cNvPr>
            <p:cNvSpPr/>
            <p:nvPr/>
          </p:nvSpPr>
          <p:spPr>
            <a:xfrm>
              <a:off x="6382512" y="1417320"/>
              <a:ext cx="2139696"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Mature</a:t>
              </a:r>
              <a:endParaRPr lang="en-US" sz="1000" dirty="0"/>
            </a:p>
          </p:txBody>
        </p:sp>
        <p:sp>
          <p:nvSpPr>
            <p:cNvPr id="34" name="Shape 16">
              <a:extLst>
                <a:ext uri="{FF2B5EF4-FFF2-40B4-BE49-F238E27FC236}">
                  <a16:creationId xmlns:a16="http://schemas.microsoft.com/office/drawing/2014/main" id="{4B20C77A-1C17-789F-3D2C-D24319F037CF}"/>
                </a:ext>
              </a:extLst>
            </p:cNvPr>
            <p:cNvSpPr/>
            <p:nvPr/>
          </p:nvSpPr>
          <p:spPr>
            <a:xfrm>
              <a:off x="8906256" y="1271016"/>
              <a:ext cx="2688336" cy="658368"/>
            </a:xfrm>
            <a:prstGeom prst="roundRect">
              <a:avLst>
                <a:gd name="adj" fmla="val 8333"/>
              </a:avLst>
            </a:prstGeom>
            <a:solidFill>
              <a:srgbClr val="FAEEDA"/>
            </a:solidFill>
            <a:ln/>
          </p:spPr>
          <p:txBody>
            <a:bodyPr/>
            <a:lstStyle/>
            <a:p>
              <a:endParaRPr lang="fr-FR" sz="1100"/>
            </a:p>
          </p:txBody>
        </p:sp>
        <p:sp>
          <p:nvSpPr>
            <p:cNvPr id="35" name="Shape 17">
              <a:extLst>
                <a:ext uri="{FF2B5EF4-FFF2-40B4-BE49-F238E27FC236}">
                  <a16:creationId xmlns:a16="http://schemas.microsoft.com/office/drawing/2014/main" id="{1C184B4B-4AE7-9666-544D-5E2874579FC0}"/>
                </a:ext>
              </a:extLst>
            </p:cNvPr>
            <p:cNvSpPr/>
            <p:nvPr/>
          </p:nvSpPr>
          <p:spPr>
            <a:xfrm>
              <a:off x="9180576" y="1417320"/>
              <a:ext cx="2139696" cy="365760"/>
            </a:xfrm>
            <a:prstGeom prst="roundRect">
              <a:avLst>
                <a:gd name="adj" fmla="val 50000"/>
              </a:avLst>
            </a:prstGeom>
            <a:solidFill>
              <a:srgbClr val="BA7517"/>
            </a:solidFill>
            <a:ln/>
          </p:spPr>
          <p:txBody>
            <a:bodyPr/>
            <a:lstStyle/>
            <a:p>
              <a:endParaRPr lang="fr-FR" sz="1100"/>
            </a:p>
          </p:txBody>
        </p:sp>
        <p:sp>
          <p:nvSpPr>
            <p:cNvPr id="36" name="Text 18">
              <a:extLst>
                <a:ext uri="{FF2B5EF4-FFF2-40B4-BE49-F238E27FC236}">
                  <a16:creationId xmlns:a16="http://schemas.microsoft.com/office/drawing/2014/main" id="{455A06DE-AFDE-3B20-6AE1-55EEAB47A9D9}"/>
                </a:ext>
              </a:extLst>
            </p:cNvPr>
            <p:cNvSpPr/>
            <p:nvPr/>
          </p:nvSpPr>
          <p:spPr>
            <a:xfrm>
              <a:off x="9180576" y="1417320"/>
              <a:ext cx="2139696"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Récent</a:t>
              </a:r>
              <a:endParaRPr lang="en-US" sz="1000" dirty="0"/>
            </a:p>
          </p:txBody>
        </p:sp>
        <p:sp>
          <p:nvSpPr>
            <p:cNvPr id="37" name="Shape 19">
              <a:extLst>
                <a:ext uri="{FF2B5EF4-FFF2-40B4-BE49-F238E27FC236}">
                  <a16:creationId xmlns:a16="http://schemas.microsoft.com/office/drawing/2014/main" id="{B5557C67-9B1F-0C00-BAA4-A58F3F87BC96}"/>
                </a:ext>
              </a:extLst>
            </p:cNvPr>
            <p:cNvSpPr/>
            <p:nvPr/>
          </p:nvSpPr>
          <p:spPr>
            <a:xfrm>
              <a:off x="457200" y="2039112"/>
              <a:ext cx="2743200" cy="658368"/>
            </a:xfrm>
            <a:prstGeom prst="roundRect">
              <a:avLst>
                <a:gd name="adj" fmla="val 8333"/>
              </a:avLst>
            </a:prstGeom>
            <a:solidFill>
              <a:srgbClr val="F1EFE8"/>
            </a:solidFill>
            <a:ln/>
          </p:spPr>
          <p:txBody>
            <a:bodyPr/>
            <a:lstStyle/>
            <a:p>
              <a:endParaRPr lang="fr-FR" sz="1100"/>
            </a:p>
          </p:txBody>
        </p:sp>
        <p:sp>
          <p:nvSpPr>
            <p:cNvPr id="38" name="Text 20">
              <a:extLst>
                <a:ext uri="{FF2B5EF4-FFF2-40B4-BE49-F238E27FC236}">
                  <a16:creationId xmlns:a16="http://schemas.microsoft.com/office/drawing/2014/main" id="{A5F94092-5FAB-3D69-ABA8-7E4764A6BD8C}"/>
                </a:ext>
              </a:extLst>
            </p:cNvPr>
            <p:cNvSpPr/>
            <p:nvPr/>
          </p:nvSpPr>
          <p:spPr>
            <a:xfrm>
              <a:off x="640080" y="2039112"/>
              <a:ext cx="2468880" cy="658368"/>
            </a:xfrm>
            <a:prstGeom prst="rect">
              <a:avLst/>
            </a:prstGeom>
            <a:noFill/>
            <a:ln/>
          </p:spPr>
          <p:txBody>
            <a:bodyPr wrap="square" lIns="0" tIns="0" rIns="0" bIns="0" rtlCol="0" anchor="ctr"/>
            <a:lstStyle/>
            <a:p>
              <a:pPr marL="0" indent="0" algn="ctr">
                <a:buNone/>
              </a:pPr>
              <a:r>
                <a:rPr lang="en-US" sz="1000" dirty="0">
                  <a:solidFill>
                    <a:srgbClr val="2C2C2A"/>
                  </a:solidFill>
                  <a:latin typeface="Calibri" pitchFamily="34" charset="0"/>
                  <a:ea typeface="Calibri" pitchFamily="34" charset="-122"/>
                  <a:cs typeface="Calibri" pitchFamily="34" charset="-120"/>
                </a:rPr>
                <a:t>Communauté</a:t>
              </a:r>
              <a:endParaRPr lang="en-US" sz="1000" dirty="0"/>
            </a:p>
          </p:txBody>
        </p:sp>
        <p:sp>
          <p:nvSpPr>
            <p:cNvPr id="39" name="Shape 21">
              <a:extLst>
                <a:ext uri="{FF2B5EF4-FFF2-40B4-BE49-F238E27FC236}">
                  <a16:creationId xmlns:a16="http://schemas.microsoft.com/office/drawing/2014/main" id="{10CC3596-EADD-E919-1C0A-3F5D94C3F56D}"/>
                </a:ext>
              </a:extLst>
            </p:cNvPr>
            <p:cNvSpPr/>
            <p:nvPr/>
          </p:nvSpPr>
          <p:spPr>
            <a:xfrm>
              <a:off x="3310128" y="2039112"/>
              <a:ext cx="2688336" cy="658368"/>
            </a:xfrm>
            <a:prstGeom prst="roundRect">
              <a:avLst>
                <a:gd name="adj" fmla="val 8333"/>
              </a:avLst>
            </a:prstGeom>
            <a:solidFill>
              <a:srgbClr val="E1F5EE"/>
            </a:solidFill>
            <a:ln/>
          </p:spPr>
          <p:txBody>
            <a:bodyPr/>
            <a:lstStyle/>
            <a:p>
              <a:endParaRPr lang="fr-FR" sz="1100"/>
            </a:p>
          </p:txBody>
        </p:sp>
        <p:sp>
          <p:nvSpPr>
            <p:cNvPr id="40" name="Shape 22">
              <a:extLst>
                <a:ext uri="{FF2B5EF4-FFF2-40B4-BE49-F238E27FC236}">
                  <a16:creationId xmlns:a16="http://schemas.microsoft.com/office/drawing/2014/main" id="{30CEA203-EBCF-3821-60A7-9BE8E530767D}"/>
                </a:ext>
              </a:extLst>
            </p:cNvPr>
            <p:cNvSpPr/>
            <p:nvPr/>
          </p:nvSpPr>
          <p:spPr>
            <a:xfrm>
              <a:off x="3584448" y="2185416"/>
              <a:ext cx="2139696" cy="365760"/>
            </a:xfrm>
            <a:prstGeom prst="roundRect">
              <a:avLst>
                <a:gd name="adj" fmla="val 50000"/>
              </a:avLst>
            </a:prstGeom>
            <a:solidFill>
              <a:srgbClr val="0F6E56"/>
            </a:solidFill>
            <a:ln/>
          </p:spPr>
          <p:txBody>
            <a:bodyPr/>
            <a:lstStyle/>
            <a:p>
              <a:endParaRPr lang="fr-FR" sz="1100"/>
            </a:p>
          </p:txBody>
        </p:sp>
        <p:sp>
          <p:nvSpPr>
            <p:cNvPr id="41" name="Text 23">
              <a:extLst>
                <a:ext uri="{FF2B5EF4-FFF2-40B4-BE49-F238E27FC236}">
                  <a16:creationId xmlns:a16="http://schemas.microsoft.com/office/drawing/2014/main" id="{716E647F-27AF-F430-F345-4ED007507038}"/>
                </a:ext>
              </a:extLst>
            </p:cNvPr>
            <p:cNvSpPr/>
            <p:nvPr/>
          </p:nvSpPr>
          <p:spPr>
            <a:xfrm>
              <a:off x="3584448" y="2185416"/>
              <a:ext cx="2139696"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Très large</a:t>
              </a:r>
              <a:endParaRPr lang="en-US" sz="1000" dirty="0"/>
            </a:p>
          </p:txBody>
        </p:sp>
        <p:sp>
          <p:nvSpPr>
            <p:cNvPr id="42" name="Shape 24">
              <a:extLst>
                <a:ext uri="{FF2B5EF4-FFF2-40B4-BE49-F238E27FC236}">
                  <a16:creationId xmlns:a16="http://schemas.microsoft.com/office/drawing/2014/main" id="{D35E8C06-884E-42CD-10D5-6145AC4AEEF5}"/>
                </a:ext>
              </a:extLst>
            </p:cNvPr>
            <p:cNvSpPr/>
            <p:nvPr/>
          </p:nvSpPr>
          <p:spPr>
            <a:xfrm>
              <a:off x="6108192" y="2039112"/>
              <a:ext cx="2688336" cy="658368"/>
            </a:xfrm>
            <a:prstGeom prst="roundRect">
              <a:avLst>
                <a:gd name="adj" fmla="val 8333"/>
              </a:avLst>
            </a:prstGeom>
            <a:solidFill>
              <a:srgbClr val="E1F5EE"/>
            </a:solidFill>
            <a:ln/>
          </p:spPr>
          <p:txBody>
            <a:bodyPr/>
            <a:lstStyle/>
            <a:p>
              <a:endParaRPr lang="fr-FR" sz="1100"/>
            </a:p>
          </p:txBody>
        </p:sp>
        <p:sp>
          <p:nvSpPr>
            <p:cNvPr id="43" name="Shape 25">
              <a:extLst>
                <a:ext uri="{FF2B5EF4-FFF2-40B4-BE49-F238E27FC236}">
                  <a16:creationId xmlns:a16="http://schemas.microsoft.com/office/drawing/2014/main" id="{55904C7E-7C9C-6F27-406A-ECAB3395C964}"/>
                </a:ext>
              </a:extLst>
            </p:cNvPr>
            <p:cNvSpPr/>
            <p:nvPr/>
          </p:nvSpPr>
          <p:spPr>
            <a:xfrm>
              <a:off x="6382512" y="2185416"/>
              <a:ext cx="2139696" cy="365760"/>
            </a:xfrm>
            <a:prstGeom prst="roundRect">
              <a:avLst>
                <a:gd name="adj" fmla="val 50000"/>
              </a:avLst>
            </a:prstGeom>
            <a:solidFill>
              <a:srgbClr val="0F6E56"/>
            </a:solidFill>
            <a:ln/>
          </p:spPr>
          <p:txBody>
            <a:bodyPr/>
            <a:lstStyle/>
            <a:p>
              <a:endParaRPr lang="fr-FR" sz="1100"/>
            </a:p>
          </p:txBody>
        </p:sp>
        <p:sp>
          <p:nvSpPr>
            <p:cNvPr id="44" name="Text 26">
              <a:extLst>
                <a:ext uri="{FF2B5EF4-FFF2-40B4-BE49-F238E27FC236}">
                  <a16:creationId xmlns:a16="http://schemas.microsoft.com/office/drawing/2014/main" id="{AE3E461C-0FB3-E61C-C3EC-F1897930C48F}"/>
                </a:ext>
              </a:extLst>
            </p:cNvPr>
            <p:cNvSpPr/>
            <p:nvPr/>
          </p:nvSpPr>
          <p:spPr>
            <a:xfrm>
              <a:off x="6382512" y="2185416"/>
              <a:ext cx="2139696"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Large</a:t>
              </a:r>
              <a:endParaRPr lang="en-US" sz="1000" dirty="0"/>
            </a:p>
          </p:txBody>
        </p:sp>
        <p:sp>
          <p:nvSpPr>
            <p:cNvPr id="45" name="Shape 27">
              <a:extLst>
                <a:ext uri="{FF2B5EF4-FFF2-40B4-BE49-F238E27FC236}">
                  <a16:creationId xmlns:a16="http://schemas.microsoft.com/office/drawing/2014/main" id="{41ABEE6F-13E9-B213-C8BB-8F64FCE4F873}"/>
                </a:ext>
              </a:extLst>
            </p:cNvPr>
            <p:cNvSpPr/>
            <p:nvPr/>
          </p:nvSpPr>
          <p:spPr>
            <a:xfrm>
              <a:off x="8906256" y="2039112"/>
              <a:ext cx="2688336" cy="658368"/>
            </a:xfrm>
            <a:prstGeom prst="roundRect">
              <a:avLst>
                <a:gd name="adj" fmla="val 8333"/>
              </a:avLst>
            </a:prstGeom>
            <a:solidFill>
              <a:srgbClr val="FAEEDA"/>
            </a:solidFill>
            <a:ln/>
          </p:spPr>
          <p:txBody>
            <a:bodyPr/>
            <a:lstStyle/>
            <a:p>
              <a:endParaRPr lang="fr-FR" sz="1100"/>
            </a:p>
          </p:txBody>
        </p:sp>
        <p:sp>
          <p:nvSpPr>
            <p:cNvPr id="46" name="Shape 28">
              <a:extLst>
                <a:ext uri="{FF2B5EF4-FFF2-40B4-BE49-F238E27FC236}">
                  <a16:creationId xmlns:a16="http://schemas.microsoft.com/office/drawing/2014/main" id="{85462A57-0DD3-D31D-C707-EDA089C6B850}"/>
                </a:ext>
              </a:extLst>
            </p:cNvPr>
            <p:cNvSpPr/>
            <p:nvPr/>
          </p:nvSpPr>
          <p:spPr>
            <a:xfrm>
              <a:off x="9180576" y="2185416"/>
              <a:ext cx="2139696" cy="365760"/>
            </a:xfrm>
            <a:prstGeom prst="roundRect">
              <a:avLst>
                <a:gd name="adj" fmla="val 50000"/>
              </a:avLst>
            </a:prstGeom>
            <a:solidFill>
              <a:srgbClr val="BA7517"/>
            </a:solidFill>
            <a:ln/>
          </p:spPr>
          <p:txBody>
            <a:bodyPr/>
            <a:lstStyle/>
            <a:p>
              <a:endParaRPr lang="fr-FR" sz="1100"/>
            </a:p>
          </p:txBody>
        </p:sp>
        <p:sp>
          <p:nvSpPr>
            <p:cNvPr id="47" name="Text 29">
              <a:extLst>
                <a:ext uri="{FF2B5EF4-FFF2-40B4-BE49-F238E27FC236}">
                  <a16:creationId xmlns:a16="http://schemas.microsoft.com/office/drawing/2014/main" id="{5010594A-D298-0030-46D0-7AF45B38AFA1}"/>
                </a:ext>
              </a:extLst>
            </p:cNvPr>
            <p:cNvSpPr/>
            <p:nvPr/>
          </p:nvSpPr>
          <p:spPr>
            <a:xfrm>
              <a:off x="9180576" y="2185416"/>
              <a:ext cx="2139696"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En croissance</a:t>
              </a:r>
              <a:endParaRPr lang="en-US" sz="1000" dirty="0"/>
            </a:p>
          </p:txBody>
        </p:sp>
        <p:sp>
          <p:nvSpPr>
            <p:cNvPr id="48" name="Shape 30">
              <a:extLst>
                <a:ext uri="{FF2B5EF4-FFF2-40B4-BE49-F238E27FC236}">
                  <a16:creationId xmlns:a16="http://schemas.microsoft.com/office/drawing/2014/main" id="{791C3754-3878-724A-B6CB-5296357844E1}"/>
                </a:ext>
              </a:extLst>
            </p:cNvPr>
            <p:cNvSpPr/>
            <p:nvPr/>
          </p:nvSpPr>
          <p:spPr>
            <a:xfrm>
              <a:off x="457200" y="2807208"/>
              <a:ext cx="2743200" cy="658368"/>
            </a:xfrm>
            <a:prstGeom prst="roundRect">
              <a:avLst>
                <a:gd name="adj" fmla="val 8333"/>
              </a:avLst>
            </a:prstGeom>
            <a:solidFill>
              <a:srgbClr val="F1EFE8"/>
            </a:solidFill>
            <a:ln/>
          </p:spPr>
          <p:txBody>
            <a:bodyPr/>
            <a:lstStyle/>
            <a:p>
              <a:endParaRPr lang="fr-FR" sz="1100"/>
            </a:p>
          </p:txBody>
        </p:sp>
        <p:sp>
          <p:nvSpPr>
            <p:cNvPr id="50" name="Text 31">
              <a:extLst>
                <a:ext uri="{FF2B5EF4-FFF2-40B4-BE49-F238E27FC236}">
                  <a16:creationId xmlns:a16="http://schemas.microsoft.com/office/drawing/2014/main" id="{5665CD0F-7EDA-9F8F-57F5-45233AC80736}"/>
                </a:ext>
              </a:extLst>
            </p:cNvPr>
            <p:cNvSpPr/>
            <p:nvPr/>
          </p:nvSpPr>
          <p:spPr>
            <a:xfrm>
              <a:off x="640080" y="2807208"/>
              <a:ext cx="2468880" cy="658368"/>
            </a:xfrm>
            <a:prstGeom prst="rect">
              <a:avLst/>
            </a:prstGeom>
            <a:noFill/>
            <a:ln/>
          </p:spPr>
          <p:txBody>
            <a:bodyPr wrap="square" lIns="0" tIns="0" rIns="0" bIns="0" rtlCol="0" anchor="ctr"/>
            <a:lstStyle/>
            <a:p>
              <a:pPr marL="0" indent="0" algn="ctr">
                <a:buNone/>
              </a:pPr>
              <a:r>
                <a:rPr lang="en-US" sz="1000" dirty="0">
                  <a:solidFill>
                    <a:srgbClr val="2C2C2A"/>
                  </a:solidFill>
                  <a:latin typeface="Calibri" pitchFamily="34" charset="0"/>
                  <a:ea typeface="Calibri" pitchFamily="34" charset="-122"/>
                  <a:cs typeface="Calibri" pitchFamily="34" charset="-120"/>
                </a:rPr>
                <a:t>Performance</a:t>
              </a:r>
              <a:endParaRPr lang="en-US" sz="1000" dirty="0"/>
            </a:p>
          </p:txBody>
        </p:sp>
        <p:sp>
          <p:nvSpPr>
            <p:cNvPr id="51" name="Shape 32">
              <a:extLst>
                <a:ext uri="{FF2B5EF4-FFF2-40B4-BE49-F238E27FC236}">
                  <a16:creationId xmlns:a16="http://schemas.microsoft.com/office/drawing/2014/main" id="{A2A5EEFE-9575-5C32-6995-98F114E6B75C}"/>
                </a:ext>
              </a:extLst>
            </p:cNvPr>
            <p:cNvSpPr/>
            <p:nvPr/>
          </p:nvSpPr>
          <p:spPr>
            <a:xfrm>
              <a:off x="3310128" y="2807208"/>
              <a:ext cx="2688336" cy="658368"/>
            </a:xfrm>
            <a:prstGeom prst="roundRect">
              <a:avLst>
                <a:gd name="adj" fmla="val 8333"/>
              </a:avLst>
            </a:prstGeom>
            <a:solidFill>
              <a:srgbClr val="FAEEDA"/>
            </a:solidFill>
            <a:ln/>
          </p:spPr>
          <p:txBody>
            <a:bodyPr/>
            <a:lstStyle/>
            <a:p>
              <a:endParaRPr lang="fr-FR" sz="1100"/>
            </a:p>
          </p:txBody>
        </p:sp>
        <p:sp>
          <p:nvSpPr>
            <p:cNvPr id="52" name="Shape 33">
              <a:extLst>
                <a:ext uri="{FF2B5EF4-FFF2-40B4-BE49-F238E27FC236}">
                  <a16:creationId xmlns:a16="http://schemas.microsoft.com/office/drawing/2014/main" id="{5AA5B684-4247-53B7-3518-0B7E018F3DDE}"/>
                </a:ext>
              </a:extLst>
            </p:cNvPr>
            <p:cNvSpPr/>
            <p:nvPr/>
          </p:nvSpPr>
          <p:spPr>
            <a:xfrm>
              <a:off x="3584448" y="2953512"/>
              <a:ext cx="2139696" cy="365760"/>
            </a:xfrm>
            <a:prstGeom prst="roundRect">
              <a:avLst>
                <a:gd name="adj" fmla="val 50000"/>
              </a:avLst>
            </a:prstGeom>
            <a:solidFill>
              <a:srgbClr val="BA7517"/>
            </a:solidFill>
            <a:ln/>
          </p:spPr>
          <p:txBody>
            <a:bodyPr/>
            <a:lstStyle/>
            <a:p>
              <a:endParaRPr lang="fr-FR" sz="1100"/>
            </a:p>
          </p:txBody>
        </p:sp>
        <p:sp>
          <p:nvSpPr>
            <p:cNvPr id="53" name="Text 34">
              <a:extLst>
                <a:ext uri="{FF2B5EF4-FFF2-40B4-BE49-F238E27FC236}">
                  <a16:creationId xmlns:a16="http://schemas.microsoft.com/office/drawing/2014/main" id="{D5F100CA-3EEC-AFDC-72C7-63B03842C669}"/>
                </a:ext>
              </a:extLst>
            </p:cNvPr>
            <p:cNvSpPr/>
            <p:nvPr/>
          </p:nvSpPr>
          <p:spPr>
            <a:xfrm>
              <a:off x="3584448" y="2953512"/>
              <a:ext cx="2139696"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Moyenne</a:t>
              </a:r>
              <a:endParaRPr lang="en-US" sz="1000" dirty="0"/>
            </a:p>
          </p:txBody>
        </p:sp>
        <p:sp>
          <p:nvSpPr>
            <p:cNvPr id="54" name="Shape 35">
              <a:extLst>
                <a:ext uri="{FF2B5EF4-FFF2-40B4-BE49-F238E27FC236}">
                  <a16:creationId xmlns:a16="http://schemas.microsoft.com/office/drawing/2014/main" id="{9D6CF5B3-F6EE-088E-3690-44F65D485691}"/>
                </a:ext>
              </a:extLst>
            </p:cNvPr>
            <p:cNvSpPr/>
            <p:nvPr/>
          </p:nvSpPr>
          <p:spPr>
            <a:xfrm>
              <a:off x="6108192" y="2807208"/>
              <a:ext cx="2688336" cy="658368"/>
            </a:xfrm>
            <a:prstGeom prst="roundRect">
              <a:avLst>
                <a:gd name="adj" fmla="val 8333"/>
              </a:avLst>
            </a:prstGeom>
            <a:solidFill>
              <a:srgbClr val="FAEEDA"/>
            </a:solidFill>
            <a:ln/>
          </p:spPr>
          <p:txBody>
            <a:bodyPr/>
            <a:lstStyle/>
            <a:p>
              <a:endParaRPr lang="fr-FR" sz="1100"/>
            </a:p>
          </p:txBody>
        </p:sp>
        <p:sp>
          <p:nvSpPr>
            <p:cNvPr id="55" name="Shape 36">
              <a:extLst>
                <a:ext uri="{FF2B5EF4-FFF2-40B4-BE49-F238E27FC236}">
                  <a16:creationId xmlns:a16="http://schemas.microsoft.com/office/drawing/2014/main" id="{5DEB91E7-7DCB-A58E-81B8-4DF9A7298562}"/>
                </a:ext>
              </a:extLst>
            </p:cNvPr>
            <p:cNvSpPr/>
            <p:nvPr/>
          </p:nvSpPr>
          <p:spPr>
            <a:xfrm>
              <a:off x="6382512" y="2953512"/>
              <a:ext cx="2139696" cy="365760"/>
            </a:xfrm>
            <a:prstGeom prst="roundRect">
              <a:avLst>
                <a:gd name="adj" fmla="val 50000"/>
              </a:avLst>
            </a:prstGeom>
            <a:solidFill>
              <a:srgbClr val="BA7517"/>
            </a:solidFill>
            <a:ln/>
          </p:spPr>
          <p:txBody>
            <a:bodyPr/>
            <a:lstStyle/>
            <a:p>
              <a:endParaRPr lang="fr-FR" sz="1100"/>
            </a:p>
          </p:txBody>
        </p:sp>
        <p:sp>
          <p:nvSpPr>
            <p:cNvPr id="56" name="Text 37">
              <a:extLst>
                <a:ext uri="{FF2B5EF4-FFF2-40B4-BE49-F238E27FC236}">
                  <a16:creationId xmlns:a16="http://schemas.microsoft.com/office/drawing/2014/main" id="{353D9740-51BB-A4B2-6639-779F2DFC9E2A}"/>
                </a:ext>
              </a:extLst>
            </p:cNvPr>
            <p:cNvSpPr/>
            <p:nvPr/>
          </p:nvSpPr>
          <p:spPr>
            <a:xfrm>
              <a:off x="6382512" y="2953512"/>
              <a:ext cx="2139696"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Moyenne</a:t>
              </a:r>
              <a:endParaRPr lang="en-US" sz="1000" dirty="0"/>
            </a:p>
          </p:txBody>
        </p:sp>
        <p:sp>
          <p:nvSpPr>
            <p:cNvPr id="57" name="Shape 38">
              <a:extLst>
                <a:ext uri="{FF2B5EF4-FFF2-40B4-BE49-F238E27FC236}">
                  <a16:creationId xmlns:a16="http://schemas.microsoft.com/office/drawing/2014/main" id="{CEFB38EC-C642-01C1-F951-320DC60AEAF1}"/>
                </a:ext>
              </a:extLst>
            </p:cNvPr>
            <p:cNvSpPr/>
            <p:nvPr/>
          </p:nvSpPr>
          <p:spPr>
            <a:xfrm>
              <a:off x="8906256" y="2807208"/>
              <a:ext cx="2688336" cy="658368"/>
            </a:xfrm>
            <a:prstGeom prst="roundRect">
              <a:avLst>
                <a:gd name="adj" fmla="val 8333"/>
              </a:avLst>
            </a:prstGeom>
            <a:solidFill>
              <a:srgbClr val="E1F5EE"/>
            </a:solidFill>
            <a:ln/>
          </p:spPr>
          <p:txBody>
            <a:bodyPr/>
            <a:lstStyle/>
            <a:p>
              <a:endParaRPr lang="fr-FR" sz="1100"/>
            </a:p>
          </p:txBody>
        </p:sp>
        <p:sp>
          <p:nvSpPr>
            <p:cNvPr id="58" name="Shape 39">
              <a:extLst>
                <a:ext uri="{FF2B5EF4-FFF2-40B4-BE49-F238E27FC236}">
                  <a16:creationId xmlns:a16="http://schemas.microsoft.com/office/drawing/2014/main" id="{1FF8E646-7079-37FD-351E-2BAED09BA8E7}"/>
                </a:ext>
              </a:extLst>
            </p:cNvPr>
            <p:cNvSpPr/>
            <p:nvPr/>
          </p:nvSpPr>
          <p:spPr>
            <a:xfrm>
              <a:off x="9180576" y="2953512"/>
              <a:ext cx="2139696" cy="365760"/>
            </a:xfrm>
            <a:prstGeom prst="roundRect">
              <a:avLst>
                <a:gd name="adj" fmla="val 50000"/>
              </a:avLst>
            </a:prstGeom>
            <a:solidFill>
              <a:srgbClr val="0F6E56"/>
            </a:solidFill>
            <a:ln/>
          </p:spPr>
          <p:txBody>
            <a:bodyPr/>
            <a:lstStyle/>
            <a:p>
              <a:endParaRPr lang="fr-FR" sz="1100"/>
            </a:p>
          </p:txBody>
        </p:sp>
        <p:sp>
          <p:nvSpPr>
            <p:cNvPr id="59" name="Text 40">
              <a:extLst>
                <a:ext uri="{FF2B5EF4-FFF2-40B4-BE49-F238E27FC236}">
                  <a16:creationId xmlns:a16="http://schemas.microsoft.com/office/drawing/2014/main" id="{2DFF6A2B-5162-3585-2A2C-50E5B0A577D7}"/>
                </a:ext>
              </a:extLst>
            </p:cNvPr>
            <p:cNvSpPr/>
            <p:nvPr/>
          </p:nvSpPr>
          <p:spPr>
            <a:xfrm>
              <a:off x="9180576" y="2953512"/>
              <a:ext cx="2139696"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Excellente</a:t>
              </a:r>
              <a:endParaRPr lang="en-US" sz="1000" dirty="0"/>
            </a:p>
          </p:txBody>
        </p:sp>
        <p:sp>
          <p:nvSpPr>
            <p:cNvPr id="60" name="Shape 41">
              <a:extLst>
                <a:ext uri="{FF2B5EF4-FFF2-40B4-BE49-F238E27FC236}">
                  <a16:creationId xmlns:a16="http://schemas.microsoft.com/office/drawing/2014/main" id="{8120A82F-7F8A-CC00-02A7-8F74CC5DC8A1}"/>
                </a:ext>
              </a:extLst>
            </p:cNvPr>
            <p:cNvSpPr/>
            <p:nvPr/>
          </p:nvSpPr>
          <p:spPr>
            <a:xfrm>
              <a:off x="457200" y="3575304"/>
              <a:ext cx="2743200" cy="658368"/>
            </a:xfrm>
            <a:prstGeom prst="roundRect">
              <a:avLst>
                <a:gd name="adj" fmla="val 8333"/>
              </a:avLst>
            </a:prstGeom>
            <a:solidFill>
              <a:srgbClr val="F1EFE8"/>
            </a:solidFill>
            <a:ln/>
          </p:spPr>
          <p:txBody>
            <a:bodyPr/>
            <a:lstStyle/>
            <a:p>
              <a:pPr algn="ctr"/>
              <a:endParaRPr lang="fr-FR" sz="1100"/>
            </a:p>
          </p:txBody>
        </p:sp>
        <p:sp>
          <p:nvSpPr>
            <p:cNvPr id="61" name="Text 42">
              <a:extLst>
                <a:ext uri="{FF2B5EF4-FFF2-40B4-BE49-F238E27FC236}">
                  <a16:creationId xmlns:a16="http://schemas.microsoft.com/office/drawing/2014/main" id="{B0E9099B-C8A4-8999-D21D-58E3BE5A7E5A}"/>
                </a:ext>
              </a:extLst>
            </p:cNvPr>
            <p:cNvSpPr/>
            <p:nvPr/>
          </p:nvSpPr>
          <p:spPr>
            <a:xfrm>
              <a:off x="640080" y="3575304"/>
              <a:ext cx="2468880" cy="658368"/>
            </a:xfrm>
            <a:prstGeom prst="rect">
              <a:avLst/>
            </a:prstGeom>
            <a:noFill/>
            <a:ln/>
          </p:spPr>
          <p:txBody>
            <a:bodyPr wrap="square" lIns="0" tIns="0" rIns="0" bIns="0" rtlCol="0" anchor="ctr"/>
            <a:lstStyle/>
            <a:p>
              <a:pPr marL="0" indent="0" algn="ctr">
                <a:buNone/>
              </a:pPr>
              <a:r>
                <a:rPr lang="en-US" sz="1000" dirty="0">
                  <a:solidFill>
                    <a:srgbClr val="2C2C2A"/>
                  </a:solidFill>
                  <a:latin typeface="Calibri" pitchFamily="34" charset="0"/>
                  <a:ea typeface="Calibri" pitchFamily="34" charset="-122"/>
                  <a:cs typeface="Calibri" pitchFamily="34" charset="-120"/>
                </a:rPr>
                <a:t>Prise en main</a:t>
              </a:r>
              <a:endParaRPr lang="en-US" sz="1000" dirty="0"/>
            </a:p>
          </p:txBody>
        </p:sp>
        <p:sp>
          <p:nvSpPr>
            <p:cNvPr id="62" name="Shape 43">
              <a:extLst>
                <a:ext uri="{FF2B5EF4-FFF2-40B4-BE49-F238E27FC236}">
                  <a16:creationId xmlns:a16="http://schemas.microsoft.com/office/drawing/2014/main" id="{63BBF138-CBC9-AA14-B81D-BF262622515E}"/>
                </a:ext>
              </a:extLst>
            </p:cNvPr>
            <p:cNvSpPr/>
            <p:nvPr/>
          </p:nvSpPr>
          <p:spPr>
            <a:xfrm>
              <a:off x="3310128" y="3575304"/>
              <a:ext cx="2688336" cy="658368"/>
            </a:xfrm>
            <a:prstGeom prst="roundRect">
              <a:avLst>
                <a:gd name="adj" fmla="val 8333"/>
              </a:avLst>
            </a:prstGeom>
            <a:solidFill>
              <a:srgbClr val="E1F5EE"/>
            </a:solidFill>
            <a:ln/>
          </p:spPr>
          <p:txBody>
            <a:bodyPr/>
            <a:lstStyle/>
            <a:p>
              <a:endParaRPr lang="fr-FR" sz="1100"/>
            </a:p>
          </p:txBody>
        </p:sp>
        <p:sp>
          <p:nvSpPr>
            <p:cNvPr id="63" name="Shape 44">
              <a:extLst>
                <a:ext uri="{FF2B5EF4-FFF2-40B4-BE49-F238E27FC236}">
                  <a16:creationId xmlns:a16="http://schemas.microsoft.com/office/drawing/2014/main" id="{939A5B47-AB67-3AFB-8AFE-F363ABB434B4}"/>
                </a:ext>
              </a:extLst>
            </p:cNvPr>
            <p:cNvSpPr/>
            <p:nvPr/>
          </p:nvSpPr>
          <p:spPr>
            <a:xfrm>
              <a:off x="3584448" y="3721608"/>
              <a:ext cx="2139696" cy="365760"/>
            </a:xfrm>
            <a:prstGeom prst="roundRect">
              <a:avLst>
                <a:gd name="adj" fmla="val 50000"/>
              </a:avLst>
            </a:prstGeom>
            <a:solidFill>
              <a:srgbClr val="0F6E56"/>
            </a:solidFill>
            <a:ln/>
          </p:spPr>
          <p:txBody>
            <a:bodyPr/>
            <a:lstStyle/>
            <a:p>
              <a:endParaRPr lang="fr-FR" sz="1100"/>
            </a:p>
          </p:txBody>
        </p:sp>
        <p:sp>
          <p:nvSpPr>
            <p:cNvPr id="64" name="Text 45">
              <a:extLst>
                <a:ext uri="{FF2B5EF4-FFF2-40B4-BE49-F238E27FC236}">
                  <a16:creationId xmlns:a16="http://schemas.microsoft.com/office/drawing/2014/main" id="{61DA58E3-9BC3-CE50-2878-FE1111C524F8}"/>
                </a:ext>
              </a:extLst>
            </p:cNvPr>
            <p:cNvSpPr/>
            <p:nvPr/>
          </p:nvSpPr>
          <p:spPr>
            <a:xfrm>
              <a:off x="3584448" y="3721608"/>
              <a:ext cx="2139696"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Facile</a:t>
              </a:r>
              <a:endParaRPr lang="en-US" sz="1000" dirty="0"/>
            </a:p>
          </p:txBody>
        </p:sp>
        <p:sp>
          <p:nvSpPr>
            <p:cNvPr id="65" name="Shape 46">
              <a:extLst>
                <a:ext uri="{FF2B5EF4-FFF2-40B4-BE49-F238E27FC236}">
                  <a16:creationId xmlns:a16="http://schemas.microsoft.com/office/drawing/2014/main" id="{AE87F04D-4778-BEF1-2C21-64EBDBC67521}"/>
                </a:ext>
              </a:extLst>
            </p:cNvPr>
            <p:cNvSpPr/>
            <p:nvPr/>
          </p:nvSpPr>
          <p:spPr>
            <a:xfrm>
              <a:off x="6108192" y="3575304"/>
              <a:ext cx="2688336" cy="658368"/>
            </a:xfrm>
            <a:prstGeom prst="roundRect">
              <a:avLst>
                <a:gd name="adj" fmla="val 8333"/>
              </a:avLst>
            </a:prstGeom>
            <a:solidFill>
              <a:srgbClr val="FCEBEB"/>
            </a:solidFill>
            <a:ln/>
          </p:spPr>
          <p:txBody>
            <a:bodyPr/>
            <a:lstStyle/>
            <a:p>
              <a:endParaRPr lang="fr-FR" sz="1100"/>
            </a:p>
          </p:txBody>
        </p:sp>
        <p:sp>
          <p:nvSpPr>
            <p:cNvPr id="66" name="Shape 47">
              <a:extLst>
                <a:ext uri="{FF2B5EF4-FFF2-40B4-BE49-F238E27FC236}">
                  <a16:creationId xmlns:a16="http://schemas.microsoft.com/office/drawing/2014/main" id="{5F581A50-B16E-FF03-322E-2C847DDB50C1}"/>
                </a:ext>
              </a:extLst>
            </p:cNvPr>
            <p:cNvSpPr/>
            <p:nvPr/>
          </p:nvSpPr>
          <p:spPr>
            <a:xfrm>
              <a:off x="6382512" y="3721608"/>
              <a:ext cx="2139696" cy="365760"/>
            </a:xfrm>
            <a:prstGeom prst="roundRect">
              <a:avLst>
                <a:gd name="adj" fmla="val 50000"/>
              </a:avLst>
            </a:prstGeom>
            <a:solidFill>
              <a:srgbClr val="A32D2D"/>
            </a:solidFill>
            <a:ln/>
          </p:spPr>
          <p:txBody>
            <a:bodyPr/>
            <a:lstStyle/>
            <a:p>
              <a:endParaRPr lang="fr-FR" sz="1100"/>
            </a:p>
          </p:txBody>
        </p:sp>
        <p:sp>
          <p:nvSpPr>
            <p:cNvPr id="67" name="Text 48">
              <a:extLst>
                <a:ext uri="{FF2B5EF4-FFF2-40B4-BE49-F238E27FC236}">
                  <a16:creationId xmlns:a16="http://schemas.microsoft.com/office/drawing/2014/main" id="{A4FAF259-269D-D539-EBD4-6FECF1B73B08}"/>
                </a:ext>
              </a:extLst>
            </p:cNvPr>
            <p:cNvSpPr/>
            <p:nvPr/>
          </p:nvSpPr>
          <p:spPr>
            <a:xfrm>
              <a:off x="6382512" y="3721608"/>
              <a:ext cx="2139696"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Complexe</a:t>
              </a:r>
              <a:endParaRPr lang="en-US" sz="1000" dirty="0"/>
            </a:p>
          </p:txBody>
        </p:sp>
        <p:sp>
          <p:nvSpPr>
            <p:cNvPr id="68" name="Shape 49">
              <a:extLst>
                <a:ext uri="{FF2B5EF4-FFF2-40B4-BE49-F238E27FC236}">
                  <a16:creationId xmlns:a16="http://schemas.microsoft.com/office/drawing/2014/main" id="{B145561F-8F45-718A-0F4C-BEE981782DB6}"/>
                </a:ext>
              </a:extLst>
            </p:cNvPr>
            <p:cNvSpPr/>
            <p:nvPr/>
          </p:nvSpPr>
          <p:spPr>
            <a:xfrm>
              <a:off x="8906256" y="3575304"/>
              <a:ext cx="2688336" cy="658368"/>
            </a:xfrm>
            <a:prstGeom prst="roundRect">
              <a:avLst>
                <a:gd name="adj" fmla="val 8333"/>
              </a:avLst>
            </a:prstGeom>
            <a:solidFill>
              <a:srgbClr val="FAEEDA"/>
            </a:solidFill>
            <a:ln/>
          </p:spPr>
          <p:txBody>
            <a:bodyPr/>
            <a:lstStyle/>
            <a:p>
              <a:endParaRPr lang="fr-FR" sz="1100"/>
            </a:p>
          </p:txBody>
        </p:sp>
        <p:sp>
          <p:nvSpPr>
            <p:cNvPr id="69" name="Shape 50">
              <a:extLst>
                <a:ext uri="{FF2B5EF4-FFF2-40B4-BE49-F238E27FC236}">
                  <a16:creationId xmlns:a16="http://schemas.microsoft.com/office/drawing/2014/main" id="{797DCD96-72BD-7EF4-6D58-21C4C57CB195}"/>
                </a:ext>
              </a:extLst>
            </p:cNvPr>
            <p:cNvSpPr/>
            <p:nvPr/>
          </p:nvSpPr>
          <p:spPr>
            <a:xfrm>
              <a:off x="9180576" y="3721608"/>
              <a:ext cx="2139696" cy="365760"/>
            </a:xfrm>
            <a:prstGeom prst="roundRect">
              <a:avLst>
                <a:gd name="adj" fmla="val 50000"/>
              </a:avLst>
            </a:prstGeom>
            <a:solidFill>
              <a:srgbClr val="BA7517"/>
            </a:solidFill>
            <a:ln/>
          </p:spPr>
          <p:txBody>
            <a:bodyPr/>
            <a:lstStyle/>
            <a:p>
              <a:endParaRPr lang="fr-FR" sz="1100"/>
            </a:p>
          </p:txBody>
        </p:sp>
        <p:sp>
          <p:nvSpPr>
            <p:cNvPr id="70" name="Text 51">
              <a:extLst>
                <a:ext uri="{FF2B5EF4-FFF2-40B4-BE49-F238E27FC236}">
                  <a16:creationId xmlns:a16="http://schemas.microsoft.com/office/drawing/2014/main" id="{9867B220-03C9-C5F7-69BC-0C2D92B527F6}"/>
                </a:ext>
              </a:extLst>
            </p:cNvPr>
            <p:cNvSpPr/>
            <p:nvPr/>
          </p:nvSpPr>
          <p:spPr>
            <a:xfrm>
              <a:off x="9180576" y="3721608"/>
              <a:ext cx="2139696"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Moyenne</a:t>
              </a:r>
              <a:endParaRPr lang="en-US" sz="1000" dirty="0"/>
            </a:p>
          </p:txBody>
        </p:sp>
        <p:sp>
          <p:nvSpPr>
            <p:cNvPr id="71" name="Shape 52">
              <a:extLst>
                <a:ext uri="{FF2B5EF4-FFF2-40B4-BE49-F238E27FC236}">
                  <a16:creationId xmlns:a16="http://schemas.microsoft.com/office/drawing/2014/main" id="{8C08B2AA-277A-1C04-C101-DE3875387C30}"/>
                </a:ext>
              </a:extLst>
            </p:cNvPr>
            <p:cNvSpPr/>
            <p:nvPr/>
          </p:nvSpPr>
          <p:spPr>
            <a:xfrm>
              <a:off x="457200" y="4343400"/>
              <a:ext cx="2743200" cy="658368"/>
            </a:xfrm>
            <a:prstGeom prst="roundRect">
              <a:avLst>
                <a:gd name="adj" fmla="val 8333"/>
              </a:avLst>
            </a:prstGeom>
            <a:solidFill>
              <a:srgbClr val="F1EFE8"/>
            </a:solidFill>
            <a:ln/>
          </p:spPr>
          <p:txBody>
            <a:bodyPr/>
            <a:lstStyle/>
            <a:p>
              <a:endParaRPr lang="fr-FR" sz="1100"/>
            </a:p>
          </p:txBody>
        </p:sp>
        <p:sp>
          <p:nvSpPr>
            <p:cNvPr id="72" name="Text 53">
              <a:extLst>
                <a:ext uri="{FF2B5EF4-FFF2-40B4-BE49-F238E27FC236}">
                  <a16:creationId xmlns:a16="http://schemas.microsoft.com/office/drawing/2014/main" id="{48D4439A-2321-71C1-D648-86DC7804C202}"/>
                </a:ext>
              </a:extLst>
            </p:cNvPr>
            <p:cNvSpPr/>
            <p:nvPr/>
          </p:nvSpPr>
          <p:spPr>
            <a:xfrm>
              <a:off x="640080" y="4343400"/>
              <a:ext cx="2468880" cy="658368"/>
            </a:xfrm>
            <a:prstGeom prst="rect">
              <a:avLst/>
            </a:prstGeom>
            <a:noFill/>
            <a:ln/>
          </p:spPr>
          <p:txBody>
            <a:bodyPr wrap="square" lIns="0" tIns="0" rIns="0" bIns="0" rtlCol="0" anchor="ctr"/>
            <a:lstStyle/>
            <a:p>
              <a:pPr marL="0" indent="0" algn="ctr">
                <a:buNone/>
              </a:pPr>
              <a:r>
                <a:rPr lang="en-US" sz="1000" dirty="0">
                  <a:solidFill>
                    <a:srgbClr val="2C2C2A"/>
                  </a:solidFill>
                  <a:latin typeface="Calibri" pitchFamily="34" charset="0"/>
                  <a:ea typeface="Calibri" pitchFamily="34" charset="-122"/>
                  <a:cs typeface="Calibri" pitchFamily="34" charset="-120"/>
                </a:rPr>
                <a:t>Marché emploi</a:t>
              </a:r>
              <a:endParaRPr lang="en-US" sz="1000" dirty="0"/>
            </a:p>
          </p:txBody>
        </p:sp>
        <p:sp>
          <p:nvSpPr>
            <p:cNvPr id="73" name="Shape 54">
              <a:extLst>
                <a:ext uri="{FF2B5EF4-FFF2-40B4-BE49-F238E27FC236}">
                  <a16:creationId xmlns:a16="http://schemas.microsoft.com/office/drawing/2014/main" id="{32133D5C-512A-BC04-7068-A81E452C2F3C}"/>
                </a:ext>
              </a:extLst>
            </p:cNvPr>
            <p:cNvSpPr/>
            <p:nvPr/>
          </p:nvSpPr>
          <p:spPr>
            <a:xfrm>
              <a:off x="3310128" y="4343400"/>
              <a:ext cx="2688336" cy="658368"/>
            </a:xfrm>
            <a:prstGeom prst="roundRect">
              <a:avLst>
                <a:gd name="adj" fmla="val 8333"/>
              </a:avLst>
            </a:prstGeom>
            <a:solidFill>
              <a:srgbClr val="E1F5EE"/>
            </a:solidFill>
            <a:ln/>
          </p:spPr>
          <p:txBody>
            <a:bodyPr/>
            <a:lstStyle/>
            <a:p>
              <a:endParaRPr lang="fr-FR" sz="1100"/>
            </a:p>
          </p:txBody>
        </p:sp>
        <p:sp>
          <p:nvSpPr>
            <p:cNvPr id="74" name="Shape 55">
              <a:extLst>
                <a:ext uri="{FF2B5EF4-FFF2-40B4-BE49-F238E27FC236}">
                  <a16:creationId xmlns:a16="http://schemas.microsoft.com/office/drawing/2014/main" id="{FCBAB9F5-28FC-8F24-8197-E05102957347}"/>
                </a:ext>
              </a:extLst>
            </p:cNvPr>
            <p:cNvSpPr/>
            <p:nvPr/>
          </p:nvSpPr>
          <p:spPr>
            <a:xfrm>
              <a:off x="3584448" y="4489704"/>
              <a:ext cx="2139696" cy="365760"/>
            </a:xfrm>
            <a:prstGeom prst="roundRect">
              <a:avLst>
                <a:gd name="adj" fmla="val 50000"/>
              </a:avLst>
            </a:prstGeom>
            <a:solidFill>
              <a:srgbClr val="0F6E56"/>
            </a:solidFill>
            <a:ln/>
          </p:spPr>
          <p:txBody>
            <a:bodyPr/>
            <a:lstStyle/>
            <a:p>
              <a:endParaRPr lang="fr-FR" sz="1100"/>
            </a:p>
          </p:txBody>
        </p:sp>
        <p:sp>
          <p:nvSpPr>
            <p:cNvPr id="75" name="Text 56">
              <a:extLst>
                <a:ext uri="{FF2B5EF4-FFF2-40B4-BE49-F238E27FC236}">
                  <a16:creationId xmlns:a16="http://schemas.microsoft.com/office/drawing/2014/main" id="{74C43662-A2EC-4C95-49BF-E390FC794F4B}"/>
                </a:ext>
              </a:extLst>
            </p:cNvPr>
            <p:cNvSpPr/>
            <p:nvPr/>
          </p:nvSpPr>
          <p:spPr>
            <a:xfrm>
              <a:off x="3584448" y="4489704"/>
              <a:ext cx="2139696"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Dominant</a:t>
              </a:r>
              <a:endParaRPr lang="en-US" sz="1000" dirty="0"/>
            </a:p>
          </p:txBody>
        </p:sp>
        <p:sp>
          <p:nvSpPr>
            <p:cNvPr id="76" name="Shape 57">
              <a:extLst>
                <a:ext uri="{FF2B5EF4-FFF2-40B4-BE49-F238E27FC236}">
                  <a16:creationId xmlns:a16="http://schemas.microsoft.com/office/drawing/2014/main" id="{68E448E7-68BC-5D8F-A800-350AB6334CEC}"/>
                </a:ext>
              </a:extLst>
            </p:cNvPr>
            <p:cNvSpPr/>
            <p:nvPr/>
          </p:nvSpPr>
          <p:spPr>
            <a:xfrm>
              <a:off x="6108192" y="4343400"/>
              <a:ext cx="2688336" cy="658368"/>
            </a:xfrm>
            <a:prstGeom prst="roundRect">
              <a:avLst>
                <a:gd name="adj" fmla="val 8333"/>
              </a:avLst>
            </a:prstGeom>
            <a:solidFill>
              <a:srgbClr val="FAEEDA"/>
            </a:solidFill>
            <a:ln/>
          </p:spPr>
          <p:txBody>
            <a:bodyPr/>
            <a:lstStyle/>
            <a:p>
              <a:endParaRPr lang="fr-FR" sz="1100"/>
            </a:p>
          </p:txBody>
        </p:sp>
        <p:sp>
          <p:nvSpPr>
            <p:cNvPr id="77" name="Shape 58">
              <a:extLst>
                <a:ext uri="{FF2B5EF4-FFF2-40B4-BE49-F238E27FC236}">
                  <a16:creationId xmlns:a16="http://schemas.microsoft.com/office/drawing/2014/main" id="{068E94D6-D298-3B4F-C3C8-03A7462307D3}"/>
                </a:ext>
              </a:extLst>
            </p:cNvPr>
            <p:cNvSpPr/>
            <p:nvPr/>
          </p:nvSpPr>
          <p:spPr>
            <a:xfrm>
              <a:off x="6382512" y="4489704"/>
              <a:ext cx="2139696" cy="365760"/>
            </a:xfrm>
            <a:prstGeom prst="roundRect">
              <a:avLst>
                <a:gd name="adj" fmla="val 50000"/>
              </a:avLst>
            </a:prstGeom>
            <a:solidFill>
              <a:srgbClr val="BA7517"/>
            </a:solidFill>
            <a:ln/>
          </p:spPr>
          <p:txBody>
            <a:bodyPr/>
            <a:lstStyle/>
            <a:p>
              <a:endParaRPr lang="fr-FR" sz="1100"/>
            </a:p>
          </p:txBody>
        </p:sp>
        <p:sp>
          <p:nvSpPr>
            <p:cNvPr id="78" name="Text 59">
              <a:extLst>
                <a:ext uri="{FF2B5EF4-FFF2-40B4-BE49-F238E27FC236}">
                  <a16:creationId xmlns:a16="http://schemas.microsoft.com/office/drawing/2014/main" id="{1D2385AA-2C9F-5F3B-9B01-6D113A44C808}"/>
                </a:ext>
              </a:extLst>
            </p:cNvPr>
            <p:cNvSpPr/>
            <p:nvPr/>
          </p:nvSpPr>
          <p:spPr>
            <a:xfrm>
              <a:off x="6382512" y="4489704"/>
              <a:ext cx="2139696"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Présent</a:t>
              </a:r>
              <a:endParaRPr lang="en-US" sz="1000" dirty="0"/>
            </a:p>
          </p:txBody>
        </p:sp>
        <p:sp>
          <p:nvSpPr>
            <p:cNvPr id="79" name="Shape 60">
              <a:extLst>
                <a:ext uri="{FF2B5EF4-FFF2-40B4-BE49-F238E27FC236}">
                  <a16:creationId xmlns:a16="http://schemas.microsoft.com/office/drawing/2014/main" id="{0686015F-BA93-5B3F-C52C-CB51453DD5CF}"/>
                </a:ext>
              </a:extLst>
            </p:cNvPr>
            <p:cNvSpPr/>
            <p:nvPr/>
          </p:nvSpPr>
          <p:spPr>
            <a:xfrm>
              <a:off x="8906256" y="4343400"/>
              <a:ext cx="2688336" cy="658368"/>
            </a:xfrm>
            <a:prstGeom prst="roundRect">
              <a:avLst>
                <a:gd name="adj" fmla="val 8333"/>
              </a:avLst>
            </a:prstGeom>
            <a:solidFill>
              <a:srgbClr val="FAEEDA"/>
            </a:solidFill>
            <a:ln/>
          </p:spPr>
          <p:txBody>
            <a:bodyPr/>
            <a:lstStyle/>
            <a:p>
              <a:endParaRPr lang="fr-FR" sz="1100"/>
            </a:p>
          </p:txBody>
        </p:sp>
        <p:sp>
          <p:nvSpPr>
            <p:cNvPr id="80" name="Shape 61">
              <a:extLst>
                <a:ext uri="{FF2B5EF4-FFF2-40B4-BE49-F238E27FC236}">
                  <a16:creationId xmlns:a16="http://schemas.microsoft.com/office/drawing/2014/main" id="{F08E5FA3-20E2-9293-49DC-339F25019A7B}"/>
                </a:ext>
              </a:extLst>
            </p:cNvPr>
            <p:cNvSpPr/>
            <p:nvPr/>
          </p:nvSpPr>
          <p:spPr>
            <a:xfrm>
              <a:off x="9180576" y="4489704"/>
              <a:ext cx="2139696" cy="365760"/>
            </a:xfrm>
            <a:prstGeom prst="roundRect">
              <a:avLst>
                <a:gd name="adj" fmla="val 50000"/>
              </a:avLst>
            </a:prstGeom>
            <a:solidFill>
              <a:srgbClr val="BA7517"/>
            </a:solidFill>
            <a:ln/>
          </p:spPr>
          <p:txBody>
            <a:bodyPr/>
            <a:lstStyle/>
            <a:p>
              <a:endParaRPr lang="fr-FR" sz="1100"/>
            </a:p>
          </p:txBody>
        </p:sp>
        <p:sp>
          <p:nvSpPr>
            <p:cNvPr id="81" name="Text 62">
              <a:extLst>
                <a:ext uri="{FF2B5EF4-FFF2-40B4-BE49-F238E27FC236}">
                  <a16:creationId xmlns:a16="http://schemas.microsoft.com/office/drawing/2014/main" id="{77D276C4-F8A4-E777-6E7F-0A3649A32C6D}"/>
                </a:ext>
              </a:extLst>
            </p:cNvPr>
            <p:cNvSpPr/>
            <p:nvPr/>
          </p:nvSpPr>
          <p:spPr>
            <a:xfrm>
              <a:off x="9180576" y="4489704"/>
              <a:ext cx="2139696"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Émergent</a:t>
              </a:r>
              <a:endParaRPr lang="en-US" sz="1000" dirty="0"/>
            </a:p>
          </p:txBody>
        </p:sp>
        <p:sp>
          <p:nvSpPr>
            <p:cNvPr id="82" name="Shape 63">
              <a:extLst>
                <a:ext uri="{FF2B5EF4-FFF2-40B4-BE49-F238E27FC236}">
                  <a16:creationId xmlns:a16="http://schemas.microsoft.com/office/drawing/2014/main" id="{EAD75BF4-7D75-DC06-4B7E-E7ACD00E904D}"/>
                </a:ext>
              </a:extLst>
            </p:cNvPr>
            <p:cNvSpPr/>
            <p:nvPr/>
          </p:nvSpPr>
          <p:spPr>
            <a:xfrm>
              <a:off x="457200" y="5111496"/>
              <a:ext cx="2743200" cy="658368"/>
            </a:xfrm>
            <a:prstGeom prst="roundRect">
              <a:avLst>
                <a:gd name="adj" fmla="val 8333"/>
              </a:avLst>
            </a:prstGeom>
            <a:solidFill>
              <a:srgbClr val="F1EFE8"/>
            </a:solidFill>
            <a:ln/>
          </p:spPr>
          <p:txBody>
            <a:bodyPr/>
            <a:lstStyle/>
            <a:p>
              <a:endParaRPr lang="fr-FR" sz="1100"/>
            </a:p>
          </p:txBody>
        </p:sp>
        <p:sp>
          <p:nvSpPr>
            <p:cNvPr id="83" name="Text 64">
              <a:extLst>
                <a:ext uri="{FF2B5EF4-FFF2-40B4-BE49-F238E27FC236}">
                  <a16:creationId xmlns:a16="http://schemas.microsoft.com/office/drawing/2014/main" id="{A48E82C7-7EC8-D32A-E998-D6413DB12733}"/>
                </a:ext>
              </a:extLst>
            </p:cNvPr>
            <p:cNvSpPr/>
            <p:nvPr/>
          </p:nvSpPr>
          <p:spPr>
            <a:xfrm>
              <a:off x="640080" y="5111496"/>
              <a:ext cx="2468880" cy="658368"/>
            </a:xfrm>
            <a:prstGeom prst="rect">
              <a:avLst/>
            </a:prstGeom>
            <a:noFill/>
            <a:ln/>
          </p:spPr>
          <p:txBody>
            <a:bodyPr wrap="square" lIns="0" tIns="0" rIns="0" bIns="0" rtlCol="0" anchor="ctr"/>
            <a:lstStyle/>
            <a:p>
              <a:pPr marL="0" indent="0" algn="ctr">
                <a:buNone/>
              </a:pPr>
              <a:r>
                <a:rPr lang="en-US" sz="1000" dirty="0">
                  <a:solidFill>
                    <a:srgbClr val="2C2C2A"/>
                  </a:solidFill>
                  <a:latin typeface="Calibri" pitchFamily="34" charset="0"/>
                  <a:ea typeface="Calibri" pitchFamily="34" charset="-122"/>
                  <a:cs typeface="Calibri" pitchFamily="34" charset="-120"/>
                </a:rPr>
                <a:t>Cloud Native</a:t>
              </a:r>
              <a:endParaRPr lang="en-US" sz="1000" dirty="0"/>
            </a:p>
          </p:txBody>
        </p:sp>
        <p:sp>
          <p:nvSpPr>
            <p:cNvPr id="84" name="Shape 65">
              <a:extLst>
                <a:ext uri="{FF2B5EF4-FFF2-40B4-BE49-F238E27FC236}">
                  <a16:creationId xmlns:a16="http://schemas.microsoft.com/office/drawing/2014/main" id="{DEA8D78D-716A-58FF-6851-81F47AF66F0B}"/>
                </a:ext>
              </a:extLst>
            </p:cNvPr>
            <p:cNvSpPr/>
            <p:nvPr/>
          </p:nvSpPr>
          <p:spPr>
            <a:xfrm>
              <a:off x="3310128" y="5111496"/>
              <a:ext cx="2688336" cy="658368"/>
            </a:xfrm>
            <a:prstGeom prst="roundRect">
              <a:avLst>
                <a:gd name="adj" fmla="val 8333"/>
              </a:avLst>
            </a:prstGeom>
            <a:solidFill>
              <a:srgbClr val="FAEEDA"/>
            </a:solidFill>
            <a:ln/>
          </p:spPr>
          <p:txBody>
            <a:bodyPr/>
            <a:lstStyle/>
            <a:p>
              <a:endParaRPr lang="fr-FR" sz="1100"/>
            </a:p>
          </p:txBody>
        </p:sp>
        <p:sp>
          <p:nvSpPr>
            <p:cNvPr id="85" name="Shape 66">
              <a:extLst>
                <a:ext uri="{FF2B5EF4-FFF2-40B4-BE49-F238E27FC236}">
                  <a16:creationId xmlns:a16="http://schemas.microsoft.com/office/drawing/2014/main" id="{CFE1EA80-5298-05E8-C773-7A3A6094955C}"/>
                </a:ext>
              </a:extLst>
            </p:cNvPr>
            <p:cNvSpPr/>
            <p:nvPr/>
          </p:nvSpPr>
          <p:spPr>
            <a:xfrm>
              <a:off x="3584448" y="5257800"/>
              <a:ext cx="2139696" cy="365760"/>
            </a:xfrm>
            <a:prstGeom prst="roundRect">
              <a:avLst>
                <a:gd name="adj" fmla="val 50000"/>
              </a:avLst>
            </a:prstGeom>
            <a:solidFill>
              <a:srgbClr val="BA7517"/>
            </a:solidFill>
            <a:ln/>
          </p:spPr>
          <p:txBody>
            <a:bodyPr/>
            <a:lstStyle/>
            <a:p>
              <a:endParaRPr lang="fr-FR" sz="1100"/>
            </a:p>
          </p:txBody>
        </p:sp>
        <p:sp>
          <p:nvSpPr>
            <p:cNvPr id="86" name="Text 67">
              <a:extLst>
                <a:ext uri="{FF2B5EF4-FFF2-40B4-BE49-F238E27FC236}">
                  <a16:creationId xmlns:a16="http://schemas.microsoft.com/office/drawing/2014/main" id="{6000D2F0-6328-8B80-F88A-EBBF4FDAC940}"/>
                </a:ext>
              </a:extLst>
            </p:cNvPr>
            <p:cNvSpPr/>
            <p:nvPr/>
          </p:nvSpPr>
          <p:spPr>
            <a:xfrm>
              <a:off x="3584448" y="5257800"/>
              <a:ext cx="2139696"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Spring</a:t>
              </a:r>
              <a:endParaRPr lang="en-US" sz="1000" dirty="0"/>
            </a:p>
          </p:txBody>
        </p:sp>
        <p:sp>
          <p:nvSpPr>
            <p:cNvPr id="87" name="Shape 68">
              <a:extLst>
                <a:ext uri="{FF2B5EF4-FFF2-40B4-BE49-F238E27FC236}">
                  <a16:creationId xmlns:a16="http://schemas.microsoft.com/office/drawing/2014/main" id="{25A43B4D-5FE1-BB27-31C5-3F3BA86F728D}"/>
                </a:ext>
              </a:extLst>
            </p:cNvPr>
            <p:cNvSpPr/>
            <p:nvPr/>
          </p:nvSpPr>
          <p:spPr>
            <a:xfrm>
              <a:off x="6108192" y="5111496"/>
              <a:ext cx="2688336" cy="658368"/>
            </a:xfrm>
            <a:prstGeom prst="roundRect">
              <a:avLst>
                <a:gd name="adj" fmla="val 8333"/>
              </a:avLst>
            </a:prstGeom>
            <a:solidFill>
              <a:srgbClr val="FAEEDA"/>
            </a:solidFill>
            <a:ln/>
          </p:spPr>
          <p:txBody>
            <a:bodyPr/>
            <a:lstStyle/>
            <a:p>
              <a:endParaRPr lang="fr-FR" sz="1100"/>
            </a:p>
          </p:txBody>
        </p:sp>
        <p:sp>
          <p:nvSpPr>
            <p:cNvPr id="88" name="Shape 69">
              <a:extLst>
                <a:ext uri="{FF2B5EF4-FFF2-40B4-BE49-F238E27FC236}">
                  <a16:creationId xmlns:a16="http://schemas.microsoft.com/office/drawing/2014/main" id="{4246541A-BA50-6965-CA37-ACBBC92BFF50}"/>
                </a:ext>
              </a:extLst>
            </p:cNvPr>
            <p:cNvSpPr/>
            <p:nvPr/>
          </p:nvSpPr>
          <p:spPr>
            <a:xfrm>
              <a:off x="6382512" y="5257800"/>
              <a:ext cx="2139696" cy="365760"/>
            </a:xfrm>
            <a:prstGeom prst="roundRect">
              <a:avLst>
                <a:gd name="adj" fmla="val 50000"/>
              </a:avLst>
            </a:prstGeom>
            <a:solidFill>
              <a:srgbClr val="BA7517"/>
            </a:solidFill>
            <a:ln/>
          </p:spPr>
          <p:txBody>
            <a:bodyPr/>
            <a:lstStyle/>
            <a:p>
              <a:endParaRPr lang="fr-FR" sz="1100"/>
            </a:p>
          </p:txBody>
        </p:sp>
        <p:sp>
          <p:nvSpPr>
            <p:cNvPr id="89" name="Text 70">
              <a:extLst>
                <a:ext uri="{FF2B5EF4-FFF2-40B4-BE49-F238E27FC236}">
                  <a16:creationId xmlns:a16="http://schemas.microsoft.com/office/drawing/2014/main" id="{C2DA6909-6749-1F9D-E8DF-ADEEF264EDEA}"/>
                </a:ext>
              </a:extLst>
            </p:cNvPr>
            <p:cNvSpPr/>
            <p:nvPr/>
          </p:nvSpPr>
          <p:spPr>
            <a:xfrm>
              <a:off x="6382512" y="5257800"/>
              <a:ext cx="2139696"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Partiel</a:t>
              </a:r>
              <a:endParaRPr lang="en-US" sz="1000" dirty="0"/>
            </a:p>
          </p:txBody>
        </p:sp>
        <p:sp>
          <p:nvSpPr>
            <p:cNvPr id="90" name="Shape 71">
              <a:extLst>
                <a:ext uri="{FF2B5EF4-FFF2-40B4-BE49-F238E27FC236}">
                  <a16:creationId xmlns:a16="http://schemas.microsoft.com/office/drawing/2014/main" id="{2C9EEC9F-C268-43B7-53C2-728971CC04AA}"/>
                </a:ext>
              </a:extLst>
            </p:cNvPr>
            <p:cNvSpPr/>
            <p:nvPr/>
          </p:nvSpPr>
          <p:spPr>
            <a:xfrm>
              <a:off x="8906256" y="5111496"/>
              <a:ext cx="2688336" cy="658368"/>
            </a:xfrm>
            <a:prstGeom prst="roundRect">
              <a:avLst>
                <a:gd name="adj" fmla="val 8333"/>
              </a:avLst>
            </a:prstGeom>
            <a:solidFill>
              <a:srgbClr val="E1F5EE"/>
            </a:solidFill>
            <a:ln/>
          </p:spPr>
          <p:txBody>
            <a:bodyPr/>
            <a:lstStyle/>
            <a:p>
              <a:endParaRPr lang="fr-FR" sz="1100"/>
            </a:p>
          </p:txBody>
        </p:sp>
        <p:sp>
          <p:nvSpPr>
            <p:cNvPr id="91" name="Shape 72">
              <a:extLst>
                <a:ext uri="{FF2B5EF4-FFF2-40B4-BE49-F238E27FC236}">
                  <a16:creationId xmlns:a16="http://schemas.microsoft.com/office/drawing/2014/main" id="{73D85D61-D2A9-7C43-B740-B7FA401D8A49}"/>
                </a:ext>
              </a:extLst>
            </p:cNvPr>
            <p:cNvSpPr/>
            <p:nvPr/>
          </p:nvSpPr>
          <p:spPr>
            <a:xfrm>
              <a:off x="9180576" y="5257800"/>
              <a:ext cx="2139696" cy="365760"/>
            </a:xfrm>
            <a:prstGeom prst="roundRect">
              <a:avLst>
                <a:gd name="adj" fmla="val 50000"/>
              </a:avLst>
            </a:prstGeom>
            <a:solidFill>
              <a:srgbClr val="0F6E56"/>
            </a:solidFill>
            <a:ln/>
          </p:spPr>
          <p:txBody>
            <a:bodyPr/>
            <a:lstStyle/>
            <a:p>
              <a:endParaRPr lang="fr-FR" sz="1100"/>
            </a:p>
          </p:txBody>
        </p:sp>
        <p:sp>
          <p:nvSpPr>
            <p:cNvPr id="92" name="Text 73">
              <a:extLst>
                <a:ext uri="{FF2B5EF4-FFF2-40B4-BE49-F238E27FC236}">
                  <a16:creationId xmlns:a16="http://schemas.microsoft.com/office/drawing/2014/main" id="{05A082F5-5AA8-4351-C1E3-73B9AB46CAE6}"/>
                </a:ext>
              </a:extLst>
            </p:cNvPr>
            <p:cNvSpPr/>
            <p:nvPr/>
          </p:nvSpPr>
          <p:spPr>
            <a:xfrm>
              <a:off x="9180576" y="5257800"/>
              <a:ext cx="2139696"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Natif</a:t>
              </a:r>
              <a:endParaRPr lang="en-US" sz="1000" dirty="0"/>
            </a:p>
          </p:txBody>
        </p:sp>
      </p:grpSp>
    </p:spTree>
    <p:extLst>
      <p:ext uri="{BB962C8B-B14F-4D97-AF65-F5344CB8AC3E}">
        <p14:creationId xmlns:p14="http://schemas.microsoft.com/office/powerpoint/2010/main" val="7132178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A7A5580-F2E8-8F8C-03E6-0E510A0DB90A}"/>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224B23FE-7566-1C60-6A43-278791133754}"/>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08F2F4A3-DFD3-83CE-F1A3-3B7718A3BD25}"/>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22CEC1EE-221B-D10A-5070-AC5480663409}"/>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8EB70336-5716-E8C3-3196-B4A4360C2701}"/>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EFA603F4-4367-6A1F-1EC9-AFB64777C7DF}"/>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C7CE5EDE-EE3A-CB1B-089D-197C959EC071}"/>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95A7A8D8-0830-D988-82BA-D3B00860C217}"/>
              </a:ext>
            </a:extLst>
          </p:cNvPr>
          <p:cNvSpPr/>
          <p:nvPr/>
        </p:nvSpPr>
        <p:spPr>
          <a:xfrm>
            <a:off x="1993392" y="91440"/>
            <a:ext cx="6400800" cy="411480"/>
          </a:xfrm>
          <a:prstGeom prst="rect">
            <a:avLst/>
          </a:prstGeom>
          <a:noFill/>
          <a:ln/>
        </p:spPr>
        <p:txBody>
          <a:bodyPr wrap="square" lIns="0" tIns="0" rIns="0" bIns="0" rtlCol="0" anchor="ctr"/>
          <a:lstStyle/>
          <a:p>
            <a:r>
              <a:rPr lang="fr-FR" b="1" dirty="0">
                <a:solidFill>
                  <a:srgbClr val="1A1A1A"/>
                </a:solidFill>
                <a:latin typeface="Calibri" pitchFamily="34" charset="0"/>
                <a:ea typeface="Calibri" pitchFamily="34" charset="-122"/>
                <a:cs typeface="Calibri" pitchFamily="34" charset="-120"/>
              </a:rPr>
              <a:t>Architecture Logique vs Architecture Physique</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76934EF0-EACF-A2E5-C8C4-48FD591A60CC}"/>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346B7217-7461-A09D-87FD-0DE78714EF51}"/>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C500F1D1-42C0-B21F-D5B1-F20CB302EBE5}"/>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84A7768C-01E9-E9CC-FEC5-6133EA5FFDF9}"/>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42</a:t>
            </a:r>
            <a:endParaRPr lang="en-US" sz="900" dirty="0"/>
          </a:p>
        </p:txBody>
      </p:sp>
      <p:pic>
        <p:nvPicPr>
          <p:cNvPr id="18" name="object 2">
            <a:extLst>
              <a:ext uri="{FF2B5EF4-FFF2-40B4-BE49-F238E27FC236}">
                <a16:creationId xmlns:a16="http://schemas.microsoft.com/office/drawing/2014/main" id="{82808C73-962A-403F-AD96-3F17C597C8A4}"/>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CCC5E6DE-3339-BCB3-2B77-1A0AC6A3CA9A}"/>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7" name="Text 4">
            <a:extLst>
              <a:ext uri="{FF2B5EF4-FFF2-40B4-BE49-F238E27FC236}">
                <a16:creationId xmlns:a16="http://schemas.microsoft.com/office/drawing/2014/main" id="{A6E21FA6-2E67-B373-FA79-C79569413CA7}"/>
              </a:ext>
            </a:extLst>
          </p:cNvPr>
          <p:cNvSpPr/>
          <p:nvPr/>
        </p:nvSpPr>
        <p:spPr>
          <a:xfrm>
            <a:off x="274320" y="700186"/>
            <a:ext cx="7922623" cy="3506054"/>
          </a:xfrm>
          <a:prstGeom prst="rect">
            <a:avLst/>
          </a:prstGeom>
          <a:noFill/>
          <a:ln/>
        </p:spPr>
        <p:txBody>
          <a:bodyPr wrap="square" rtlCol="0" anchor="t"/>
          <a:lstStyle/>
          <a:p>
            <a:pPr marL="285750" indent="-285750" algn="just">
              <a:lnSpc>
                <a:spcPct val="150000"/>
              </a:lnSpc>
              <a:buFont typeface="Arial" panose="020B0604020202020204" pitchFamily="34" charset="0"/>
              <a:buChar char="•"/>
            </a:pPr>
            <a:r>
              <a:rPr lang="fr-FR" sz="1200" dirty="0"/>
              <a:t>Il est important de distinguer deux niveaux de description d'une architecture logicielle. Ces deux visions sont complémentaires et répondent à des questions différentes.</a:t>
            </a:r>
            <a:endParaRPr lang="en-US" sz="1200" dirty="0"/>
          </a:p>
        </p:txBody>
      </p:sp>
      <p:sp>
        <p:nvSpPr>
          <p:cNvPr id="16" name="Text 4">
            <a:extLst>
              <a:ext uri="{FF2B5EF4-FFF2-40B4-BE49-F238E27FC236}">
                <a16:creationId xmlns:a16="http://schemas.microsoft.com/office/drawing/2014/main" id="{59523612-6713-C50E-DAAD-90CBC4A32A0D}"/>
              </a:ext>
            </a:extLst>
          </p:cNvPr>
          <p:cNvSpPr/>
          <p:nvPr/>
        </p:nvSpPr>
        <p:spPr>
          <a:xfrm>
            <a:off x="2353993" y="3991171"/>
            <a:ext cx="5528535" cy="678705"/>
          </a:xfrm>
          <a:prstGeom prst="rect">
            <a:avLst/>
          </a:prstGeom>
          <a:noFill/>
          <a:ln/>
        </p:spPr>
        <p:txBody>
          <a:bodyPr wrap="square" rtlCol="0" anchor="t"/>
          <a:lstStyle/>
          <a:p>
            <a:r>
              <a:rPr lang="fr-FR" sz="1100" b="1" dirty="0"/>
              <a:t>À retenir :</a:t>
            </a:r>
          </a:p>
          <a:p>
            <a:pPr marL="285750" indent="-285750">
              <a:buFont typeface="Arial" panose="020B0604020202020204" pitchFamily="34" charset="0"/>
              <a:buChar char="•"/>
            </a:pPr>
            <a:r>
              <a:rPr lang="fr-FR" sz="1100" dirty="0"/>
              <a:t>L'architecture logique définit ce que fait le code et comment il est organisé. </a:t>
            </a:r>
          </a:p>
          <a:p>
            <a:pPr marL="285750" indent="-285750">
              <a:buFont typeface="Arial" panose="020B0604020202020204" pitchFamily="34" charset="0"/>
              <a:buChar char="•"/>
            </a:pPr>
            <a:r>
              <a:rPr lang="fr-FR" sz="1100" dirty="0"/>
              <a:t>L'architecture physique définit où tourne ce code et sur quelle infrastructure.</a:t>
            </a:r>
          </a:p>
          <a:p>
            <a:pPr marL="285750" indent="-285750" algn="just">
              <a:lnSpc>
                <a:spcPct val="150000"/>
              </a:lnSpc>
              <a:buFont typeface="Arial" panose="020B0604020202020204" pitchFamily="34" charset="0"/>
              <a:buChar char="•"/>
            </a:pPr>
            <a:endParaRPr lang="en-US" sz="1100" dirty="0"/>
          </a:p>
        </p:txBody>
      </p:sp>
      <p:pic>
        <p:nvPicPr>
          <p:cNvPr id="20" name="Picture 19">
            <a:extLst>
              <a:ext uri="{FF2B5EF4-FFF2-40B4-BE49-F238E27FC236}">
                <a16:creationId xmlns:a16="http://schemas.microsoft.com/office/drawing/2014/main" id="{750D9536-2204-189D-6381-9E7DD5C99DBF}"/>
              </a:ext>
            </a:extLst>
          </p:cNvPr>
          <p:cNvPicPr>
            <a:picLocks noChangeAspect="1"/>
          </p:cNvPicPr>
          <p:nvPr/>
        </p:nvPicPr>
        <p:blipFill>
          <a:blip r:embed="rId7"/>
          <a:stretch>
            <a:fillRect/>
          </a:stretch>
        </p:blipFill>
        <p:spPr>
          <a:xfrm>
            <a:off x="1625019" y="1311394"/>
            <a:ext cx="5893961" cy="2482511"/>
          </a:xfrm>
          <a:prstGeom prst="rect">
            <a:avLst/>
          </a:prstGeom>
        </p:spPr>
      </p:pic>
      <p:sp>
        <p:nvSpPr>
          <p:cNvPr id="21" name="TextBox 20">
            <a:extLst>
              <a:ext uri="{FF2B5EF4-FFF2-40B4-BE49-F238E27FC236}">
                <a16:creationId xmlns:a16="http://schemas.microsoft.com/office/drawing/2014/main" id="{85CF8E03-6F06-951D-5476-9BCA44B0F0E3}"/>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Tree>
    <p:extLst>
      <p:ext uri="{BB962C8B-B14F-4D97-AF65-F5344CB8AC3E}">
        <p14:creationId xmlns:p14="http://schemas.microsoft.com/office/powerpoint/2010/main" val="16166780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4345D60-6EB5-5426-3247-387413DBEA25}"/>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2BC5870-D2DF-2334-BAD6-C32B7F9AE584}"/>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13E0322C-ACF9-84E8-8B5E-CD84F941814A}"/>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CBFF0552-A175-63E7-3972-3E2EC4AF3C78}"/>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AF9576D5-0CEE-EDD4-E7FE-A38D517B797E}"/>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D5FD40F3-47D5-FB9F-027A-A3D3BB7AE227}"/>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2E77EFAE-DD49-573B-F037-081EC26F6133}"/>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B3B63854-4511-0D13-C763-97A614AF0CD5}"/>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Style Architectural - Architecture N-Tiers </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9956732C-463F-2ECA-6063-040C9336E4DF}"/>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B0575F9F-6B62-7D14-211C-6D9476FCC637}"/>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818E1C64-AAA3-A674-FCF9-5ABDDEBCF7DF}"/>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4665FF80-3E0C-779E-DE6B-58515EDE0963}"/>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43</a:t>
            </a:r>
            <a:endParaRPr lang="en-US" sz="900" dirty="0"/>
          </a:p>
        </p:txBody>
      </p:sp>
      <p:pic>
        <p:nvPicPr>
          <p:cNvPr id="18" name="object 2">
            <a:extLst>
              <a:ext uri="{FF2B5EF4-FFF2-40B4-BE49-F238E27FC236}">
                <a16:creationId xmlns:a16="http://schemas.microsoft.com/office/drawing/2014/main" id="{2C1FCFFB-289C-89E9-7716-438861CC8149}"/>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65D41A63-090B-26A3-5F4C-288CC1820C74}"/>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7" name="Text 4">
            <a:extLst>
              <a:ext uri="{FF2B5EF4-FFF2-40B4-BE49-F238E27FC236}">
                <a16:creationId xmlns:a16="http://schemas.microsoft.com/office/drawing/2014/main" id="{7622FB77-6583-F0D4-0382-C65F5B4C7EEB}"/>
              </a:ext>
            </a:extLst>
          </p:cNvPr>
          <p:cNvSpPr/>
          <p:nvPr/>
        </p:nvSpPr>
        <p:spPr>
          <a:xfrm>
            <a:off x="320040" y="836538"/>
            <a:ext cx="8046720" cy="1136554"/>
          </a:xfrm>
          <a:prstGeom prst="rect">
            <a:avLst/>
          </a:prstGeom>
          <a:noFill/>
          <a:ln/>
        </p:spPr>
        <p:txBody>
          <a:bodyPr wrap="square" rtlCol="0" anchor="t"/>
          <a:lstStyle/>
          <a:p>
            <a:pPr>
              <a:lnSpc>
                <a:spcPct val="150000"/>
              </a:lnSpc>
            </a:pPr>
            <a:r>
              <a:rPr lang="fr-FR" sz="1400" dirty="0"/>
              <a:t>      L'architecture N-Tiers organise une application en tiers distincts, chacun ayant une responsabilité précise et ne communiquant qu'avec le tier adjacent. Ce découpage technique favorise la séparation des préoccupations et facilite la maintenabilité du code.</a:t>
            </a:r>
            <a:endParaRPr lang="en-GB" sz="1400" dirty="0"/>
          </a:p>
          <a:p>
            <a:pPr marL="285750" indent="-285750">
              <a:lnSpc>
                <a:spcPct val="150000"/>
              </a:lnSpc>
              <a:buFont typeface="Arial" panose="020B0604020202020204" pitchFamily="34" charset="0"/>
              <a:buChar char="•"/>
            </a:pPr>
            <a:endParaRPr lang="en-GB" sz="1400" dirty="0"/>
          </a:p>
          <a:p>
            <a:pPr marL="285750" indent="-285750">
              <a:lnSpc>
                <a:spcPct val="150000"/>
              </a:lnSpc>
              <a:buFont typeface="Arial" panose="020B0604020202020204" pitchFamily="34" charset="0"/>
              <a:buChar char="•"/>
            </a:pPr>
            <a:endParaRPr lang="en-GB" sz="1400" dirty="0"/>
          </a:p>
          <a:p>
            <a:pPr>
              <a:lnSpc>
                <a:spcPct val="125000"/>
              </a:lnSpc>
              <a:buSzPct val="100000"/>
            </a:pPr>
            <a:endParaRPr lang="en-US" sz="1400" dirty="0"/>
          </a:p>
        </p:txBody>
      </p:sp>
      <p:grpSp>
        <p:nvGrpSpPr>
          <p:cNvPr id="24" name="Group 23">
            <a:extLst>
              <a:ext uri="{FF2B5EF4-FFF2-40B4-BE49-F238E27FC236}">
                <a16:creationId xmlns:a16="http://schemas.microsoft.com/office/drawing/2014/main" id="{3A155887-3DE5-F2AA-228F-CBEF52AB19CC}"/>
              </a:ext>
            </a:extLst>
          </p:cNvPr>
          <p:cNvGrpSpPr/>
          <p:nvPr/>
        </p:nvGrpSpPr>
        <p:grpSpPr>
          <a:xfrm>
            <a:off x="508798" y="1579535"/>
            <a:ext cx="8126402" cy="2727427"/>
            <a:chOff x="862149" y="2255779"/>
            <a:chExt cx="6962502" cy="2204162"/>
          </a:xfrm>
        </p:grpSpPr>
        <p:pic>
          <p:nvPicPr>
            <p:cNvPr id="22" name="Picture 21">
              <a:extLst>
                <a:ext uri="{FF2B5EF4-FFF2-40B4-BE49-F238E27FC236}">
                  <a16:creationId xmlns:a16="http://schemas.microsoft.com/office/drawing/2014/main" id="{C8BCAC27-B250-39B5-887C-31D4317A7FB2}"/>
                </a:ext>
              </a:extLst>
            </p:cNvPr>
            <p:cNvPicPr>
              <a:picLocks noChangeAspect="1"/>
            </p:cNvPicPr>
            <p:nvPr/>
          </p:nvPicPr>
          <p:blipFill>
            <a:blip r:embed="rId7"/>
            <a:stretch>
              <a:fillRect/>
            </a:stretch>
          </p:blipFill>
          <p:spPr>
            <a:xfrm>
              <a:off x="862149" y="2255779"/>
              <a:ext cx="6962502" cy="2204162"/>
            </a:xfrm>
            <a:prstGeom prst="rect">
              <a:avLst/>
            </a:prstGeom>
          </p:spPr>
        </p:pic>
        <p:pic>
          <p:nvPicPr>
            <p:cNvPr id="4100" name="Picture 4" descr="Angular logo - free Icon PNG, SVG">
              <a:extLst>
                <a:ext uri="{FF2B5EF4-FFF2-40B4-BE49-F238E27FC236}">
                  <a16:creationId xmlns:a16="http://schemas.microsoft.com/office/drawing/2014/main" id="{A6A90F53-43CD-A6E5-FDFF-8EB45AE24ED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10425" y="2777163"/>
              <a:ext cx="245582" cy="245582"/>
            </a:xfrm>
            <a:prstGeom prst="rect">
              <a:avLst/>
            </a:prstGeom>
            <a:noFill/>
            <a:extLst>
              <a:ext uri="{909E8E84-426E-40DD-AFC4-6F175D3DCCD1}">
                <a14:hiddenFill xmlns:a14="http://schemas.microsoft.com/office/drawing/2010/main">
                  <a:solidFill>
                    <a:srgbClr val="FFFFFF"/>
                  </a:solidFill>
                </a14:hiddenFill>
              </a:ext>
            </a:extLst>
          </p:spPr>
        </p:pic>
        <p:pic>
          <p:nvPicPr>
            <p:cNvPr id="4108" name="Picture 12" descr="REST Web Service + CRUD in 5 minutes with Spring Boot and Spring Data REST  - Blog by Vincenzo Racca">
              <a:extLst>
                <a:ext uri="{FF2B5EF4-FFF2-40B4-BE49-F238E27FC236}">
                  <a16:creationId xmlns:a16="http://schemas.microsoft.com/office/drawing/2014/main" id="{37C183C3-04D6-4531-09D4-0EE118E958A6}"/>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b="42433"/>
            <a:stretch>
              <a:fillRect/>
            </a:stretch>
          </p:blipFill>
          <p:spPr bwMode="auto">
            <a:xfrm>
              <a:off x="4836306" y="2644854"/>
              <a:ext cx="1103378" cy="431444"/>
            </a:xfrm>
            <a:prstGeom prst="rect">
              <a:avLst/>
            </a:prstGeom>
            <a:noFill/>
            <a:extLst>
              <a:ext uri="{909E8E84-426E-40DD-AFC4-6F175D3DCCD1}">
                <a14:hiddenFill xmlns:a14="http://schemas.microsoft.com/office/drawing/2010/main">
                  <a:solidFill>
                    <a:srgbClr val="FFFFFF"/>
                  </a:solidFill>
                </a14:hiddenFill>
              </a:ext>
            </a:extLst>
          </p:spPr>
        </p:pic>
        <p:pic>
          <p:nvPicPr>
            <p:cNvPr id="4110" name="Picture 14" descr="MySQL Database Consulting, Deployment &amp; Managed Support Services in US &amp;  India">
              <a:extLst>
                <a:ext uri="{FF2B5EF4-FFF2-40B4-BE49-F238E27FC236}">
                  <a16:creationId xmlns:a16="http://schemas.microsoft.com/office/drawing/2014/main" id="{6DE7FF84-966F-A31C-D83A-4689F71254C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54026" y="2614641"/>
              <a:ext cx="570625" cy="570625"/>
            </a:xfrm>
            <a:prstGeom prst="rect">
              <a:avLst/>
            </a:prstGeom>
            <a:noFill/>
            <a:extLst>
              <a:ext uri="{909E8E84-426E-40DD-AFC4-6F175D3DCCD1}">
                <a14:hiddenFill xmlns:a14="http://schemas.microsoft.com/office/drawing/2010/main">
                  <a:solidFill>
                    <a:srgbClr val="FFFFFF"/>
                  </a:solidFill>
                </a14:hiddenFill>
              </a:ext>
            </a:extLst>
          </p:spPr>
        </p:pic>
      </p:grpSp>
      <p:sp>
        <p:nvSpPr>
          <p:cNvPr id="25" name="Text 4">
            <a:extLst>
              <a:ext uri="{FF2B5EF4-FFF2-40B4-BE49-F238E27FC236}">
                <a16:creationId xmlns:a16="http://schemas.microsoft.com/office/drawing/2014/main" id="{01D0613E-BA81-D343-65D1-3565302BE33C}"/>
              </a:ext>
            </a:extLst>
          </p:cNvPr>
          <p:cNvSpPr/>
          <p:nvPr/>
        </p:nvSpPr>
        <p:spPr>
          <a:xfrm>
            <a:off x="548639" y="3668618"/>
            <a:ext cx="8046720" cy="1136554"/>
          </a:xfrm>
          <a:prstGeom prst="rect">
            <a:avLst/>
          </a:prstGeom>
          <a:noFill/>
          <a:ln/>
        </p:spPr>
        <p:txBody>
          <a:bodyPr wrap="square" rtlCol="0" anchor="t"/>
          <a:lstStyle/>
          <a:p>
            <a:pPr algn="ctr">
              <a:lnSpc>
                <a:spcPct val="150000"/>
              </a:lnSpc>
            </a:pPr>
            <a:r>
              <a:rPr lang="fr-FR" sz="1400" b="1" dirty="0"/>
              <a:t>Architecture N-Tiers, N=4</a:t>
            </a:r>
            <a:endParaRPr lang="en-GB" sz="1400" b="1" dirty="0"/>
          </a:p>
          <a:p>
            <a:pPr marL="285750" indent="-285750">
              <a:lnSpc>
                <a:spcPct val="150000"/>
              </a:lnSpc>
              <a:buFont typeface="Arial" panose="020B0604020202020204" pitchFamily="34" charset="0"/>
              <a:buChar char="•"/>
            </a:pPr>
            <a:endParaRPr lang="en-GB" sz="1400" dirty="0"/>
          </a:p>
          <a:p>
            <a:pPr>
              <a:lnSpc>
                <a:spcPct val="125000"/>
              </a:lnSpc>
              <a:buSzPct val="100000"/>
            </a:pPr>
            <a:endParaRPr lang="en-US" sz="1400" dirty="0"/>
          </a:p>
        </p:txBody>
      </p:sp>
      <p:sp>
        <p:nvSpPr>
          <p:cNvPr id="11" name="TextBox 10">
            <a:extLst>
              <a:ext uri="{FF2B5EF4-FFF2-40B4-BE49-F238E27FC236}">
                <a16:creationId xmlns:a16="http://schemas.microsoft.com/office/drawing/2014/main" id="{CB76371D-0613-EED4-A319-CB136D495FBA}"/>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Tree>
    <p:extLst>
      <p:ext uri="{BB962C8B-B14F-4D97-AF65-F5344CB8AC3E}">
        <p14:creationId xmlns:p14="http://schemas.microsoft.com/office/powerpoint/2010/main" val="36912971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E183396-BFDB-B3DB-1868-CB78EF5632A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208ACA6D-BB66-F4E6-F576-24EBAF008907}"/>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945A44A2-F943-999E-EDAB-4406A2DE4CCB}"/>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CAB68C19-BB58-8CC7-F317-FE9E5BEB2D05}"/>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08ED8E1E-819B-CC60-92EA-5DDE1E8D1999}"/>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BCD44A6E-A185-FF64-4B91-FF8FCF4D1FFD}"/>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851FE741-1462-486A-CF4B-ABD10474F945}"/>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5E2C718E-E6DD-47DD-62E0-DDF394D690CE}"/>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Style Architectural - Architecture N-Tiers </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080D82F8-26D3-E1B8-BEC6-8FC099FFD32F}"/>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1" name="Shape 4">
            <a:extLst>
              <a:ext uri="{FF2B5EF4-FFF2-40B4-BE49-F238E27FC236}">
                <a16:creationId xmlns:a16="http://schemas.microsoft.com/office/drawing/2014/main" id="{F72732C7-91BA-BB38-CD69-8F7854486D97}"/>
              </a:ext>
            </a:extLst>
          </p:cNvPr>
          <p:cNvSpPr/>
          <p:nvPr/>
        </p:nvSpPr>
        <p:spPr>
          <a:xfrm>
            <a:off x="4526280" y="749808"/>
            <a:ext cx="27432" cy="3931920"/>
          </a:xfrm>
          <a:prstGeom prst="rect">
            <a:avLst/>
          </a:prstGeom>
          <a:solidFill>
            <a:srgbClr val="D9D9D9"/>
          </a:solidFill>
          <a:ln w="12700">
            <a:solidFill>
              <a:srgbClr val="D9D9D9"/>
            </a:solidFill>
            <a:prstDash val="solid"/>
          </a:ln>
        </p:spPr>
        <p:txBody>
          <a:bodyPr/>
          <a:lstStyle/>
          <a:p>
            <a:endParaRPr lang="en-GB"/>
          </a:p>
        </p:txBody>
      </p:sp>
      <p:sp>
        <p:nvSpPr>
          <p:cNvPr id="12" name="Text 5">
            <a:extLst>
              <a:ext uri="{FF2B5EF4-FFF2-40B4-BE49-F238E27FC236}">
                <a16:creationId xmlns:a16="http://schemas.microsoft.com/office/drawing/2014/main" id="{A45B83CD-A795-E2E5-FA1C-CE52D43BB770}"/>
              </a:ext>
            </a:extLst>
          </p:cNvPr>
          <p:cNvSpPr/>
          <p:nvPr/>
        </p:nvSpPr>
        <p:spPr>
          <a:xfrm>
            <a:off x="1508760" y="762871"/>
            <a:ext cx="3931920" cy="365760"/>
          </a:xfrm>
          <a:prstGeom prst="rect">
            <a:avLst/>
          </a:prstGeom>
          <a:noFill/>
          <a:ln/>
        </p:spPr>
        <p:txBody>
          <a:bodyPr wrap="square" rtlCol="0" anchor="ctr"/>
          <a:lstStyle/>
          <a:p>
            <a:r>
              <a:rPr lang="en-GB" sz="1400" b="1" dirty="0" err="1">
                <a:solidFill>
                  <a:srgbClr val="C00000"/>
                </a:solidFill>
                <a:latin typeface="Calibri" pitchFamily="34" charset="0"/>
                <a:ea typeface="Calibri" pitchFamily="34" charset="-122"/>
                <a:cs typeface="Calibri" pitchFamily="34" charset="-120"/>
              </a:rPr>
              <a:t>Avantages</a:t>
            </a:r>
            <a:r>
              <a:rPr lang="en-GB" sz="1400" dirty="0"/>
              <a:t> </a:t>
            </a:r>
            <a:endParaRPr lang="en-US" sz="1400" dirty="0"/>
          </a:p>
        </p:txBody>
      </p:sp>
      <p:sp>
        <p:nvSpPr>
          <p:cNvPr id="13" name="Text 6">
            <a:extLst>
              <a:ext uri="{FF2B5EF4-FFF2-40B4-BE49-F238E27FC236}">
                <a16:creationId xmlns:a16="http://schemas.microsoft.com/office/drawing/2014/main" id="{C85A9312-296F-7A42-9695-DFDB5165B5B6}"/>
              </a:ext>
            </a:extLst>
          </p:cNvPr>
          <p:cNvSpPr/>
          <p:nvPr/>
        </p:nvSpPr>
        <p:spPr>
          <a:xfrm>
            <a:off x="222069" y="1188720"/>
            <a:ext cx="4368221" cy="3383280"/>
          </a:xfrm>
          <a:prstGeom prst="rect">
            <a:avLst/>
          </a:prstGeom>
          <a:noFill/>
          <a:ln/>
        </p:spPr>
        <p:txBody>
          <a:bodyPr wrap="square" rtlCol="0" anchor="t"/>
          <a:lstStyle/>
          <a:p>
            <a:pPr marL="285750" indent="-285750">
              <a:lnSpc>
                <a:spcPct val="150000"/>
              </a:lnSpc>
              <a:buFont typeface="Wingdings" panose="05000000000000000000" pitchFamily="2" charset="2"/>
              <a:buChar char="ü"/>
            </a:pPr>
            <a:r>
              <a:rPr lang="fr-FR" sz="1400" dirty="0"/>
              <a:t>Séparation claire des responsabilités entre les tiers</a:t>
            </a:r>
          </a:p>
          <a:p>
            <a:pPr marL="285750" indent="-285750">
              <a:lnSpc>
                <a:spcPct val="150000"/>
              </a:lnSpc>
              <a:buFont typeface="Wingdings" panose="05000000000000000000" pitchFamily="2" charset="2"/>
              <a:buChar char="ü"/>
            </a:pPr>
            <a:r>
              <a:rPr lang="fr-FR" sz="1400" dirty="0"/>
              <a:t>Facilite la maintenance : une modification dans un tier n'impacte pas les autres</a:t>
            </a:r>
          </a:p>
          <a:p>
            <a:pPr marL="285750" indent="-285750">
              <a:lnSpc>
                <a:spcPct val="150000"/>
              </a:lnSpc>
              <a:buFont typeface="Wingdings" panose="05000000000000000000" pitchFamily="2" charset="2"/>
              <a:buChar char="ü"/>
            </a:pPr>
            <a:r>
              <a:rPr lang="fr-FR" sz="1400" dirty="0"/>
              <a:t>Chaque tier peut évoluer ou être remplacé indépendamment</a:t>
            </a:r>
          </a:p>
          <a:p>
            <a:pPr marL="285750" indent="-285750">
              <a:lnSpc>
                <a:spcPct val="150000"/>
              </a:lnSpc>
              <a:buFont typeface="Wingdings" panose="05000000000000000000" pitchFamily="2" charset="2"/>
              <a:buChar char="ü"/>
            </a:pPr>
            <a:r>
              <a:rPr lang="fr-FR" sz="1400" dirty="0"/>
              <a:t>Travail en équipe facilité : les développeurs frontend et backend travaillent sur des tiers distincts</a:t>
            </a:r>
          </a:p>
          <a:p>
            <a:pPr marL="285750" indent="-285750">
              <a:lnSpc>
                <a:spcPct val="150000"/>
              </a:lnSpc>
              <a:buFont typeface="Wingdings" panose="05000000000000000000" pitchFamily="2" charset="2"/>
              <a:buChar char="ü"/>
            </a:pPr>
            <a:r>
              <a:rPr lang="fr-FR" sz="1400" dirty="0"/>
              <a:t>Testabilité améliorée : chaque tier peut être testé de manière isolée</a:t>
            </a:r>
          </a:p>
        </p:txBody>
      </p:sp>
      <p:sp>
        <p:nvSpPr>
          <p:cNvPr id="14" name="Text 7">
            <a:extLst>
              <a:ext uri="{FF2B5EF4-FFF2-40B4-BE49-F238E27FC236}">
                <a16:creationId xmlns:a16="http://schemas.microsoft.com/office/drawing/2014/main" id="{53733DE9-7CAB-378D-DAA0-0E7CD218D182}"/>
              </a:ext>
            </a:extLst>
          </p:cNvPr>
          <p:cNvSpPr/>
          <p:nvPr/>
        </p:nvSpPr>
        <p:spPr>
          <a:xfrm>
            <a:off x="6035040" y="768096"/>
            <a:ext cx="3931920" cy="365760"/>
          </a:xfrm>
          <a:prstGeom prst="rect">
            <a:avLst/>
          </a:prstGeom>
          <a:noFill/>
          <a:ln/>
        </p:spPr>
        <p:txBody>
          <a:bodyPr wrap="square" rtlCol="0" anchor="ctr"/>
          <a:lstStyle/>
          <a:p>
            <a:r>
              <a:rPr lang="en-GB" sz="1400" b="1" dirty="0" err="1">
                <a:solidFill>
                  <a:srgbClr val="C00000"/>
                </a:solidFill>
                <a:latin typeface="Calibri" pitchFamily="34" charset="0"/>
                <a:ea typeface="Calibri" pitchFamily="34" charset="-122"/>
                <a:cs typeface="Calibri" pitchFamily="34" charset="-120"/>
              </a:rPr>
              <a:t>Inconvénients</a:t>
            </a:r>
            <a:r>
              <a:rPr lang="en-GB" sz="1400" dirty="0"/>
              <a:t> </a:t>
            </a:r>
            <a:endParaRPr lang="en-US" sz="1400" dirty="0"/>
          </a:p>
        </p:txBody>
      </p:sp>
      <p:sp>
        <p:nvSpPr>
          <p:cNvPr id="15" name="Text 8">
            <a:extLst>
              <a:ext uri="{FF2B5EF4-FFF2-40B4-BE49-F238E27FC236}">
                <a16:creationId xmlns:a16="http://schemas.microsoft.com/office/drawing/2014/main" id="{3E624316-D53E-51F7-FAAC-8E283DE08A12}"/>
              </a:ext>
            </a:extLst>
          </p:cNvPr>
          <p:cNvSpPr/>
          <p:nvPr/>
        </p:nvSpPr>
        <p:spPr>
          <a:xfrm>
            <a:off x="4754880" y="1188720"/>
            <a:ext cx="3931920" cy="3383280"/>
          </a:xfrm>
          <a:prstGeom prst="rect">
            <a:avLst/>
          </a:prstGeom>
          <a:noFill/>
          <a:ln/>
        </p:spPr>
        <p:txBody>
          <a:bodyPr wrap="square" rtlCol="0" anchor="t"/>
          <a:lstStyle/>
          <a:p>
            <a:pPr marL="285750" indent="-285750">
              <a:lnSpc>
                <a:spcPct val="150000"/>
              </a:lnSpc>
              <a:buFont typeface="Calibri" panose="020F0502020204030204" pitchFamily="34" charset="0"/>
              <a:buChar char="₋"/>
            </a:pPr>
            <a:r>
              <a:rPr lang="fr-FR" sz="1400" dirty="0"/>
              <a:t>L'ensemble du backend reste déployé en un seul bloc</a:t>
            </a:r>
          </a:p>
          <a:p>
            <a:pPr marL="285750" indent="-285750">
              <a:lnSpc>
                <a:spcPct val="150000"/>
              </a:lnSpc>
              <a:buFont typeface="Calibri" panose="020F0502020204030204" pitchFamily="34" charset="0"/>
              <a:buChar char="₋"/>
            </a:pPr>
            <a:r>
              <a:rPr lang="fr-FR" sz="1400" dirty="0"/>
              <a:t>Une montée en charge nécessite de </a:t>
            </a:r>
            <a:r>
              <a:rPr lang="fr-FR" sz="1400" dirty="0" err="1"/>
              <a:t>scaler</a:t>
            </a:r>
            <a:r>
              <a:rPr lang="fr-FR" sz="1400" dirty="0"/>
              <a:t> toute l'application et non un tier spécifique</a:t>
            </a:r>
          </a:p>
          <a:p>
            <a:pPr marL="285750" indent="-285750">
              <a:lnSpc>
                <a:spcPct val="150000"/>
              </a:lnSpc>
              <a:buFont typeface="Calibri" panose="020F0502020204030204" pitchFamily="34" charset="0"/>
              <a:buChar char="₋"/>
            </a:pPr>
            <a:r>
              <a:rPr lang="fr-FR" sz="1400" dirty="0"/>
              <a:t>La multiplication des tiers peut introduire une latence supplémentaire</a:t>
            </a:r>
          </a:p>
        </p:txBody>
      </p:sp>
      <p:sp>
        <p:nvSpPr>
          <p:cNvPr id="16" name="Shape 9">
            <a:extLst>
              <a:ext uri="{FF2B5EF4-FFF2-40B4-BE49-F238E27FC236}">
                <a16:creationId xmlns:a16="http://schemas.microsoft.com/office/drawing/2014/main" id="{75F62232-89C7-FC54-95DC-2468B09F041D}"/>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7" name="Shape 10">
            <a:extLst>
              <a:ext uri="{FF2B5EF4-FFF2-40B4-BE49-F238E27FC236}">
                <a16:creationId xmlns:a16="http://schemas.microsoft.com/office/drawing/2014/main" id="{17030B91-B8C7-E0B1-01E9-818B52C6AE0F}"/>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a:p>
        </p:txBody>
      </p:sp>
      <p:pic>
        <p:nvPicPr>
          <p:cNvPr id="22" name="object 2">
            <a:extLst>
              <a:ext uri="{FF2B5EF4-FFF2-40B4-BE49-F238E27FC236}">
                <a16:creationId xmlns:a16="http://schemas.microsoft.com/office/drawing/2014/main" id="{1F4E6DA1-2880-7001-7506-62162FD4BFE7}"/>
              </a:ext>
            </a:extLst>
          </p:cNvPr>
          <p:cNvPicPr/>
          <p:nvPr/>
        </p:nvPicPr>
        <p:blipFill>
          <a:blip r:embed="rId5" cstate="print"/>
          <a:stretch>
            <a:fillRect/>
          </a:stretch>
        </p:blipFill>
        <p:spPr>
          <a:xfrm>
            <a:off x="0" y="88479"/>
            <a:ext cx="1591056" cy="537747"/>
          </a:xfrm>
          <a:prstGeom prst="rect">
            <a:avLst/>
          </a:prstGeom>
        </p:spPr>
      </p:pic>
      <p:sp>
        <p:nvSpPr>
          <p:cNvPr id="24" name="Text 7">
            <a:extLst>
              <a:ext uri="{FF2B5EF4-FFF2-40B4-BE49-F238E27FC236}">
                <a16:creationId xmlns:a16="http://schemas.microsoft.com/office/drawing/2014/main" id="{AA18BB78-CA21-5960-462A-7EA6E358B687}"/>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44</a:t>
            </a:r>
            <a:endParaRPr lang="en-US" sz="900" dirty="0"/>
          </a:p>
        </p:txBody>
      </p:sp>
      <p:sp>
        <p:nvSpPr>
          <p:cNvPr id="7" name="TextBox 6">
            <a:extLst>
              <a:ext uri="{FF2B5EF4-FFF2-40B4-BE49-F238E27FC236}">
                <a16:creationId xmlns:a16="http://schemas.microsoft.com/office/drawing/2014/main" id="{5B23814A-37B1-3ABC-78F1-4EBAFADF0BEF}"/>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Tree>
    <p:extLst>
      <p:ext uri="{BB962C8B-B14F-4D97-AF65-F5344CB8AC3E}">
        <p14:creationId xmlns:p14="http://schemas.microsoft.com/office/powerpoint/2010/main" val="21440005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B655221-E864-FF24-F4ED-1DD11D7B26B3}"/>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84683F16-D4DA-B3A2-1770-7FD3CA8C81F4}"/>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67D4F043-A4CD-6AF6-4722-E2A7CDAD1014}"/>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066A50EA-020D-EB9B-0968-C31C374F38F8}"/>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656745E0-A8EA-3BB2-CD8F-A2A62C601598}"/>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9E8923F0-860E-0D94-D46D-C76888CE3E83}"/>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A704CFBC-8D68-B818-786E-75C9D69637FD}"/>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AFC5D0E0-7199-0770-F7CD-40D12F1C0A9E}"/>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A </a:t>
            </a:r>
            <a:r>
              <a:rPr lang="en-GB" b="1" dirty="0" err="1">
                <a:solidFill>
                  <a:srgbClr val="1A1A1A"/>
                </a:solidFill>
                <a:latin typeface="Calibri" pitchFamily="34" charset="0"/>
                <a:ea typeface="Calibri" pitchFamily="34" charset="-122"/>
                <a:cs typeface="Calibri" pitchFamily="34" charset="-120"/>
              </a:rPr>
              <a:t>retenir</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A931D6FC-9A1B-0762-F0BA-8232926B583D}"/>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EEEABCAC-47D7-5EB3-B577-167DE57D6CDB}"/>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63EFB93D-A156-4883-5146-19820421F37B}"/>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87473BFB-1687-A69A-62BD-1626A5EC419C}"/>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45</a:t>
            </a:r>
            <a:endParaRPr lang="en-US" sz="900" dirty="0"/>
          </a:p>
        </p:txBody>
      </p:sp>
      <p:pic>
        <p:nvPicPr>
          <p:cNvPr id="18" name="object 2">
            <a:extLst>
              <a:ext uri="{FF2B5EF4-FFF2-40B4-BE49-F238E27FC236}">
                <a16:creationId xmlns:a16="http://schemas.microsoft.com/office/drawing/2014/main" id="{46A29EA9-ADD6-BB6B-7DCB-BA889E816EB1}"/>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F977B293-6FBB-B92D-8E1E-ED6CF0397F7F}"/>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11" name="TextBox 10">
            <a:extLst>
              <a:ext uri="{FF2B5EF4-FFF2-40B4-BE49-F238E27FC236}">
                <a16:creationId xmlns:a16="http://schemas.microsoft.com/office/drawing/2014/main" id="{2B442D17-059F-9125-A634-8D7FDA414F36}"/>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grpSp>
        <p:nvGrpSpPr>
          <p:cNvPr id="14" name="Group 13">
            <a:extLst>
              <a:ext uri="{FF2B5EF4-FFF2-40B4-BE49-F238E27FC236}">
                <a16:creationId xmlns:a16="http://schemas.microsoft.com/office/drawing/2014/main" id="{75CFC927-21FF-EBDC-0E6E-CC6978550469}"/>
              </a:ext>
            </a:extLst>
          </p:cNvPr>
          <p:cNvGrpSpPr/>
          <p:nvPr/>
        </p:nvGrpSpPr>
        <p:grpSpPr>
          <a:xfrm>
            <a:off x="268336" y="1120140"/>
            <a:ext cx="8599394" cy="1655064"/>
            <a:chOff x="365760" y="1463040"/>
            <a:chExt cx="10881360" cy="2377440"/>
          </a:xfrm>
        </p:grpSpPr>
        <p:sp>
          <p:nvSpPr>
            <p:cNvPr id="15" name="Shape 0">
              <a:extLst>
                <a:ext uri="{FF2B5EF4-FFF2-40B4-BE49-F238E27FC236}">
                  <a16:creationId xmlns:a16="http://schemas.microsoft.com/office/drawing/2014/main" id="{46D01F92-884B-D1E0-EB56-556087679479}"/>
                </a:ext>
              </a:extLst>
            </p:cNvPr>
            <p:cNvSpPr/>
            <p:nvPr/>
          </p:nvSpPr>
          <p:spPr>
            <a:xfrm>
              <a:off x="457200" y="1463040"/>
              <a:ext cx="1554480" cy="685800"/>
            </a:xfrm>
            <a:prstGeom prst="roundRect">
              <a:avLst>
                <a:gd name="adj" fmla="val 49333"/>
              </a:avLst>
            </a:prstGeom>
            <a:solidFill>
              <a:srgbClr val="1E2A54"/>
            </a:solidFill>
            <a:ln/>
          </p:spPr>
          <p:txBody>
            <a:bodyPr/>
            <a:lstStyle/>
            <a:p>
              <a:endParaRPr lang="fr-FR" sz="1100"/>
            </a:p>
          </p:txBody>
        </p:sp>
        <p:sp>
          <p:nvSpPr>
            <p:cNvPr id="16" name="Text 1">
              <a:extLst>
                <a:ext uri="{FF2B5EF4-FFF2-40B4-BE49-F238E27FC236}">
                  <a16:creationId xmlns:a16="http://schemas.microsoft.com/office/drawing/2014/main" id="{D0C6CC5F-FEBC-091E-D3C0-C5246F3B84D9}"/>
                </a:ext>
              </a:extLst>
            </p:cNvPr>
            <p:cNvSpPr/>
            <p:nvPr/>
          </p:nvSpPr>
          <p:spPr>
            <a:xfrm>
              <a:off x="457200" y="1463040"/>
              <a:ext cx="1554480" cy="6858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Entreprise</a:t>
              </a:r>
              <a:endParaRPr lang="en-US" sz="1000" dirty="0"/>
            </a:p>
          </p:txBody>
        </p:sp>
        <p:sp>
          <p:nvSpPr>
            <p:cNvPr id="19" name="Text 2">
              <a:extLst>
                <a:ext uri="{FF2B5EF4-FFF2-40B4-BE49-F238E27FC236}">
                  <a16:creationId xmlns:a16="http://schemas.microsoft.com/office/drawing/2014/main" id="{A6327199-615B-02D8-92A7-D6011A5D4A6A}"/>
                </a:ext>
              </a:extLst>
            </p:cNvPr>
            <p:cNvSpPr/>
            <p:nvPr/>
          </p:nvSpPr>
          <p:spPr>
            <a:xfrm>
              <a:off x="2011680" y="1463040"/>
              <a:ext cx="274320" cy="685800"/>
            </a:xfrm>
            <a:prstGeom prst="rect">
              <a:avLst/>
            </a:prstGeom>
            <a:noFill/>
            <a:ln/>
          </p:spPr>
          <p:txBody>
            <a:bodyPr wrap="square" lIns="0" tIns="0" rIns="0" bIns="0" rtlCol="0" anchor="ctr"/>
            <a:lstStyle/>
            <a:p>
              <a:pPr marL="0" indent="0" algn="ctr">
                <a:buNone/>
              </a:pPr>
              <a:r>
                <a:rPr lang="en-US" sz="1200" b="1" dirty="0">
                  <a:solidFill>
                    <a:srgbClr val="2E8B99"/>
                  </a:solidFill>
                  <a:latin typeface="Calibri" pitchFamily="34" charset="0"/>
                  <a:ea typeface="Calibri" pitchFamily="34" charset="-122"/>
                  <a:cs typeface="Calibri" pitchFamily="34" charset="-120"/>
                </a:rPr>
                <a:t>→</a:t>
              </a:r>
              <a:endParaRPr lang="en-US" sz="1200" dirty="0"/>
            </a:p>
          </p:txBody>
        </p:sp>
        <p:sp>
          <p:nvSpPr>
            <p:cNvPr id="20" name="Text 3">
              <a:extLst>
                <a:ext uri="{FF2B5EF4-FFF2-40B4-BE49-F238E27FC236}">
                  <a16:creationId xmlns:a16="http://schemas.microsoft.com/office/drawing/2014/main" id="{900BBD0A-9F6B-78E3-F993-BDA1EA2E3A56}"/>
                </a:ext>
              </a:extLst>
            </p:cNvPr>
            <p:cNvSpPr/>
            <p:nvPr/>
          </p:nvSpPr>
          <p:spPr>
            <a:xfrm>
              <a:off x="365760" y="2377440"/>
              <a:ext cx="1737360" cy="1463040"/>
            </a:xfrm>
            <a:prstGeom prst="rect">
              <a:avLst/>
            </a:prstGeom>
            <a:noFill/>
            <a:ln/>
          </p:spPr>
          <p:txBody>
            <a:bodyPr wrap="square" lIns="0" tIns="0" rIns="0" bIns="0" rtlCol="0" anchor="t"/>
            <a:lstStyle/>
            <a:p>
              <a:pPr marL="0" indent="0" algn="ctr">
                <a:lnSpc>
                  <a:spcPct val="120000"/>
                </a:lnSpc>
                <a:buNone/>
              </a:pPr>
              <a:r>
                <a:rPr lang="en-US" sz="800" dirty="0">
                  <a:latin typeface="Calibri" pitchFamily="34" charset="0"/>
                  <a:ea typeface="Calibri" pitchFamily="34" charset="-122"/>
                  <a:cs typeface="Calibri" pitchFamily="34" charset="-120"/>
                </a:rPr>
                <a:t>Que fait l'organisation ?</a:t>
              </a:r>
              <a:endParaRPr lang="en-US" sz="800" dirty="0"/>
            </a:p>
            <a:p>
              <a:pPr marL="0" indent="0" algn="ctr">
                <a:lnSpc>
                  <a:spcPct val="120000"/>
                </a:lnSpc>
                <a:buNone/>
              </a:pPr>
              <a:r>
                <a:rPr lang="en-US" sz="800" dirty="0">
                  <a:latin typeface="Calibri" pitchFamily="34" charset="0"/>
                  <a:ea typeface="Calibri" pitchFamily="34" charset="-122"/>
                  <a:cs typeface="Calibri" pitchFamily="34" charset="-120"/>
                </a:rPr>
                <a:t>(ses métiers, ses objectifs)</a:t>
              </a:r>
              <a:endParaRPr lang="en-US" sz="800" dirty="0"/>
            </a:p>
          </p:txBody>
        </p:sp>
        <p:sp>
          <p:nvSpPr>
            <p:cNvPr id="21" name="Shape 4">
              <a:extLst>
                <a:ext uri="{FF2B5EF4-FFF2-40B4-BE49-F238E27FC236}">
                  <a16:creationId xmlns:a16="http://schemas.microsoft.com/office/drawing/2014/main" id="{1113252E-6683-D610-35E9-32BE8F465F8C}"/>
                </a:ext>
              </a:extLst>
            </p:cNvPr>
            <p:cNvSpPr/>
            <p:nvPr/>
          </p:nvSpPr>
          <p:spPr>
            <a:xfrm>
              <a:off x="2286000" y="1463040"/>
              <a:ext cx="1554480" cy="685800"/>
            </a:xfrm>
            <a:prstGeom prst="roundRect">
              <a:avLst>
                <a:gd name="adj" fmla="val 49333"/>
              </a:avLst>
            </a:prstGeom>
            <a:solidFill>
              <a:srgbClr val="1E2A54"/>
            </a:solidFill>
            <a:ln/>
          </p:spPr>
          <p:txBody>
            <a:bodyPr/>
            <a:lstStyle/>
            <a:p>
              <a:endParaRPr lang="fr-FR" sz="1100"/>
            </a:p>
          </p:txBody>
        </p:sp>
        <p:sp>
          <p:nvSpPr>
            <p:cNvPr id="22" name="Text 5">
              <a:extLst>
                <a:ext uri="{FF2B5EF4-FFF2-40B4-BE49-F238E27FC236}">
                  <a16:creationId xmlns:a16="http://schemas.microsoft.com/office/drawing/2014/main" id="{A043363E-D63F-6AE8-AD33-E73AEBF2E13D}"/>
                </a:ext>
              </a:extLst>
            </p:cNvPr>
            <p:cNvSpPr/>
            <p:nvPr/>
          </p:nvSpPr>
          <p:spPr>
            <a:xfrm>
              <a:off x="2286000" y="1463040"/>
              <a:ext cx="1554480" cy="6858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SI</a:t>
              </a:r>
              <a:endParaRPr lang="en-US" sz="1000" dirty="0"/>
            </a:p>
          </p:txBody>
        </p:sp>
        <p:sp>
          <p:nvSpPr>
            <p:cNvPr id="23" name="Text 6">
              <a:extLst>
                <a:ext uri="{FF2B5EF4-FFF2-40B4-BE49-F238E27FC236}">
                  <a16:creationId xmlns:a16="http://schemas.microsoft.com/office/drawing/2014/main" id="{D6D4A89D-ADEC-98CD-8046-1B9AB65FABCA}"/>
                </a:ext>
              </a:extLst>
            </p:cNvPr>
            <p:cNvSpPr/>
            <p:nvPr/>
          </p:nvSpPr>
          <p:spPr>
            <a:xfrm>
              <a:off x="3840480" y="1463040"/>
              <a:ext cx="274320" cy="685800"/>
            </a:xfrm>
            <a:prstGeom prst="rect">
              <a:avLst/>
            </a:prstGeom>
            <a:noFill/>
            <a:ln/>
          </p:spPr>
          <p:txBody>
            <a:bodyPr wrap="square" lIns="0" tIns="0" rIns="0" bIns="0" rtlCol="0" anchor="ctr"/>
            <a:lstStyle/>
            <a:p>
              <a:pPr marL="0" indent="0" algn="ctr">
                <a:buNone/>
              </a:pPr>
              <a:r>
                <a:rPr lang="en-US" sz="1200" b="1" dirty="0">
                  <a:solidFill>
                    <a:srgbClr val="2E8B99"/>
                  </a:solidFill>
                  <a:latin typeface="Calibri" pitchFamily="34" charset="0"/>
                  <a:ea typeface="Calibri" pitchFamily="34" charset="-122"/>
                  <a:cs typeface="Calibri" pitchFamily="34" charset="-120"/>
                </a:rPr>
                <a:t>→</a:t>
              </a:r>
              <a:endParaRPr lang="en-US" sz="1200" dirty="0"/>
            </a:p>
          </p:txBody>
        </p:sp>
        <p:sp>
          <p:nvSpPr>
            <p:cNvPr id="24" name="Text 7">
              <a:extLst>
                <a:ext uri="{FF2B5EF4-FFF2-40B4-BE49-F238E27FC236}">
                  <a16:creationId xmlns:a16="http://schemas.microsoft.com/office/drawing/2014/main" id="{2B7B008D-33E1-1BF0-52C4-24A4248883AD}"/>
                </a:ext>
              </a:extLst>
            </p:cNvPr>
            <p:cNvSpPr/>
            <p:nvPr/>
          </p:nvSpPr>
          <p:spPr>
            <a:xfrm>
              <a:off x="2194560" y="2377440"/>
              <a:ext cx="1737360" cy="1463040"/>
            </a:xfrm>
            <a:prstGeom prst="rect">
              <a:avLst/>
            </a:prstGeom>
            <a:noFill/>
            <a:ln/>
          </p:spPr>
          <p:txBody>
            <a:bodyPr wrap="square" lIns="0" tIns="0" rIns="0" bIns="0" rtlCol="0" anchor="t"/>
            <a:lstStyle/>
            <a:p>
              <a:pPr marL="0" indent="0" algn="ctr">
                <a:lnSpc>
                  <a:spcPct val="120000"/>
                </a:lnSpc>
                <a:buNone/>
              </a:pPr>
              <a:r>
                <a:rPr lang="en-US" sz="800" dirty="0">
                  <a:latin typeface="Calibri" pitchFamily="34" charset="0"/>
                  <a:ea typeface="Calibri" pitchFamily="34" charset="-122"/>
                  <a:cs typeface="Calibri" pitchFamily="34" charset="-120"/>
                </a:rPr>
                <a:t>Comment l'entreprise gère et échange ses informations ?</a:t>
              </a:r>
              <a:endParaRPr lang="en-US" sz="800" dirty="0"/>
            </a:p>
          </p:txBody>
        </p:sp>
        <p:sp>
          <p:nvSpPr>
            <p:cNvPr id="25" name="Shape 8">
              <a:extLst>
                <a:ext uri="{FF2B5EF4-FFF2-40B4-BE49-F238E27FC236}">
                  <a16:creationId xmlns:a16="http://schemas.microsoft.com/office/drawing/2014/main" id="{ACF1F9B0-4C76-6DA8-1C46-4719266F3D38}"/>
                </a:ext>
              </a:extLst>
            </p:cNvPr>
            <p:cNvSpPr/>
            <p:nvPr/>
          </p:nvSpPr>
          <p:spPr>
            <a:xfrm>
              <a:off x="4114800" y="1463040"/>
              <a:ext cx="1554480" cy="685800"/>
            </a:xfrm>
            <a:prstGeom prst="roundRect">
              <a:avLst>
                <a:gd name="adj" fmla="val 49333"/>
              </a:avLst>
            </a:prstGeom>
            <a:solidFill>
              <a:srgbClr val="1E2A54"/>
            </a:solidFill>
            <a:ln/>
          </p:spPr>
          <p:txBody>
            <a:bodyPr/>
            <a:lstStyle/>
            <a:p>
              <a:endParaRPr lang="fr-FR" sz="1100"/>
            </a:p>
          </p:txBody>
        </p:sp>
        <p:sp>
          <p:nvSpPr>
            <p:cNvPr id="26" name="Text 9">
              <a:extLst>
                <a:ext uri="{FF2B5EF4-FFF2-40B4-BE49-F238E27FC236}">
                  <a16:creationId xmlns:a16="http://schemas.microsoft.com/office/drawing/2014/main" id="{0872D88D-7FF9-B914-B624-2D99752AD4C7}"/>
                </a:ext>
              </a:extLst>
            </p:cNvPr>
            <p:cNvSpPr/>
            <p:nvPr/>
          </p:nvSpPr>
          <p:spPr>
            <a:xfrm>
              <a:off x="4114800" y="1463040"/>
              <a:ext cx="1554480" cy="6858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Architecture</a:t>
              </a:r>
              <a:endParaRPr lang="en-US" sz="1000" dirty="0"/>
            </a:p>
          </p:txBody>
        </p:sp>
        <p:sp>
          <p:nvSpPr>
            <p:cNvPr id="27" name="Text 10">
              <a:extLst>
                <a:ext uri="{FF2B5EF4-FFF2-40B4-BE49-F238E27FC236}">
                  <a16:creationId xmlns:a16="http://schemas.microsoft.com/office/drawing/2014/main" id="{27E2B4A1-1AC9-C91F-FAF1-04EA03406144}"/>
                </a:ext>
              </a:extLst>
            </p:cNvPr>
            <p:cNvSpPr/>
            <p:nvPr/>
          </p:nvSpPr>
          <p:spPr>
            <a:xfrm>
              <a:off x="5669280" y="1463040"/>
              <a:ext cx="274320" cy="685800"/>
            </a:xfrm>
            <a:prstGeom prst="rect">
              <a:avLst/>
            </a:prstGeom>
            <a:noFill/>
            <a:ln/>
          </p:spPr>
          <p:txBody>
            <a:bodyPr wrap="square" lIns="0" tIns="0" rIns="0" bIns="0" rtlCol="0" anchor="ctr"/>
            <a:lstStyle/>
            <a:p>
              <a:pPr marL="0" indent="0" algn="ctr">
                <a:buNone/>
              </a:pPr>
              <a:r>
                <a:rPr lang="en-US" sz="1200" b="1" dirty="0">
                  <a:solidFill>
                    <a:srgbClr val="2E8B99"/>
                  </a:solidFill>
                  <a:latin typeface="Calibri" pitchFamily="34" charset="0"/>
                  <a:ea typeface="Calibri" pitchFamily="34" charset="-122"/>
                  <a:cs typeface="Calibri" pitchFamily="34" charset="-120"/>
                </a:rPr>
                <a:t>→</a:t>
              </a:r>
              <a:endParaRPr lang="en-US" sz="1200" dirty="0"/>
            </a:p>
          </p:txBody>
        </p:sp>
        <p:sp>
          <p:nvSpPr>
            <p:cNvPr id="28" name="Text 11">
              <a:extLst>
                <a:ext uri="{FF2B5EF4-FFF2-40B4-BE49-F238E27FC236}">
                  <a16:creationId xmlns:a16="http://schemas.microsoft.com/office/drawing/2014/main" id="{3C24D82E-6FC2-2D8A-9BA8-1D0DBE74527E}"/>
                </a:ext>
              </a:extLst>
            </p:cNvPr>
            <p:cNvSpPr/>
            <p:nvPr/>
          </p:nvSpPr>
          <p:spPr>
            <a:xfrm>
              <a:off x="4023360" y="2377440"/>
              <a:ext cx="1737360" cy="1463040"/>
            </a:xfrm>
            <a:prstGeom prst="rect">
              <a:avLst/>
            </a:prstGeom>
            <a:noFill/>
            <a:ln/>
          </p:spPr>
          <p:txBody>
            <a:bodyPr wrap="square" lIns="0" tIns="0" rIns="0" bIns="0" rtlCol="0" anchor="t"/>
            <a:lstStyle/>
            <a:p>
              <a:pPr marL="0" indent="0" algn="ctr">
                <a:lnSpc>
                  <a:spcPct val="120000"/>
                </a:lnSpc>
                <a:buNone/>
              </a:pPr>
              <a:r>
                <a:rPr lang="en-US" sz="800" dirty="0">
                  <a:latin typeface="Calibri" pitchFamily="34" charset="0"/>
                  <a:ea typeface="Calibri" pitchFamily="34" charset="-122"/>
                  <a:cs typeface="Calibri" pitchFamily="34" charset="-120"/>
                </a:rPr>
                <a:t>Comment organiser les différentes parties du système ?</a:t>
              </a:r>
              <a:endParaRPr lang="en-US" sz="800" dirty="0"/>
            </a:p>
          </p:txBody>
        </p:sp>
        <p:sp>
          <p:nvSpPr>
            <p:cNvPr id="29" name="Shape 12">
              <a:extLst>
                <a:ext uri="{FF2B5EF4-FFF2-40B4-BE49-F238E27FC236}">
                  <a16:creationId xmlns:a16="http://schemas.microsoft.com/office/drawing/2014/main" id="{6F03C67B-692A-79C5-1020-7ABB7D23C4DA}"/>
                </a:ext>
              </a:extLst>
            </p:cNvPr>
            <p:cNvSpPr/>
            <p:nvPr/>
          </p:nvSpPr>
          <p:spPr>
            <a:xfrm>
              <a:off x="5943600" y="1463040"/>
              <a:ext cx="1554480" cy="685800"/>
            </a:xfrm>
            <a:prstGeom prst="roundRect">
              <a:avLst>
                <a:gd name="adj" fmla="val 49333"/>
              </a:avLst>
            </a:prstGeom>
            <a:solidFill>
              <a:srgbClr val="1E2A54"/>
            </a:solidFill>
            <a:ln/>
          </p:spPr>
          <p:txBody>
            <a:bodyPr/>
            <a:lstStyle/>
            <a:p>
              <a:endParaRPr lang="fr-FR" sz="1100"/>
            </a:p>
          </p:txBody>
        </p:sp>
        <p:sp>
          <p:nvSpPr>
            <p:cNvPr id="30" name="Text 13">
              <a:extLst>
                <a:ext uri="{FF2B5EF4-FFF2-40B4-BE49-F238E27FC236}">
                  <a16:creationId xmlns:a16="http://schemas.microsoft.com/office/drawing/2014/main" id="{56711610-2609-71D1-7B78-D983A0D752AC}"/>
                </a:ext>
              </a:extLst>
            </p:cNvPr>
            <p:cNvSpPr/>
            <p:nvPr/>
          </p:nvSpPr>
          <p:spPr>
            <a:xfrm>
              <a:off x="5943600" y="1463040"/>
              <a:ext cx="1554480" cy="6858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Style</a:t>
              </a:r>
              <a:endParaRPr lang="en-US" sz="1000" dirty="0"/>
            </a:p>
          </p:txBody>
        </p:sp>
        <p:sp>
          <p:nvSpPr>
            <p:cNvPr id="31" name="Text 14">
              <a:extLst>
                <a:ext uri="{FF2B5EF4-FFF2-40B4-BE49-F238E27FC236}">
                  <a16:creationId xmlns:a16="http://schemas.microsoft.com/office/drawing/2014/main" id="{BC0DEF74-D727-1215-813B-042A10ABB2A7}"/>
                </a:ext>
              </a:extLst>
            </p:cNvPr>
            <p:cNvSpPr/>
            <p:nvPr/>
          </p:nvSpPr>
          <p:spPr>
            <a:xfrm>
              <a:off x="7498080" y="1463040"/>
              <a:ext cx="274320" cy="685800"/>
            </a:xfrm>
            <a:prstGeom prst="rect">
              <a:avLst/>
            </a:prstGeom>
            <a:noFill/>
            <a:ln/>
          </p:spPr>
          <p:txBody>
            <a:bodyPr wrap="square" lIns="0" tIns="0" rIns="0" bIns="0" rtlCol="0" anchor="ctr"/>
            <a:lstStyle/>
            <a:p>
              <a:pPr marL="0" indent="0" algn="ctr">
                <a:buNone/>
              </a:pPr>
              <a:r>
                <a:rPr lang="en-US" sz="1200" b="1" dirty="0">
                  <a:solidFill>
                    <a:srgbClr val="2E8B99"/>
                  </a:solidFill>
                  <a:latin typeface="Calibri" pitchFamily="34" charset="0"/>
                  <a:ea typeface="Calibri" pitchFamily="34" charset="-122"/>
                  <a:cs typeface="Calibri" pitchFamily="34" charset="-120"/>
                </a:rPr>
                <a:t>→</a:t>
              </a:r>
              <a:endParaRPr lang="en-US" sz="1200" dirty="0"/>
            </a:p>
          </p:txBody>
        </p:sp>
        <p:sp>
          <p:nvSpPr>
            <p:cNvPr id="32" name="Text 15">
              <a:extLst>
                <a:ext uri="{FF2B5EF4-FFF2-40B4-BE49-F238E27FC236}">
                  <a16:creationId xmlns:a16="http://schemas.microsoft.com/office/drawing/2014/main" id="{76CB2856-B263-A30C-1962-431CAE7ABE8F}"/>
                </a:ext>
              </a:extLst>
            </p:cNvPr>
            <p:cNvSpPr/>
            <p:nvPr/>
          </p:nvSpPr>
          <p:spPr>
            <a:xfrm>
              <a:off x="5852160" y="2377440"/>
              <a:ext cx="1737360" cy="1463040"/>
            </a:xfrm>
            <a:prstGeom prst="rect">
              <a:avLst/>
            </a:prstGeom>
            <a:noFill/>
            <a:ln/>
          </p:spPr>
          <p:txBody>
            <a:bodyPr wrap="square" lIns="0" tIns="0" rIns="0" bIns="0" rtlCol="0" anchor="t"/>
            <a:lstStyle/>
            <a:p>
              <a:pPr marL="0" indent="0" algn="ctr">
                <a:lnSpc>
                  <a:spcPct val="120000"/>
                </a:lnSpc>
                <a:buNone/>
              </a:pPr>
              <a:r>
                <a:rPr lang="en-US" sz="800" dirty="0">
                  <a:latin typeface="Calibri" pitchFamily="34" charset="0"/>
                  <a:ea typeface="Calibri" pitchFamily="34" charset="-122"/>
                  <a:cs typeface="Calibri" pitchFamily="34" charset="-120"/>
                </a:rPr>
                <a:t>Quelle philosophie d'organisation adopter ?</a:t>
              </a:r>
              <a:endParaRPr lang="en-US" sz="800" dirty="0"/>
            </a:p>
          </p:txBody>
        </p:sp>
        <p:sp>
          <p:nvSpPr>
            <p:cNvPr id="33" name="Shape 16">
              <a:extLst>
                <a:ext uri="{FF2B5EF4-FFF2-40B4-BE49-F238E27FC236}">
                  <a16:creationId xmlns:a16="http://schemas.microsoft.com/office/drawing/2014/main" id="{FA139DF7-BB7D-A3AA-5233-EC6B4816AB13}"/>
                </a:ext>
              </a:extLst>
            </p:cNvPr>
            <p:cNvSpPr/>
            <p:nvPr/>
          </p:nvSpPr>
          <p:spPr>
            <a:xfrm>
              <a:off x="7772400" y="1463040"/>
              <a:ext cx="1554480" cy="685800"/>
            </a:xfrm>
            <a:prstGeom prst="roundRect">
              <a:avLst>
                <a:gd name="adj" fmla="val 49333"/>
              </a:avLst>
            </a:prstGeom>
            <a:solidFill>
              <a:srgbClr val="1E2A54"/>
            </a:solidFill>
            <a:ln/>
          </p:spPr>
          <p:txBody>
            <a:bodyPr/>
            <a:lstStyle/>
            <a:p>
              <a:endParaRPr lang="fr-FR" sz="1100"/>
            </a:p>
          </p:txBody>
        </p:sp>
        <p:sp>
          <p:nvSpPr>
            <p:cNvPr id="34" name="Text 17">
              <a:extLst>
                <a:ext uri="{FF2B5EF4-FFF2-40B4-BE49-F238E27FC236}">
                  <a16:creationId xmlns:a16="http://schemas.microsoft.com/office/drawing/2014/main" id="{EAF9C46F-7377-DF84-E602-73A66EF050DC}"/>
                </a:ext>
              </a:extLst>
            </p:cNvPr>
            <p:cNvSpPr/>
            <p:nvPr/>
          </p:nvSpPr>
          <p:spPr>
            <a:xfrm>
              <a:off x="7772400" y="1463040"/>
              <a:ext cx="1554480" cy="6858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Patron</a:t>
              </a:r>
              <a:endParaRPr lang="en-US" sz="1000" dirty="0"/>
            </a:p>
          </p:txBody>
        </p:sp>
        <p:sp>
          <p:nvSpPr>
            <p:cNvPr id="35" name="Text 18">
              <a:extLst>
                <a:ext uri="{FF2B5EF4-FFF2-40B4-BE49-F238E27FC236}">
                  <a16:creationId xmlns:a16="http://schemas.microsoft.com/office/drawing/2014/main" id="{FCF6132B-A241-0631-3780-F07EDECCC626}"/>
                </a:ext>
              </a:extLst>
            </p:cNvPr>
            <p:cNvSpPr/>
            <p:nvPr/>
          </p:nvSpPr>
          <p:spPr>
            <a:xfrm>
              <a:off x="9326880" y="1463040"/>
              <a:ext cx="274320" cy="685800"/>
            </a:xfrm>
            <a:prstGeom prst="rect">
              <a:avLst/>
            </a:prstGeom>
            <a:noFill/>
            <a:ln/>
          </p:spPr>
          <p:txBody>
            <a:bodyPr wrap="square" lIns="0" tIns="0" rIns="0" bIns="0" rtlCol="0" anchor="ctr"/>
            <a:lstStyle/>
            <a:p>
              <a:pPr marL="0" indent="0" algn="ctr">
                <a:buNone/>
              </a:pPr>
              <a:r>
                <a:rPr lang="en-US" sz="1200" b="1" dirty="0">
                  <a:solidFill>
                    <a:srgbClr val="2E8B99"/>
                  </a:solidFill>
                  <a:latin typeface="Calibri" pitchFamily="34" charset="0"/>
                  <a:ea typeface="Calibri" pitchFamily="34" charset="-122"/>
                  <a:cs typeface="Calibri" pitchFamily="34" charset="-120"/>
                </a:rPr>
                <a:t>→</a:t>
              </a:r>
              <a:endParaRPr lang="en-US" sz="1200" dirty="0"/>
            </a:p>
          </p:txBody>
        </p:sp>
        <p:sp>
          <p:nvSpPr>
            <p:cNvPr id="36" name="Text 19">
              <a:extLst>
                <a:ext uri="{FF2B5EF4-FFF2-40B4-BE49-F238E27FC236}">
                  <a16:creationId xmlns:a16="http://schemas.microsoft.com/office/drawing/2014/main" id="{C9270191-0AA1-BD0A-D8F7-CBE87625419C}"/>
                </a:ext>
              </a:extLst>
            </p:cNvPr>
            <p:cNvSpPr/>
            <p:nvPr/>
          </p:nvSpPr>
          <p:spPr>
            <a:xfrm>
              <a:off x="7680960" y="2377440"/>
              <a:ext cx="1737360" cy="1463040"/>
            </a:xfrm>
            <a:prstGeom prst="rect">
              <a:avLst/>
            </a:prstGeom>
            <a:noFill/>
            <a:ln/>
          </p:spPr>
          <p:txBody>
            <a:bodyPr wrap="square" lIns="0" tIns="0" rIns="0" bIns="0" rtlCol="0" anchor="t"/>
            <a:lstStyle/>
            <a:p>
              <a:pPr marL="0" indent="0" algn="ctr">
                <a:lnSpc>
                  <a:spcPct val="120000"/>
                </a:lnSpc>
                <a:buNone/>
              </a:pPr>
              <a:r>
                <a:rPr lang="en-US" sz="800" dirty="0">
                  <a:latin typeface="Calibri" pitchFamily="34" charset="0"/>
                  <a:ea typeface="Calibri" pitchFamily="34" charset="-122"/>
                  <a:cs typeface="Calibri" pitchFamily="34" charset="-120"/>
                </a:rPr>
                <a:t>Quelle solution réutilisable appliquer à un problème précis ?</a:t>
              </a:r>
              <a:endParaRPr lang="en-US" sz="800" dirty="0"/>
            </a:p>
          </p:txBody>
        </p:sp>
        <p:sp>
          <p:nvSpPr>
            <p:cNvPr id="37" name="Shape 20">
              <a:extLst>
                <a:ext uri="{FF2B5EF4-FFF2-40B4-BE49-F238E27FC236}">
                  <a16:creationId xmlns:a16="http://schemas.microsoft.com/office/drawing/2014/main" id="{C9645966-E1CB-CB49-1CF0-7127200435A8}"/>
                </a:ext>
              </a:extLst>
            </p:cNvPr>
            <p:cNvSpPr/>
            <p:nvPr/>
          </p:nvSpPr>
          <p:spPr>
            <a:xfrm>
              <a:off x="9601200" y="1463040"/>
              <a:ext cx="1554480" cy="685800"/>
            </a:xfrm>
            <a:prstGeom prst="roundRect">
              <a:avLst>
                <a:gd name="adj" fmla="val 49333"/>
              </a:avLst>
            </a:prstGeom>
            <a:solidFill>
              <a:srgbClr val="E3A73B"/>
            </a:solidFill>
            <a:ln/>
          </p:spPr>
          <p:txBody>
            <a:bodyPr/>
            <a:lstStyle/>
            <a:p>
              <a:endParaRPr lang="fr-FR" sz="1100"/>
            </a:p>
          </p:txBody>
        </p:sp>
        <p:sp>
          <p:nvSpPr>
            <p:cNvPr id="38" name="Text 21">
              <a:extLst>
                <a:ext uri="{FF2B5EF4-FFF2-40B4-BE49-F238E27FC236}">
                  <a16:creationId xmlns:a16="http://schemas.microsoft.com/office/drawing/2014/main" id="{CFEBA60A-5638-3CA8-8305-33C728631C13}"/>
                </a:ext>
              </a:extLst>
            </p:cNvPr>
            <p:cNvSpPr/>
            <p:nvPr/>
          </p:nvSpPr>
          <p:spPr>
            <a:xfrm>
              <a:off x="9601200" y="1463040"/>
              <a:ext cx="1554480" cy="6858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Framework</a:t>
              </a:r>
              <a:endParaRPr lang="en-US" sz="1000" dirty="0"/>
            </a:p>
          </p:txBody>
        </p:sp>
        <p:sp>
          <p:nvSpPr>
            <p:cNvPr id="39" name="Text 22">
              <a:extLst>
                <a:ext uri="{FF2B5EF4-FFF2-40B4-BE49-F238E27FC236}">
                  <a16:creationId xmlns:a16="http://schemas.microsoft.com/office/drawing/2014/main" id="{7790F5EE-50E8-65C9-6F99-E54593CE5E01}"/>
                </a:ext>
              </a:extLst>
            </p:cNvPr>
            <p:cNvSpPr/>
            <p:nvPr/>
          </p:nvSpPr>
          <p:spPr>
            <a:xfrm>
              <a:off x="9509760" y="2377440"/>
              <a:ext cx="1737360" cy="1463040"/>
            </a:xfrm>
            <a:prstGeom prst="rect">
              <a:avLst/>
            </a:prstGeom>
            <a:noFill/>
            <a:ln/>
          </p:spPr>
          <p:txBody>
            <a:bodyPr wrap="square" lIns="0" tIns="0" rIns="0" bIns="0" rtlCol="0" anchor="t"/>
            <a:lstStyle/>
            <a:p>
              <a:pPr marL="0" indent="0" algn="ctr">
                <a:lnSpc>
                  <a:spcPct val="120000"/>
                </a:lnSpc>
                <a:buNone/>
              </a:pPr>
              <a:r>
                <a:rPr lang="en-US" sz="800" dirty="0">
                  <a:latin typeface="Calibri" pitchFamily="34" charset="0"/>
                  <a:ea typeface="Calibri" pitchFamily="34" charset="-122"/>
                  <a:cs typeface="Calibri" pitchFamily="34" charset="-120"/>
                </a:rPr>
                <a:t>Avec quels outils allons-nous implémenter cette solution ?</a:t>
              </a:r>
              <a:endParaRPr lang="en-US" sz="800" dirty="0"/>
            </a:p>
          </p:txBody>
        </p:sp>
      </p:grpSp>
      <p:sp>
        <p:nvSpPr>
          <p:cNvPr id="41" name="TextBox 40">
            <a:extLst>
              <a:ext uri="{FF2B5EF4-FFF2-40B4-BE49-F238E27FC236}">
                <a16:creationId xmlns:a16="http://schemas.microsoft.com/office/drawing/2014/main" id="{108A3C00-FE92-9BDD-52D6-6DB925C1C380}"/>
              </a:ext>
            </a:extLst>
          </p:cNvPr>
          <p:cNvSpPr txBox="1"/>
          <p:nvPr/>
        </p:nvSpPr>
        <p:spPr>
          <a:xfrm>
            <a:off x="403662" y="2565833"/>
            <a:ext cx="8545532" cy="1674754"/>
          </a:xfrm>
          <a:prstGeom prst="rect">
            <a:avLst/>
          </a:prstGeom>
          <a:noFill/>
        </p:spPr>
        <p:txBody>
          <a:bodyPr wrap="square">
            <a:spAutoFit/>
          </a:bodyPr>
          <a:lstStyle/>
          <a:p>
            <a:pPr marL="342900" indent="-342900">
              <a:lnSpc>
                <a:spcPct val="150000"/>
              </a:lnSpc>
              <a:buFont typeface="Arial" panose="020B0604020202020204" pitchFamily="34" charset="0"/>
              <a:buChar char="•"/>
            </a:pPr>
            <a:r>
              <a:rPr lang="fr-FR" sz="1400" noProof="0" dirty="0">
                <a:ea typeface="Calibri" pitchFamily="34" charset="-122"/>
                <a:cs typeface="Calibri" pitchFamily="34" charset="-120"/>
              </a:rPr>
              <a:t>L'architecture répond à un besoin métier avant d'être un choix technique.</a:t>
            </a:r>
          </a:p>
          <a:p>
            <a:pPr marL="342900" indent="-342900">
              <a:lnSpc>
                <a:spcPct val="150000"/>
              </a:lnSpc>
              <a:buFont typeface="Arial" panose="020B0604020202020204" pitchFamily="34" charset="0"/>
              <a:buChar char="•"/>
            </a:pPr>
            <a:r>
              <a:rPr lang="fr-FR" sz="1400" dirty="0">
                <a:ea typeface="Calibri" pitchFamily="34" charset="-122"/>
                <a:cs typeface="Calibri" pitchFamily="34" charset="-120"/>
              </a:rPr>
              <a:t>Un style organise le système à grande échelle ; un patron résout un problème récurrent à l'intérieur d'un style.</a:t>
            </a:r>
            <a:endParaRPr lang="fr-FR" sz="1400" dirty="0"/>
          </a:p>
          <a:p>
            <a:pPr marL="342900" indent="-342900">
              <a:lnSpc>
                <a:spcPct val="150000"/>
              </a:lnSpc>
              <a:buFont typeface="Arial" panose="020B0604020202020204" pitchFamily="34" charset="0"/>
              <a:buChar char="•"/>
            </a:pPr>
            <a:r>
              <a:rPr lang="fr-FR" sz="1400" dirty="0">
                <a:ea typeface="Calibri" pitchFamily="34" charset="-122"/>
                <a:cs typeface="Calibri" pitchFamily="34" charset="-120"/>
              </a:rPr>
              <a:t>Le choix d'un style dépend toujours du contexte : sécurité, rapidité, charge, taille d'équipe.</a:t>
            </a:r>
            <a:endParaRPr lang="fr-FR" sz="1400" dirty="0"/>
          </a:p>
          <a:p>
            <a:pPr marL="342900" indent="-342900">
              <a:lnSpc>
                <a:spcPct val="150000"/>
              </a:lnSpc>
              <a:buFont typeface="Arial" panose="020B0604020202020204" pitchFamily="34" charset="0"/>
              <a:buChar char="•"/>
            </a:pPr>
            <a:r>
              <a:rPr lang="fr-FR" sz="1400" dirty="0">
                <a:ea typeface="Calibri" pitchFamily="34" charset="-122"/>
                <a:cs typeface="Calibri" pitchFamily="34" charset="-120"/>
              </a:rPr>
              <a:t>Spring n'est qu'un outil : il prend tout son sens une fois les concepts d'architecture compris.</a:t>
            </a:r>
            <a:endParaRPr lang="fr-FR" sz="1400" dirty="0"/>
          </a:p>
          <a:p>
            <a:pPr marL="0" indent="0">
              <a:lnSpc>
                <a:spcPct val="150000"/>
              </a:lnSpc>
              <a:buNone/>
            </a:pPr>
            <a:endParaRPr lang="fr-FR" sz="1400" noProof="0" dirty="0"/>
          </a:p>
        </p:txBody>
      </p:sp>
    </p:spTree>
    <p:extLst>
      <p:ext uri="{BB962C8B-B14F-4D97-AF65-F5344CB8AC3E}">
        <p14:creationId xmlns:p14="http://schemas.microsoft.com/office/powerpoint/2010/main" val="5731876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A419151-4FE5-8B60-3068-E31368749F85}"/>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3BAC2A5-0F9D-7764-9A9B-195AB6856198}"/>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929DBB55-53AD-6CE2-118F-434990118DCE}"/>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D98D0192-40A6-8070-F63C-4790FD6989DE}"/>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2C8E47F6-5024-870F-FB70-62014C9F1ED3}"/>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0236F629-DAEC-B122-A5BD-CE6E4A7D1B63}"/>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30475408-1581-46A4-9F5C-BF48D23F4252}"/>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CDCEFDA5-B068-A24B-B83D-F8E0C96E5895}"/>
              </a:ext>
            </a:extLst>
          </p:cNvPr>
          <p:cNvSpPr/>
          <p:nvPr/>
        </p:nvSpPr>
        <p:spPr>
          <a:xfrm>
            <a:off x="1993392" y="91440"/>
            <a:ext cx="6400800" cy="411480"/>
          </a:xfrm>
          <a:prstGeom prst="rect">
            <a:avLst/>
          </a:prstGeom>
          <a:noFill/>
          <a:ln/>
        </p:spPr>
        <p:txBody>
          <a:bodyPr wrap="square" lIns="0" tIns="0" rIns="0" bIns="0" rtlCol="0" anchor="ctr"/>
          <a:lstStyle/>
          <a:p>
            <a:r>
              <a:rPr lang="en-GB" b="1" dirty="0">
                <a:solidFill>
                  <a:srgbClr val="1A1A1A"/>
                </a:solidFill>
                <a:latin typeface="Calibri" pitchFamily="34" charset="0"/>
                <a:ea typeface="Calibri" pitchFamily="34" charset="-122"/>
                <a:cs typeface="Calibri" pitchFamily="34" charset="-120"/>
              </a:rPr>
              <a:t>A </a:t>
            </a:r>
            <a:r>
              <a:rPr lang="en-GB" b="1" dirty="0" err="1">
                <a:solidFill>
                  <a:srgbClr val="1A1A1A"/>
                </a:solidFill>
                <a:latin typeface="Calibri" pitchFamily="34" charset="0"/>
                <a:ea typeface="Calibri" pitchFamily="34" charset="-122"/>
                <a:cs typeface="Calibri" pitchFamily="34" charset="-120"/>
              </a:rPr>
              <a:t>retenir</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7454763B-FA86-C44E-5D1C-7250C6421BC4}"/>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12C8C9EA-891C-08AC-E060-BF271FA2385E}"/>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2189745C-7546-D4AB-075A-11E410759101}"/>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656A23AC-6339-7E82-7507-E5BD7ACDA603}"/>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46</a:t>
            </a:r>
            <a:endParaRPr lang="en-US" sz="900" dirty="0"/>
          </a:p>
        </p:txBody>
      </p:sp>
      <p:pic>
        <p:nvPicPr>
          <p:cNvPr id="18" name="object 2">
            <a:extLst>
              <a:ext uri="{FF2B5EF4-FFF2-40B4-BE49-F238E27FC236}">
                <a16:creationId xmlns:a16="http://schemas.microsoft.com/office/drawing/2014/main" id="{629E1FE6-732F-60FE-1973-E70FA13FB3C7}"/>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82BB07E9-AD46-048F-FB7B-BC36E571F72F}"/>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7" name="Text 4">
            <a:extLst>
              <a:ext uri="{FF2B5EF4-FFF2-40B4-BE49-F238E27FC236}">
                <a16:creationId xmlns:a16="http://schemas.microsoft.com/office/drawing/2014/main" id="{5BEC594D-D4DB-5C94-EC02-2BD9CE82EA1A}"/>
              </a:ext>
            </a:extLst>
          </p:cNvPr>
          <p:cNvSpPr/>
          <p:nvPr/>
        </p:nvSpPr>
        <p:spPr>
          <a:xfrm>
            <a:off x="320040" y="836538"/>
            <a:ext cx="8046720" cy="3954918"/>
          </a:xfrm>
          <a:prstGeom prst="rect">
            <a:avLst/>
          </a:prstGeom>
          <a:noFill/>
          <a:ln/>
        </p:spPr>
        <p:txBody>
          <a:bodyPr wrap="square" rtlCol="0" anchor="t"/>
          <a:lstStyle/>
          <a:p>
            <a:pPr>
              <a:lnSpc>
                <a:spcPct val="150000"/>
              </a:lnSpc>
            </a:pPr>
            <a:r>
              <a:rPr lang="fr-FR" sz="1400" dirty="0"/>
              <a:t>      Un style architectural répond à 5 questions fondamentales :</a:t>
            </a:r>
            <a:endParaRPr lang="en-GB" sz="1400" dirty="0"/>
          </a:p>
          <a:p>
            <a:pPr marL="285750" indent="-285750">
              <a:lnSpc>
                <a:spcPct val="150000"/>
              </a:lnSpc>
              <a:buFont typeface="Arial" panose="020B0604020202020204" pitchFamily="34" charset="0"/>
              <a:buChar char="•"/>
            </a:pPr>
            <a:endParaRPr lang="en-GB" sz="1400" dirty="0"/>
          </a:p>
          <a:p>
            <a:pPr marL="285750" indent="-285750">
              <a:lnSpc>
                <a:spcPct val="150000"/>
              </a:lnSpc>
              <a:buFont typeface="Arial" panose="020B0604020202020204" pitchFamily="34" charset="0"/>
              <a:buChar char="•"/>
            </a:pPr>
            <a:endParaRPr lang="en-GB" sz="1400" dirty="0"/>
          </a:p>
          <a:p>
            <a:pPr>
              <a:lnSpc>
                <a:spcPct val="125000"/>
              </a:lnSpc>
              <a:buSzPct val="100000"/>
            </a:pPr>
            <a:endParaRPr lang="en-US" sz="1400" dirty="0"/>
          </a:p>
        </p:txBody>
      </p:sp>
      <p:sp>
        <p:nvSpPr>
          <p:cNvPr id="11" name="TextBox 10">
            <a:extLst>
              <a:ext uri="{FF2B5EF4-FFF2-40B4-BE49-F238E27FC236}">
                <a16:creationId xmlns:a16="http://schemas.microsoft.com/office/drawing/2014/main" id="{C7A1C778-63BC-B9D5-CED8-A8F38B376D3A}"/>
              </a:ext>
            </a:extLst>
          </p:cNvPr>
          <p:cNvSpPr txBox="1"/>
          <p:nvPr/>
        </p:nvSpPr>
        <p:spPr>
          <a:xfrm>
            <a:off x="2790259" y="4870636"/>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pic>
        <p:nvPicPr>
          <p:cNvPr id="16" name="Picture 15">
            <a:extLst>
              <a:ext uri="{FF2B5EF4-FFF2-40B4-BE49-F238E27FC236}">
                <a16:creationId xmlns:a16="http://schemas.microsoft.com/office/drawing/2014/main" id="{BA112741-318B-64DC-F312-713098509A81}"/>
              </a:ext>
            </a:extLst>
          </p:cNvPr>
          <p:cNvPicPr>
            <a:picLocks noChangeAspect="1"/>
          </p:cNvPicPr>
          <p:nvPr/>
        </p:nvPicPr>
        <p:blipFill>
          <a:blip r:embed="rId7"/>
          <a:stretch>
            <a:fillRect/>
          </a:stretch>
        </p:blipFill>
        <p:spPr>
          <a:xfrm>
            <a:off x="1315476" y="1221132"/>
            <a:ext cx="6513047" cy="3185729"/>
          </a:xfrm>
          <a:prstGeom prst="rect">
            <a:avLst/>
          </a:prstGeom>
        </p:spPr>
      </p:pic>
    </p:spTree>
    <p:extLst>
      <p:ext uri="{BB962C8B-B14F-4D97-AF65-F5344CB8AC3E}">
        <p14:creationId xmlns:p14="http://schemas.microsoft.com/office/powerpoint/2010/main" val="3101714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B7E38C7-C7E0-184A-069E-14D2B7DD648A}"/>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87DBB5C-0840-1154-BD0B-E3C14BC5ACA1}"/>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DFF69E67-FB55-00DB-7922-34F32FF0FBEB}"/>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77F13F0D-A437-C112-E45A-4D9F8EB6790F}"/>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35543AEF-3A42-B62F-EF5A-6F6BBB3DCD85}"/>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DBEA78DC-D5B9-F41D-8A51-2E2ED97461F5}"/>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3EACD572-8A50-3BF0-8BEE-8ECBDD1DD4E9}"/>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FE0481F3-9972-9A8D-3513-A1B920F1391B}"/>
              </a:ext>
            </a:extLst>
          </p:cNvPr>
          <p:cNvSpPr/>
          <p:nvPr/>
        </p:nvSpPr>
        <p:spPr>
          <a:xfrm>
            <a:off x="1993392" y="91440"/>
            <a:ext cx="6400800" cy="411480"/>
          </a:xfrm>
          <a:prstGeom prst="rect">
            <a:avLst/>
          </a:prstGeom>
          <a:noFill/>
          <a:ln/>
        </p:spPr>
        <p:txBody>
          <a:bodyPr wrap="square" lIns="0" tIns="0" rIns="0" bIns="0" rtlCol="0" anchor="ctr"/>
          <a:lstStyle/>
          <a:p>
            <a:r>
              <a:rPr lang="en-GB" b="1" dirty="0" err="1">
                <a:solidFill>
                  <a:srgbClr val="1A1A1A"/>
                </a:solidFill>
                <a:latin typeface="Calibri" pitchFamily="34" charset="0"/>
                <a:ea typeface="Calibri" pitchFamily="34" charset="-122"/>
                <a:cs typeface="Calibri" pitchFamily="34" charset="-120"/>
              </a:rPr>
              <a:t>Prochaine</a:t>
            </a:r>
            <a:r>
              <a:rPr lang="en-GB" b="1" dirty="0">
                <a:solidFill>
                  <a:srgbClr val="1A1A1A"/>
                </a:solidFill>
                <a:latin typeface="Calibri" pitchFamily="34" charset="0"/>
                <a:ea typeface="Calibri" pitchFamily="34" charset="-122"/>
                <a:cs typeface="Calibri" pitchFamily="34" charset="-120"/>
              </a:rPr>
              <a:t> Séance - S2</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6F7B2BAB-A377-47A9-277E-2E1C57740DD4}"/>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D6D4C2EB-1942-B946-F9C2-5E5573CD4020}"/>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2BF36F1A-9E6E-845A-DFF7-6DE705273FFC}"/>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E98264FF-F1C1-0B6B-0F43-991C9CEFE5B9}"/>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47</a:t>
            </a:r>
            <a:endParaRPr lang="en-US" sz="900" dirty="0"/>
          </a:p>
        </p:txBody>
      </p:sp>
      <p:pic>
        <p:nvPicPr>
          <p:cNvPr id="18" name="object 2">
            <a:extLst>
              <a:ext uri="{FF2B5EF4-FFF2-40B4-BE49-F238E27FC236}">
                <a16:creationId xmlns:a16="http://schemas.microsoft.com/office/drawing/2014/main" id="{4C97CB8A-5C83-557D-A287-3A6A2B537AE7}"/>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CC27D72F-AE54-721F-B391-5B3412F506B1}"/>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pic>
        <p:nvPicPr>
          <p:cNvPr id="14" name="Picture 13">
            <a:extLst>
              <a:ext uri="{FF2B5EF4-FFF2-40B4-BE49-F238E27FC236}">
                <a16:creationId xmlns:a16="http://schemas.microsoft.com/office/drawing/2014/main" id="{593888E3-E30A-096C-EE8A-FE89F3B61657}"/>
              </a:ext>
            </a:extLst>
          </p:cNvPr>
          <p:cNvPicPr>
            <a:picLocks noChangeAspect="1"/>
          </p:cNvPicPr>
          <p:nvPr/>
        </p:nvPicPr>
        <p:blipFill>
          <a:blip r:embed="rId7"/>
          <a:stretch>
            <a:fillRect/>
          </a:stretch>
        </p:blipFill>
        <p:spPr>
          <a:xfrm>
            <a:off x="1522638" y="583037"/>
            <a:ext cx="6098721" cy="3977426"/>
          </a:xfrm>
          <a:prstGeom prst="rect">
            <a:avLst/>
          </a:prstGeom>
        </p:spPr>
      </p:pic>
      <p:sp>
        <p:nvSpPr>
          <p:cNvPr id="15" name="TextBox 14">
            <a:extLst>
              <a:ext uri="{FF2B5EF4-FFF2-40B4-BE49-F238E27FC236}">
                <a16:creationId xmlns:a16="http://schemas.microsoft.com/office/drawing/2014/main" id="{023DB88A-D5C0-2F54-1E45-CFA15DAF9092}"/>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Tree>
    <p:extLst>
      <p:ext uri="{BB962C8B-B14F-4D97-AF65-F5344CB8AC3E}">
        <p14:creationId xmlns:p14="http://schemas.microsoft.com/office/powerpoint/2010/main" val="37930776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0EB0508-386F-9611-9607-932C4D575AD8}"/>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63FDB41-2D02-9F9D-F191-30D5C1E59C6C}"/>
              </a:ext>
            </a:extLst>
          </p:cNvPr>
          <p:cNvPicPr>
            <a:picLocks noChangeAspect="1"/>
          </p:cNvPicPr>
          <p:nvPr/>
        </p:nvPicPr>
        <p:blipFill>
          <a:blip r:embed="rId4"/>
          <a:stretch>
            <a:fillRect/>
          </a:stretch>
        </p:blipFill>
        <p:spPr>
          <a:xfrm>
            <a:off x="8138160" y="-45720"/>
            <a:ext cx="1188720" cy="1188720"/>
          </a:xfrm>
          <a:prstGeom prst="rect">
            <a:avLst/>
          </a:prstGeom>
        </p:spPr>
      </p:pic>
      <p:sp>
        <p:nvSpPr>
          <p:cNvPr id="3" name="Shape 0">
            <a:extLst>
              <a:ext uri="{FF2B5EF4-FFF2-40B4-BE49-F238E27FC236}">
                <a16:creationId xmlns:a16="http://schemas.microsoft.com/office/drawing/2014/main" id="{CE3FA624-D575-F8E7-568E-F54E0E41B1A4}"/>
              </a:ext>
            </a:extLst>
          </p:cNvPr>
          <p:cNvSpPr/>
          <p:nvPr/>
        </p:nvSpPr>
        <p:spPr>
          <a:xfrm>
            <a:off x="8321040" y="777240"/>
            <a:ext cx="685800" cy="685800"/>
          </a:xfrm>
          <a:prstGeom prst="rtTriangle">
            <a:avLst/>
          </a:prstGeom>
          <a:solidFill>
            <a:srgbClr val="D9D9D9"/>
          </a:solidFill>
          <a:ln w="12700">
            <a:solidFill>
              <a:srgbClr val="D9D9D9"/>
            </a:solidFill>
            <a:prstDash val="solid"/>
          </a:ln>
        </p:spPr>
        <p:txBody>
          <a:bodyPr/>
          <a:lstStyle/>
          <a:p>
            <a:endParaRPr lang="en-GB"/>
          </a:p>
        </p:txBody>
      </p:sp>
      <p:sp>
        <p:nvSpPr>
          <p:cNvPr id="4" name="Shape 1">
            <a:extLst>
              <a:ext uri="{FF2B5EF4-FFF2-40B4-BE49-F238E27FC236}">
                <a16:creationId xmlns:a16="http://schemas.microsoft.com/office/drawing/2014/main" id="{2E72598A-F56D-6965-416E-04EA403BA6D7}"/>
              </a:ext>
            </a:extLst>
          </p:cNvPr>
          <p:cNvSpPr/>
          <p:nvPr/>
        </p:nvSpPr>
        <p:spPr>
          <a:xfrm>
            <a:off x="8732520" y="274320"/>
            <a:ext cx="411480" cy="411480"/>
          </a:xfrm>
          <a:prstGeom prst="rtTriangle">
            <a:avLst/>
          </a:prstGeom>
          <a:solidFill>
            <a:srgbClr val="595959"/>
          </a:solidFill>
          <a:ln w="12700">
            <a:solidFill>
              <a:srgbClr val="595959"/>
            </a:solidFill>
            <a:prstDash val="solid"/>
          </a:ln>
        </p:spPr>
        <p:txBody>
          <a:bodyPr/>
          <a:lstStyle/>
          <a:p>
            <a:endParaRPr lang="en-GB"/>
          </a:p>
        </p:txBody>
      </p:sp>
      <p:pic>
        <p:nvPicPr>
          <p:cNvPr id="5" name="Image 1" descr="preencoded.png">
            <a:extLst>
              <a:ext uri="{FF2B5EF4-FFF2-40B4-BE49-F238E27FC236}">
                <a16:creationId xmlns:a16="http://schemas.microsoft.com/office/drawing/2014/main" id="{5D1ECC27-EBDE-D578-2AC0-15E5EC17C48C}"/>
              </a:ext>
            </a:extLst>
          </p:cNvPr>
          <p:cNvPicPr>
            <a:picLocks noChangeAspect="1"/>
          </p:cNvPicPr>
          <p:nvPr/>
        </p:nvPicPr>
        <p:blipFill>
          <a:blip r:embed="rId4"/>
          <a:stretch>
            <a:fillRect/>
          </a:stretch>
        </p:blipFill>
        <p:spPr>
          <a:xfrm flipH="1">
            <a:off x="-73152" y="4114800"/>
            <a:ext cx="502920" cy="502920"/>
          </a:xfrm>
          <a:prstGeom prst="rect">
            <a:avLst/>
          </a:prstGeom>
        </p:spPr>
      </p:pic>
      <p:pic>
        <p:nvPicPr>
          <p:cNvPr id="6" name="Image 2" descr="preencoded.png">
            <a:extLst>
              <a:ext uri="{FF2B5EF4-FFF2-40B4-BE49-F238E27FC236}">
                <a16:creationId xmlns:a16="http://schemas.microsoft.com/office/drawing/2014/main" id="{ED2DEE79-641B-EBCA-D6F2-CA6F0A411231}"/>
              </a:ext>
            </a:extLst>
          </p:cNvPr>
          <p:cNvPicPr>
            <a:picLocks noChangeAspect="1"/>
          </p:cNvPicPr>
          <p:nvPr/>
        </p:nvPicPr>
        <p:blipFill>
          <a:blip r:embed="rId4"/>
          <a:stretch>
            <a:fillRect/>
          </a:stretch>
        </p:blipFill>
        <p:spPr>
          <a:xfrm flipH="1">
            <a:off x="320040" y="4434840"/>
            <a:ext cx="320040" cy="320040"/>
          </a:xfrm>
          <a:prstGeom prst="rect">
            <a:avLst/>
          </a:prstGeom>
        </p:spPr>
      </p:pic>
      <p:pic>
        <p:nvPicPr>
          <p:cNvPr id="8" name="Image 4" descr="preencoded.png">
            <a:extLst>
              <a:ext uri="{FF2B5EF4-FFF2-40B4-BE49-F238E27FC236}">
                <a16:creationId xmlns:a16="http://schemas.microsoft.com/office/drawing/2014/main" id="{A268A2DE-10B1-70F7-57FE-14E80E4B2646}"/>
              </a:ext>
            </a:extLst>
          </p:cNvPr>
          <p:cNvPicPr>
            <a:picLocks noChangeAspect="1"/>
          </p:cNvPicPr>
          <p:nvPr/>
        </p:nvPicPr>
        <p:blipFill>
          <a:blip r:embed="rId4"/>
          <a:stretch>
            <a:fillRect/>
          </a:stretch>
        </p:blipFill>
        <p:spPr>
          <a:xfrm>
            <a:off x="1664208" y="155448"/>
            <a:ext cx="256032" cy="256032"/>
          </a:xfrm>
          <a:prstGeom prst="rect">
            <a:avLst/>
          </a:prstGeom>
        </p:spPr>
      </p:pic>
      <p:sp>
        <p:nvSpPr>
          <p:cNvPr id="9" name="Text 2">
            <a:extLst>
              <a:ext uri="{FF2B5EF4-FFF2-40B4-BE49-F238E27FC236}">
                <a16:creationId xmlns:a16="http://schemas.microsoft.com/office/drawing/2014/main" id="{B7389643-E1C9-44E3-130D-DD6AD6BEF60B}"/>
              </a:ext>
            </a:extLst>
          </p:cNvPr>
          <p:cNvSpPr/>
          <p:nvPr/>
        </p:nvSpPr>
        <p:spPr>
          <a:xfrm>
            <a:off x="1993392" y="91440"/>
            <a:ext cx="6400800" cy="411480"/>
          </a:xfrm>
          <a:prstGeom prst="rect">
            <a:avLst/>
          </a:prstGeom>
          <a:noFill/>
          <a:ln/>
        </p:spPr>
        <p:txBody>
          <a:bodyPr wrap="square" lIns="0" tIns="0" rIns="0" bIns="0" rtlCol="0" anchor="ctr"/>
          <a:lstStyle/>
          <a:p>
            <a:r>
              <a:rPr lang="en-GB" b="1" dirty="0" err="1">
                <a:solidFill>
                  <a:srgbClr val="1A1A1A"/>
                </a:solidFill>
                <a:latin typeface="Calibri" pitchFamily="34" charset="0"/>
                <a:ea typeface="Calibri" pitchFamily="34" charset="-122"/>
                <a:cs typeface="Calibri" pitchFamily="34" charset="-120"/>
              </a:rPr>
              <a:t>Références</a:t>
            </a:r>
            <a:endParaRPr lang="en-US" b="1" dirty="0">
              <a:solidFill>
                <a:srgbClr val="1A1A1A"/>
              </a:solidFill>
              <a:latin typeface="Calibri" pitchFamily="34" charset="0"/>
              <a:ea typeface="Calibri" pitchFamily="34" charset="-122"/>
              <a:cs typeface="Calibri" pitchFamily="34" charset="-120"/>
            </a:endParaRPr>
          </a:p>
        </p:txBody>
      </p:sp>
      <p:sp>
        <p:nvSpPr>
          <p:cNvPr id="10" name="Shape 3">
            <a:extLst>
              <a:ext uri="{FF2B5EF4-FFF2-40B4-BE49-F238E27FC236}">
                <a16:creationId xmlns:a16="http://schemas.microsoft.com/office/drawing/2014/main" id="{B0DD581D-83BB-86AE-D265-9384D12A1962}"/>
              </a:ext>
            </a:extLst>
          </p:cNvPr>
          <p:cNvSpPr/>
          <p:nvPr/>
        </p:nvSpPr>
        <p:spPr>
          <a:xfrm>
            <a:off x="1664208" y="548640"/>
            <a:ext cx="7178040" cy="22860"/>
          </a:xfrm>
          <a:prstGeom prst="rect">
            <a:avLst/>
          </a:prstGeom>
          <a:solidFill>
            <a:srgbClr val="C00000"/>
          </a:solidFill>
          <a:ln w="12700">
            <a:solidFill>
              <a:srgbClr val="C00000"/>
            </a:solidFill>
            <a:prstDash val="solid"/>
          </a:ln>
        </p:spPr>
        <p:txBody>
          <a:bodyPr/>
          <a:lstStyle/>
          <a:p>
            <a:endParaRPr lang="en-GB"/>
          </a:p>
        </p:txBody>
      </p:sp>
      <p:sp>
        <p:nvSpPr>
          <p:cNvPr id="12" name="Shape 5">
            <a:extLst>
              <a:ext uri="{FF2B5EF4-FFF2-40B4-BE49-F238E27FC236}">
                <a16:creationId xmlns:a16="http://schemas.microsoft.com/office/drawing/2014/main" id="{95EA5CD9-B20A-1A71-EE43-9A336EF00943}"/>
              </a:ext>
            </a:extLst>
          </p:cNvPr>
          <p:cNvSpPr/>
          <p:nvPr/>
        </p:nvSpPr>
        <p:spPr>
          <a:xfrm>
            <a:off x="0" y="4828032"/>
            <a:ext cx="9144000" cy="18288"/>
          </a:xfrm>
          <a:prstGeom prst="rect">
            <a:avLst/>
          </a:prstGeom>
          <a:solidFill>
            <a:srgbClr val="C00000"/>
          </a:solidFill>
          <a:ln w="12700">
            <a:solidFill>
              <a:srgbClr val="C00000"/>
            </a:solidFill>
            <a:prstDash val="solid"/>
          </a:ln>
        </p:spPr>
        <p:txBody>
          <a:bodyPr/>
          <a:lstStyle/>
          <a:p>
            <a:endParaRPr lang="en-GB"/>
          </a:p>
        </p:txBody>
      </p:sp>
      <p:sp>
        <p:nvSpPr>
          <p:cNvPr id="13" name="Shape 6">
            <a:extLst>
              <a:ext uri="{FF2B5EF4-FFF2-40B4-BE49-F238E27FC236}">
                <a16:creationId xmlns:a16="http://schemas.microsoft.com/office/drawing/2014/main" id="{26222A1F-B1C8-1FE4-4600-D84B92F7DFF1}"/>
              </a:ext>
            </a:extLst>
          </p:cNvPr>
          <p:cNvSpPr/>
          <p:nvPr/>
        </p:nvSpPr>
        <p:spPr>
          <a:xfrm>
            <a:off x="0" y="4846320"/>
            <a:ext cx="9144000" cy="297180"/>
          </a:xfrm>
          <a:prstGeom prst="rect">
            <a:avLst/>
          </a:prstGeom>
          <a:solidFill>
            <a:srgbClr val="F2F2F2"/>
          </a:solidFill>
          <a:ln w="12700">
            <a:solidFill>
              <a:srgbClr val="F2F2F2"/>
            </a:solidFill>
            <a:prstDash val="solid"/>
          </a:ln>
        </p:spPr>
        <p:txBody>
          <a:bodyPr/>
          <a:lstStyle/>
          <a:p>
            <a:endParaRPr lang="en-GB" dirty="0"/>
          </a:p>
        </p:txBody>
      </p:sp>
      <p:sp>
        <p:nvSpPr>
          <p:cNvPr id="17" name="Text 7">
            <a:extLst>
              <a:ext uri="{FF2B5EF4-FFF2-40B4-BE49-F238E27FC236}">
                <a16:creationId xmlns:a16="http://schemas.microsoft.com/office/drawing/2014/main" id="{47C7EC1C-71FF-41D8-B908-4954DEF71474}"/>
              </a:ext>
            </a:extLst>
          </p:cNvPr>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595959"/>
                </a:solidFill>
              </a:rPr>
              <a:t>48</a:t>
            </a:r>
            <a:endParaRPr lang="en-US" sz="900" dirty="0"/>
          </a:p>
        </p:txBody>
      </p:sp>
      <p:pic>
        <p:nvPicPr>
          <p:cNvPr id="18" name="object 2">
            <a:extLst>
              <a:ext uri="{FF2B5EF4-FFF2-40B4-BE49-F238E27FC236}">
                <a16:creationId xmlns:a16="http://schemas.microsoft.com/office/drawing/2014/main" id="{07215BA0-B413-5211-C2F8-E2D2C0FCAE34}"/>
              </a:ext>
            </a:extLst>
          </p:cNvPr>
          <p:cNvPicPr/>
          <p:nvPr/>
        </p:nvPicPr>
        <p:blipFill>
          <a:blip r:embed="rId5" cstate="print"/>
          <a:stretch>
            <a:fillRect/>
          </a:stretch>
        </p:blipFill>
        <p:spPr>
          <a:xfrm>
            <a:off x="0" y="88479"/>
            <a:ext cx="1591056" cy="537747"/>
          </a:xfrm>
          <a:prstGeom prst="rect">
            <a:avLst/>
          </a:prstGeom>
        </p:spPr>
      </p:pic>
      <p:pic>
        <p:nvPicPr>
          <p:cNvPr id="49" name="Picture 48">
            <a:extLst>
              <a:ext uri="{FF2B5EF4-FFF2-40B4-BE49-F238E27FC236}">
                <a16:creationId xmlns:a16="http://schemas.microsoft.com/office/drawing/2014/main" id="{192D5B75-50DE-62BA-A159-841C2A4E3DAB}"/>
              </a:ext>
            </a:extLst>
          </p:cNvPr>
          <p:cNvPicPr>
            <a:picLocks noGrp="1" noRot="1" noChangeAspect="1" noMove="1" noResize="1" noEditPoints="1" noAdjustHandles="1" noChangeArrowheads="1" noChangeShapeType="1" noCrop="1"/>
          </p:cNvPicPr>
          <p:nvPr/>
        </p:nvPicPr>
        <p:blipFill>
          <a:blip r:embed="rId6"/>
          <a:stretch>
            <a:fillRect/>
          </a:stretch>
        </p:blipFill>
        <p:spPr>
          <a:xfrm>
            <a:off x="5504449" y="2293132"/>
            <a:ext cx="695422" cy="314369"/>
          </a:xfrm>
          <a:prstGeom prst="rect">
            <a:avLst/>
          </a:prstGeom>
        </p:spPr>
      </p:pic>
      <p:sp>
        <p:nvSpPr>
          <p:cNvPr id="11" name="TextBox 10">
            <a:extLst>
              <a:ext uri="{FF2B5EF4-FFF2-40B4-BE49-F238E27FC236}">
                <a16:creationId xmlns:a16="http://schemas.microsoft.com/office/drawing/2014/main" id="{2267F4A3-7D67-FBC7-0F54-57CF1ACE2FFC}"/>
              </a:ext>
            </a:extLst>
          </p:cNvPr>
          <p:cNvSpPr txBox="1"/>
          <p:nvPr/>
        </p:nvSpPr>
        <p:spPr>
          <a:xfrm>
            <a:off x="545048" y="845820"/>
            <a:ext cx="8874252" cy="3387722"/>
          </a:xfrm>
          <a:prstGeom prst="rect">
            <a:avLst/>
          </a:prstGeom>
          <a:noFill/>
        </p:spPr>
        <p:txBody>
          <a:bodyPr wrap="square">
            <a:spAutoFit/>
          </a:bodyPr>
          <a:lstStyle/>
          <a:p>
            <a:pPr>
              <a:lnSpc>
                <a:spcPct val="150000"/>
              </a:lnSpc>
              <a:buNone/>
            </a:pPr>
            <a:r>
              <a:rPr lang="en-GB" sz="1200" b="1" dirty="0" err="1"/>
              <a:t>Ouvrages</a:t>
            </a:r>
            <a:r>
              <a:rPr lang="en-GB" sz="1200" b="1" dirty="0"/>
              <a:t> :</a:t>
            </a:r>
            <a:endParaRPr lang="en-GB" sz="1200" dirty="0"/>
          </a:p>
          <a:p>
            <a:pPr>
              <a:lnSpc>
                <a:spcPct val="150000"/>
              </a:lnSpc>
              <a:buFont typeface="Arial" panose="020B0604020202020204" pitchFamily="34" charset="0"/>
              <a:buChar char="•"/>
            </a:pPr>
            <a:r>
              <a:rPr lang="en-GB" sz="1200" dirty="0"/>
              <a:t> Gamma, E., Helm, R., Johnson, R., </a:t>
            </a:r>
            <a:r>
              <a:rPr lang="en-GB" sz="1200" dirty="0" err="1"/>
              <a:t>Vlissides</a:t>
            </a:r>
            <a:r>
              <a:rPr lang="en-GB" sz="1200" dirty="0"/>
              <a:t>, J. — </a:t>
            </a:r>
            <a:r>
              <a:rPr lang="en-GB" sz="1200" i="1" dirty="0"/>
              <a:t>Design Patterns: Elements of Reusable Object-Oriented Software</a:t>
            </a:r>
            <a:r>
              <a:rPr lang="en-GB" sz="1200" dirty="0"/>
              <a:t>, Addison-Wesley, 1994</a:t>
            </a:r>
          </a:p>
          <a:p>
            <a:pPr>
              <a:lnSpc>
                <a:spcPct val="150000"/>
              </a:lnSpc>
              <a:buFont typeface="Arial" panose="020B0604020202020204" pitchFamily="34" charset="0"/>
              <a:buChar char="•"/>
            </a:pPr>
            <a:r>
              <a:rPr lang="en-GB" sz="1200" dirty="0"/>
              <a:t> Martin Fowler — </a:t>
            </a:r>
            <a:r>
              <a:rPr lang="en-GB" sz="1200" i="1" dirty="0"/>
              <a:t>Patterns of Enterprise Application Architecture</a:t>
            </a:r>
            <a:r>
              <a:rPr lang="en-GB" sz="1200" dirty="0"/>
              <a:t>, Addison-Wesley, 2002</a:t>
            </a:r>
          </a:p>
          <a:p>
            <a:pPr>
              <a:lnSpc>
                <a:spcPct val="150000"/>
              </a:lnSpc>
              <a:buNone/>
            </a:pPr>
            <a:r>
              <a:rPr lang="en-GB" sz="1200" b="1" dirty="0"/>
              <a:t>Documentation </a:t>
            </a:r>
            <a:r>
              <a:rPr lang="en-GB" sz="1200" b="1" dirty="0" err="1"/>
              <a:t>officielle</a:t>
            </a:r>
            <a:r>
              <a:rPr lang="en-GB" sz="1200" b="1" dirty="0"/>
              <a:t> :</a:t>
            </a:r>
            <a:endParaRPr lang="en-GB" sz="1200" dirty="0"/>
          </a:p>
          <a:p>
            <a:pPr>
              <a:lnSpc>
                <a:spcPct val="150000"/>
              </a:lnSpc>
              <a:buFont typeface="Arial" panose="020B0604020202020204" pitchFamily="34" charset="0"/>
              <a:buChar char="•"/>
            </a:pPr>
            <a:r>
              <a:rPr lang="en-GB" sz="1200" dirty="0"/>
              <a:t> Documentation Spring Framework : </a:t>
            </a:r>
            <a:r>
              <a:rPr lang="en-GB" sz="1200" dirty="0">
                <a:hlinkClick r:id="rId7"/>
              </a:rPr>
              <a:t>https://docs.spring.io/spring-framework/reference/</a:t>
            </a:r>
            <a:endParaRPr lang="en-GB" sz="1200" dirty="0"/>
          </a:p>
          <a:p>
            <a:pPr>
              <a:lnSpc>
                <a:spcPct val="150000"/>
              </a:lnSpc>
              <a:buFont typeface="Arial" panose="020B0604020202020204" pitchFamily="34" charset="0"/>
              <a:buChar char="•"/>
            </a:pPr>
            <a:r>
              <a:rPr lang="en-GB" sz="1200" dirty="0"/>
              <a:t> Spring </a:t>
            </a:r>
            <a:r>
              <a:rPr lang="en-GB" sz="1200" dirty="0" err="1"/>
              <a:t>Initializr</a:t>
            </a:r>
            <a:r>
              <a:rPr lang="en-GB" sz="1200" dirty="0"/>
              <a:t> : </a:t>
            </a:r>
            <a:r>
              <a:rPr lang="en-GB" sz="1200" dirty="0">
                <a:hlinkClick r:id="rId8"/>
              </a:rPr>
              <a:t>https://start.spring.io</a:t>
            </a:r>
            <a:endParaRPr lang="en-GB" sz="1200" dirty="0"/>
          </a:p>
          <a:p>
            <a:pPr>
              <a:lnSpc>
                <a:spcPct val="150000"/>
              </a:lnSpc>
              <a:buNone/>
            </a:pPr>
            <a:r>
              <a:rPr lang="en-GB" sz="1200" b="1" dirty="0"/>
              <a:t>Design Patterns :</a:t>
            </a:r>
            <a:endParaRPr lang="en-GB" sz="1200" dirty="0"/>
          </a:p>
          <a:p>
            <a:pPr>
              <a:lnSpc>
                <a:spcPct val="150000"/>
              </a:lnSpc>
              <a:buFont typeface="Arial" panose="020B0604020202020204" pitchFamily="34" charset="0"/>
              <a:buChar char="•"/>
            </a:pPr>
            <a:r>
              <a:rPr lang="en-GB" sz="1200" dirty="0"/>
              <a:t> Refactoring Guru — Design Patterns : </a:t>
            </a:r>
            <a:r>
              <a:rPr lang="en-GB" sz="1200" dirty="0">
                <a:hlinkClick r:id="rId9"/>
              </a:rPr>
              <a:t>https://refactoring.guru/design-patterns</a:t>
            </a:r>
            <a:endParaRPr lang="en-GB" sz="1200" dirty="0"/>
          </a:p>
          <a:p>
            <a:pPr>
              <a:lnSpc>
                <a:spcPct val="150000"/>
              </a:lnSpc>
              <a:buFont typeface="Arial" panose="020B0604020202020204" pitchFamily="34" charset="0"/>
              <a:buChar char="•"/>
            </a:pPr>
            <a:r>
              <a:rPr lang="en-GB" sz="1200" dirty="0"/>
              <a:t> </a:t>
            </a:r>
            <a:r>
              <a:rPr lang="en-GB" sz="1200" dirty="0" err="1"/>
              <a:t>Baeldung</a:t>
            </a:r>
            <a:r>
              <a:rPr lang="en-GB" sz="1200" dirty="0"/>
              <a:t> — Spring Design Patterns : </a:t>
            </a:r>
            <a:r>
              <a:rPr lang="en-GB" sz="1200" dirty="0">
                <a:hlinkClick r:id="rId10"/>
              </a:rPr>
              <a:t>https://www.baeldung.com/spring-framework-design-patterns</a:t>
            </a:r>
            <a:endParaRPr lang="en-GB" sz="1200" dirty="0"/>
          </a:p>
          <a:p>
            <a:pPr>
              <a:lnSpc>
                <a:spcPct val="150000"/>
              </a:lnSpc>
              <a:buNone/>
            </a:pPr>
            <a:r>
              <a:rPr lang="en-GB" sz="1200" b="1" dirty="0"/>
              <a:t>Architecture :</a:t>
            </a:r>
            <a:endParaRPr lang="en-GB" sz="1200" dirty="0"/>
          </a:p>
          <a:p>
            <a:pPr>
              <a:lnSpc>
                <a:spcPct val="150000"/>
              </a:lnSpc>
              <a:buFont typeface="Arial" panose="020B0604020202020204" pitchFamily="34" charset="0"/>
              <a:buChar char="•"/>
            </a:pPr>
            <a:r>
              <a:rPr lang="en-GB" sz="1200" dirty="0"/>
              <a:t> Martin Fowler — Architecture Patterns : </a:t>
            </a:r>
            <a:r>
              <a:rPr lang="en-GB" sz="1200" dirty="0">
                <a:hlinkClick r:id="rId11"/>
              </a:rPr>
              <a:t>https://martinfowler.com/eaaCatalog/</a:t>
            </a:r>
            <a:endParaRPr lang="en-GB" sz="1200" dirty="0"/>
          </a:p>
          <a:p>
            <a:pPr>
              <a:lnSpc>
                <a:spcPct val="150000"/>
              </a:lnSpc>
              <a:buFont typeface="Arial" panose="020B0604020202020204" pitchFamily="34" charset="0"/>
              <a:buChar char="•"/>
            </a:pPr>
            <a:r>
              <a:rPr lang="en-GB" sz="1200" dirty="0"/>
              <a:t> Microsoft — Architecture Guide : </a:t>
            </a:r>
            <a:r>
              <a:rPr lang="en-GB" sz="1200" dirty="0">
                <a:hlinkClick r:id="rId12"/>
              </a:rPr>
              <a:t>https://docs.microsoft.com/en-us/azure/architecture/patterns/</a:t>
            </a:r>
            <a:endParaRPr lang="en-GB" sz="1200" dirty="0"/>
          </a:p>
        </p:txBody>
      </p:sp>
      <p:sp>
        <p:nvSpPr>
          <p:cNvPr id="15" name="TextBox 14">
            <a:extLst>
              <a:ext uri="{FF2B5EF4-FFF2-40B4-BE49-F238E27FC236}">
                <a16:creationId xmlns:a16="http://schemas.microsoft.com/office/drawing/2014/main" id="{689D5030-8773-A657-1B4F-A59E8D4FE5A2}"/>
              </a:ext>
            </a:extLst>
          </p:cNvPr>
          <p:cNvSpPr txBox="1"/>
          <p:nvPr/>
        </p:nvSpPr>
        <p:spPr>
          <a:xfrm>
            <a:off x="2790259" y="4864105"/>
            <a:ext cx="3563482" cy="261610"/>
          </a:xfrm>
          <a:prstGeom prst="rect">
            <a:avLst/>
          </a:prstGeom>
          <a:noFill/>
        </p:spPr>
        <p:txBody>
          <a:bodyPr wrap="square">
            <a:spAutoFit/>
          </a:bodyPr>
          <a:lstStyle/>
          <a:p>
            <a:pPr algn="ctr">
              <a:spcBef>
                <a:spcPts val="1549"/>
              </a:spcBef>
            </a:pPr>
            <a:r>
              <a:rPr lang="fr-FR" sz="1050" b="1" dirty="0"/>
              <a:t>© ESPRIT – UP ASI – Module Architecture des SI </a:t>
            </a:r>
            <a:endParaRPr lang="en-GB" sz="1050" b="1" dirty="0">
              <a:cs typeface="Calibri"/>
            </a:endParaRPr>
          </a:p>
        </p:txBody>
      </p:sp>
    </p:spTree>
    <p:extLst>
      <p:ext uri="{BB962C8B-B14F-4D97-AF65-F5344CB8AC3E}">
        <p14:creationId xmlns:p14="http://schemas.microsoft.com/office/powerpoint/2010/main" val="26880009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3B36CB0-993B-8758-E47B-4C392CC19210}"/>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09A5A54D-1DA3-D6F9-1738-24274C736B59}"/>
              </a:ext>
            </a:extLst>
          </p:cNvPr>
          <p:cNvGrpSpPr/>
          <p:nvPr/>
        </p:nvGrpSpPr>
        <p:grpSpPr>
          <a:xfrm>
            <a:off x="0" y="149087"/>
            <a:ext cx="9144000" cy="4845326"/>
            <a:chOff x="0" y="149087"/>
            <a:chExt cx="9144000" cy="4845326"/>
          </a:xfrm>
        </p:grpSpPr>
        <p:grpSp>
          <p:nvGrpSpPr>
            <p:cNvPr id="11" name="Group 10">
              <a:extLst>
                <a:ext uri="{FF2B5EF4-FFF2-40B4-BE49-F238E27FC236}">
                  <a16:creationId xmlns:a16="http://schemas.microsoft.com/office/drawing/2014/main" id="{AD1A6343-BCBE-9C53-93EE-E98A8395B65A}"/>
                </a:ext>
              </a:extLst>
            </p:cNvPr>
            <p:cNvGrpSpPr/>
            <p:nvPr/>
          </p:nvGrpSpPr>
          <p:grpSpPr>
            <a:xfrm>
              <a:off x="0" y="149087"/>
              <a:ext cx="9144000" cy="4845326"/>
              <a:chOff x="0" y="149087"/>
              <a:chExt cx="9144000" cy="4845326"/>
            </a:xfrm>
          </p:grpSpPr>
          <p:pic>
            <p:nvPicPr>
              <p:cNvPr id="14" name="Picture 13">
                <a:extLst>
                  <a:ext uri="{FF2B5EF4-FFF2-40B4-BE49-F238E27FC236}">
                    <a16:creationId xmlns:a16="http://schemas.microsoft.com/office/drawing/2014/main" id="{D4EF0BC9-2924-FE57-2648-4B5A431576BF}"/>
                  </a:ext>
                </a:extLst>
              </p:cNvPr>
              <p:cNvPicPr>
                <a:picLocks noChangeAspect="1"/>
              </p:cNvPicPr>
              <p:nvPr/>
            </p:nvPicPr>
            <p:blipFill>
              <a:blip r:embed="rId4"/>
              <a:stretch>
                <a:fillRect/>
              </a:stretch>
            </p:blipFill>
            <p:spPr>
              <a:xfrm>
                <a:off x="0" y="149087"/>
                <a:ext cx="9144000" cy="4845326"/>
              </a:xfrm>
              <a:prstGeom prst="rect">
                <a:avLst/>
              </a:prstGeom>
            </p:spPr>
          </p:pic>
          <p:pic>
            <p:nvPicPr>
              <p:cNvPr id="15" name="object 2">
                <a:extLst>
                  <a:ext uri="{FF2B5EF4-FFF2-40B4-BE49-F238E27FC236}">
                    <a16:creationId xmlns:a16="http://schemas.microsoft.com/office/drawing/2014/main" id="{DD2D94A1-7A83-CFDA-95E9-DB12CD2D0413}"/>
                  </a:ext>
                </a:extLst>
              </p:cNvPr>
              <p:cNvPicPr/>
              <p:nvPr/>
            </p:nvPicPr>
            <p:blipFill>
              <a:blip r:embed="rId5" cstate="print"/>
              <a:stretch>
                <a:fillRect/>
              </a:stretch>
            </p:blipFill>
            <p:spPr>
              <a:xfrm>
                <a:off x="404223" y="403072"/>
                <a:ext cx="1591056" cy="537747"/>
              </a:xfrm>
              <a:prstGeom prst="rect">
                <a:avLst/>
              </a:prstGeom>
            </p:spPr>
          </p:pic>
          <p:pic>
            <p:nvPicPr>
              <p:cNvPr id="16" name="Picture 15">
                <a:extLst>
                  <a:ext uri="{FF2B5EF4-FFF2-40B4-BE49-F238E27FC236}">
                    <a16:creationId xmlns:a16="http://schemas.microsoft.com/office/drawing/2014/main" id="{EA8BF09C-8DC4-85EE-7EE4-6D5826ABE2A3}"/>
                  </a:ext>
                </a:extLst>
              </p:cNvPr>
              <p:cNvPicPr>
                <a:picLocks noChangeAspect="1"/>
              </p:cNvPicPr>
              <p:nvPr/>
            </p:nvPicPr>
            <p:blipFill>
              <a:blip r:embed="rId4"/>
              <a:srcRect l="30670" t="74207" r="63834" b="18903"/>
              <a:stretch>
                <a:fillRect/>
              </a:stretch>
            </p:blipFill>
            <p:spPr>
              <a:xfrm>
                <a:off x="3205914" y="3795485"/>
                <a:ext cx="2621571" cy="333830"/>
              </a:xfrm>
              <a:prstGeom prst="rect">
                <a:avLst/>
              </a:prstGeom>
            </p:spPr>
          </p:pic>
          <p:sp>
            <p:nvSpPr>
              <p:cNvPr id="18" name="Oval 17">
                <a:extLst>
                  <a:ext uri="{FF2B5EF4-FFF2-40B4-BE49-F238E27FC236}">
                    <a16:creationId xmlns:a16="http://schemas.microsoft.com/office/drawing/2014/main" id="{97792644-5DA5-D470-4486-B2BF9727AD3D}"/>
                  </a:ext>
                </a:extLst>
              </p:cNvPr>
              <p:cNvSpPr/>
              <p:nvPr/>
            </p:nvSpPr>
            <p:spPr>
              <a:xfrm>
                <a:off x="2521131" y="4349931"/>
                <a:ext cx="3899263" cy="333830"/>
              </a:xfrm>
              <a:prstGeom prst="ellipse">
                <a:avLst/>
              </a:prstGeom>
              <a:solidFill>
                <a:srgbClr val="ECEC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TextBox 18">
                <a:extLst>
                  <a:ext uri="{FF2B5EF4-FFF2-40B4-BE49-F238E27FC236}">
                    <a16:creationId xmlns:a16="http://schemas.microsoft.com/office/drawing/2014/main" id="{7B73F7CE-22D5-9BDD-BAB7-4675A2B699C2}"/>
                  </a:ext>
                </a:extLst>
              </p:cNvPr>
              <p:cNvSpPr txBox="1"/>
              <p:nvPr/>
            </p:nvSpPr>
            <p:spPr>
              <a:xfrm>
                <a:off x="3141617" y="3795485"/>
                <a:ext cx="2621571" cy="369332"/>
              </a:xfrm>
              <a:prstGeom prst="rect">
                <a:avLst/>
              </a:prstGeom>
              <a:noFill/>
            </p:spPr>
            <p:txBody>
              <a:bodyPr wrap="square" rtlCol="0">
                <a:spAutoFit/>
              </a:bodyPr>
              <a:lstStyle/>
              <a:p>
                <a:endParaRPr lang="fr-FR" dirty="0"/>
              </a:p>
            </p:txBody>
          </p:sp>
        </p:grpSp>
        <p:sp>
          <p:nvSpPr>
            <p:cNvPr id="13" name="Text 4">
              <a:extLst>
                <a:ext uri="{FF2B5EF4-FFF2-40B4-BE49-F238E27FC236}">
                  <a16:creationId xmlns:a16="http://schemas.microsoft.com/office/drawing/2014/main" id="{9FD5D234-1AA5-5877-7869-7E47E1BEEBD9}"/>
                </a:ext>
              </a:extLst>
            </p:cNvPr>
            <p:cNvSpPr/>
            <p:nvPr/>
          </p:nvSpPr>
          <p:spPr>
            <a:xfrm>
              <a:off x="3036905" y="3753225"/>
              <a:ext cx="3265923" cy="418350"/>
            </a:xfrm>
            <a:prstGeom prst="rect">
              <a:avLst/>
            </a:prstGeom>
            <a:noFill/>
            <a:ln/>
          </p:spPr>
          <p:txBody>
            <a:bodyPr wrap="square" rtlCol="0" anchor="t"/>
            <a:lstStyle/>
            <a:p>
              <a:pPr algn="just">
                <a:lnSpc>
                  <a:spcPct val="150000"/>
                </a:lnSpc>
              </a:pPr>
              <a:r>
                <a:rPr lang="fr-FR" sz="1200" dirty="0">
                  <a:solidFill>
                    <a:srgbClr val="EEEEEE"/>
                  </a:solidFill>
                </a:rPr>
                <a:t>Module Architecture des SI – 2026 - 2027</a:t>
              </a:r>
            </a:p>
          </p:txBody>
        </p:sp>
      </p:grpSp>
    </p:spTree>
    <p:extLst>
      <p:ext uri="{BB962C8B-B14F-4D97-AF65-F5344CB8AC3E}">
        <p14:creationId xmlns:p14="http://schemas.microsoft.com/office/powerpoint/2010/main" val="13698405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1734</TotalTime>
  <Words>4751</Words>
  <Application>Microsoft Office PowerPoint</Application>
  <PresentationFormat>On-screen Show (16:9)</PresentationFormat>
  <Paragraphs>569</Paragraphs>
  <Slides>50</Slides>
  <Notes>49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Calibri</vt:lpstr>
      <vt:lpstr>Cambria</vt:lpstr>
      <vt:lpstr>Wingdings</vt:lpstr>
      <vt:lpstr>Office Theme</vt:lpstr>
      <vt:lpstr>Introduction à l'architecture des SI &amp; Spring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ESPRIT</dc:title>
  <dc:subject>PptxGenJS Presentation</dc:subject>
  <dc:creator>PptxGenJS</dc:creator>
  <cp:lastModifiedBy>Alaa RAMI</cp:lastModifiedBy>
  <cp:revision>20</cp:revision>
  <dcterms:created xsi:type="dcterms:W3CDTF">2026-05-13T18:28:21Z</dcterms:created>
  <dcterms:modified xsi:type="dcterms:W3CDTF">2026-09-09T20:57:58Z</dcterms:modified>
</cp:coreProperties>
</file>