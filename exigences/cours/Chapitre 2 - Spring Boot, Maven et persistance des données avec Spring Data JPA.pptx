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69" r:id="rId2"/>
    <p:sldId id="271" r:id="rId3"/>
    <p:sldId id="272" r:id="rId4"/>
    <p:sldId id="273" r:id="rId5"/>
    <p:sldId id="309" r:id="rId6"/>
    <p:sldId id="310" r:id="rId7"/>
    <p:sldId id="311" r:id="rId8"/>
    <p:sldId id="312" r:id="rId9"/>
    <p:sldId id="313" r:id="rId10"/>
    <p:sldId id="314" r:id="rId11"/>
    <p:sldId id="315" r:id="rId12"/>
    <p:sldId id="316" r:id="rId13"/>
    <p:sldId id="317" r:id="rId14"/>
    <p:sldId id="318" r:id="rId15"/>
    <p:sldId id="320" r:id="rId16"/>
    <p:sldId id="319" r:id="rId17"/>
    <p:sldId id="321" r:id="rId18"/>
    <p:sldId id="322" r:id="rId19"/>
    <p:sldId id="323" r:id="rId20"/>
    <p:sldId id="324" r:id="rId21"/>
    <p:sldId id="325" r:id="rId22"/>
    <p:sldId id="326" r:id="rId23"/>
    <p:sldId id="327" r:id="rId24"/>
    <p:sldId id="328" r:id="rId25"/>
    <p:sldId id="330" r:id="rId26"/>
    <p:sldId id="331" r:id="rId27"/>
    <p:sldId id="332" r:id="rId28"/>
    <p:sldId id="333" r:id="rId29"/>
    <p:sldId id="305" r:id="rId30"/>
    <p:sldId id="307" r:id="rId31"/>
    <p:sldId id="308"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4383" autoAdjust="0"/>
  </p:normalViewPr>
  <p:slideViewPr>
    <p:cSldViewPr snapToGrid="0" snapToObjects="1">
      <p:cViewPr varScale="1">
        <p:scale>
          <a:sx n="146" d="100"/>
          <a:sy n="146" d="100"/>
        </p:scale>
        <p:origin x="59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584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67510-ADF5-16CC-12EE-FF94C8C3D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04DFE-3B36-EBE7-0E4C-0E26EEC7A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5F8E9-858A-E84E-F164-2B8BA1AD6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40CEFA-F422-9988-5C9B-1F6F6D63A97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00252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70CBC-E9FF-FF44-0FA0-D14B93B35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4FF13-F8DF-1197-F3FD-667784ED3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4A121-DBB8-6C41-F6D2-997FFFDC9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71B9D3-217C-D8BC-6D97-82662DE6F01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07373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8504-394A-EAC7-F387-E68CAF5AD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EEA92-959E-A000-A15F-EB6358753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C05A-4C6A-DDC1-617B-EC350D7FF9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4704A-6D1E-9D66-37C6-FD73CA81693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90643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0F0F4-850D-7909-004F-4D487159F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040C1-383A-6DAD-EAAE-9C53D83DC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BDE4C-C3D8-E517-DCD4-B2F66CB2B8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2CA13-C3E2-41B4-A4B4-3A5E2D0C1A7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92753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8FC4E-FC02-01DB-314A-41F447431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99841-BF61-E9AB-CB58-9F5DEFDC0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887BD-EACF-FD3F-1BE7-C10AE925CC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960EB2-2ADC-384C-BD56-439CBC09D71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95835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9767-BC98-E96C-2AF8-91E435937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DC8A7-06BE-C850-FEF2-C843D39FB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654E1-69E7-24D3-5E4F-50C2D48908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C6AE82-D34C-9AAD-0D3F-36CC7D17D45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4281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4C0F0-682C-F28D-C24B-DF6030310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834E5-7283-6917-D97F-F7BDBA791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11702-FD90-083C-8BD6-0AAA9B804F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97D1FD-B9F5-E7E9-AE97-B4479BD5848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87857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59685-FA88-A891-B7AE-21EE30161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A8EAE-AA5C-1E03-F15C-A1A486ED2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294BE-2EAC-237B-8DC2-48BC724D9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C9363-EAAA-73E6-BB47-5D34F7AD2F5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741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33949-4D38-77FB-EDF1-F57B768D1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FA490-B493-285F-E88F-EB4B061EF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95944-630C-A303-D257-0B4D87E2F8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0A0847-F50E-4EDA-2FB1-C4E328BB792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6177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0276E-4823-F658-61DD-69BE3150E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2B53D-6A7D-A855-9A65-F77D0335E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415A7-D87C-436C-8EB1-23212B9D98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BD98F-A90B-461D-498D-D8185996BE8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32206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4840-F9FD-2A57-752F-34A7EA5BB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F5FF1-3E7D-FB2D-DD8B-28FDF19E5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68EEE-FA0C-EFD0-EDB4-EC4CE3860C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866E3-F3DE-A1ED-4038-A4F66BF19CD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736295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A95A6-77F6-9107-08CD-1D05C9432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BA486-9956-18BF-FFF4-BDC8C58E9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0221F-44BE-5726-375E-7D4B724D9D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7AE789-B4AB-3DD7-C5A6-E01367CCE30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00297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78B1-17E7-1B7A-551E-D3AC2A57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2863A-A532-1C45-8553-FE0964510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963C7-3210-9A09-B473-1165D7EEA7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C46CCE-DCE5-29EC-C34E-7118B150703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28504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537E4-7FC1-7D8E-EB1E-A1188FA39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4DB45-C171-7E9C-417C-64B81C8CE8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BCFDA-B7FE-6143-E8BB-EC004BE2DA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BDD8BC-89DD-556C-3D06-B9E078BA36A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22210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25AAA-6385-0D9A-AC97-B361D297B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BB6A7-BE49-782C-828F-195354016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E6C68-7CE1-0297-D86E-FED7217B1E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37A963-3005-FF1A-71EA-76BB9C34001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24184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92430-1B93-D4A0-6FBB-415D182B0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3A85A-A729-9E32-DC35-38007E79E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55575-A463-63BE-FD91-A5BB0516B8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1D65EF-818F-AC6E-552E-2BB76467D7E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54827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893A-A7D5-B1F8-8EEF-B1348E6DA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10682-D018-D027-736A-39F847439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B98A2-4C9A-52DE-4BF6-5AC95E32B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E780E1-E5BE-B89A-2B4F-81991C64CC9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28290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D88E-CCA1-35DF-698F-81087C881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FCA48-10AE-97EE-8858-2989BF6F8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2528E-E7C5-434B-9F75-D7D343F48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EE9ACE-04C7-5824-CC41-676F839F169F}"/>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19012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CE5CE-C415-A601-E270-93E440D5A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07767-ADC4-5831-8BF4-8FF91E174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0DA7A-F4AB-51F5-DAC7-102A647A63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6C1C7-0106-7B40-419E-BA0844E453B2}"/>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662849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E09B-57AD-5BDA-9C89-3350CA557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69E41-0055-C0EE-2397-60BC9BCF4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6DBD4-370F-0870-BFA2-8DC4A2926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EC0243-35A3-8A3D-F330-D4F889A2CBA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63523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17DE0-9495-C63A-D3A4-2046F7FFA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16528-E465-AC3B-160A-B0C52F9DB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DF2E0-1A66-A899-CB82-8D6FC30E1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D8591-C9F9-DAAC-F4A0-1BF105B1446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71644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6541C-F00B-88E7-724C-E536AEF1A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1D8E1-5D29-4E3C-53CE-06D58D3C1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493AC-831C-85AF-9B54-AA2A3C9A3E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6D5B2D-DA5D-E9E9-F6A4-EEAFAF6002E8}"/>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578480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CFA24-4FD4-2D83-98C6-C1E0B1D94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17CDC-2834-4285-1241-EB3A6CC74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195DD-9151-D024-6C9B-9D2775F697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8E7C3-6C43-2CF9-1039-7482C4F5B921}"/>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419114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2436-365F-E253-69BC-3F1749963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68170-B439-B61D-510A-6C157A853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775DC-DE76-11ED-E482-7EBA2279B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F22C5F-EEF2-D752-B630-9C7A4ACB8601}"/>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181288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AB846-A8CE-B1B2-5122-A01DF1463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67EEA-1718-92BA-765B-A9051E122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F9229-7ACE-01BD-8189-853B48628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E886D-D476-17BA-0AE0-0CDCD03E0F3A}"/>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3330326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B3C6-4B5C-8151-C3A1-7F6235661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2D125-B3A8-8C4A-2029-AC51773E8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5F5A7-A582-7BB1-794D-8A4A33BF1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E7EF08-4D0F-5292-1134-B7F89D60BB9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707780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A230E-AF84-B176-014F-FCFD1FF1D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E0C5B-AEE9-1AB2-5AEB-A1501B647A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225DF-82DB-F31D-A1D2-2A30EC2767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33C978-6D64-7DBF-691A-1FFDB3AC9944}"/>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144448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70DD-1F9E-B30F-C342-AEF49E123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9AAA9-B7FD-6E04-BE40-64CFF1669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F5FB9-2626-7F7B-D776-35021D94E1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272C3B-F642-5141-E47B-2A987FE3D045}"/>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963861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7B2F8-3C08-B317-AB49-2BF31D300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654A2-CF2D-222B-C09F-C00793CDB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56BBF-A8A1-7D94-29D6-5E6EA3AF7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86C2C2-1F49-E329-45A7-824C2BEAD128}"/>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66952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35D9-8AB9-1FCF-9C94-0F2A6E40D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9413C-0E34-D469-F1B8-8D4D8D5CE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5C4A5-0969-1EC1-649E-C3F5A3CD93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75D7E5-C2C7-A086-9298-D46A2D12C073}"/>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28338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33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u="sng">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9/9/2026</a:t>
            </a:fld>
            <a:endParaRPr lang="en-US"/>
          </a:p>
        </p:txBody>
      </p:sp>
      <p:sp>
        <p:nvSpPr>
          <p:cNvPr id="6" name="Holder 6"/>
          <p:cNvSpPr>
            <a:spLocks noGrp="1"/>
          </p:cNvSpPr>
          <p:nvPr>
            <p:ph type="sldNum" sz="quarter" idx="7"/>
          </p:nvPr>
        </p:nvSpPr>
        <p:spPr/>
        <p:txBody>
          <a:bodyPr lIns="0" tIns="0" rIns="0" bIns="0"/>
          <a:lstStyle>
            <a:lvl1pPr>
              <a:defRPr sz="900" b="0" i="0">
                <a:solidFill>
                  <a:srgbClr val="878787"/>
                </a:solidFill>
                <a:latin typeface="Calibri"/>
                <a:cs typeface="Calibri"/>
              </a:defRPr>
            </a:lvl1pPr>
          </a:lstStyle>
          <a:p>
            <a:pPr marL="50959">
              <a:lnSpc>
                <a:spcPts val="930"/>
              </a:lnSpc>
            </a:pPr>
            <a:fld id="{81D60167-4931-47E6-BA6A-407CBD079E47}" type="slidenum">
              <a:rPr lang="en-GB" spc="-38" smtClean="0"/>
              <a:pPr marL="50959">
                <a:lnSpc>
                  <a:spcPts val="930"/>
                </a:lnSpc>
              </a:pPr>
              <a:t>‹#›</a:t>
            </a:fld>
            <a:endParaRPr lang="en-GB" spc="-38" dirty="0"/>
          </a:p>
        </p:txBody>
      </p:sp>
    </p:spTree>
    <p:extLst>
      <p:ext uri="{BB962C8B-B14F-4D97-AF65-F5344CB8AC3E}">
        <p14:creationId xmlns:p14="http://schemas.microsoft.com/office/powerpoint/2010/main" val="13397351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2.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hyperlink" Target="https://www.mysql.com/" TargetMode="External"/><Relationship Id="rId3" Type="http://schemas.openxmlformats.org/officeDocument/2006/relationships/image" Target="../media/image1.png"/><Relationship Id="rId7" Type="http://schemas.openxmlformats.org/officeDocument/2006/relationships/hyperlink" Target="https://www.jetbrains.com/idea"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4830" y="182223"/>
            <a:ext cx="2559939" cy="929249"/>
          </a:xfrm>
          <a:prstGeom prst="rect">
            <a:avLst/>
          </a:prstGeom>
        </p:spPr>
      </p:pic>
      <p:sp>
        <p:nvSpPr>
          <p:cNvPr id="3" name="object 3"/>
          <p:cNvSpPr txBox="1">
            <a:spLocks noGrp="1"/>
          </p:cNvSpPr>
          <p:nvPr>
            <p:ph type="title"/>
          </p:nvPr>
        </p:nvSpPr>
        <p:spPr>
          <a:xfrm>
            <a:off x="438063" y="1729083"/>
            <a:ext cx="8258821" cy="1175643"/>
          </a:xfrm>
          <a:prstGeom prst="rect">
            <a:avLst/>
          </a:prstGeom>
        </p:spPr>
        <p:txBody>
          <a:bodyPr vert="horz" wrap="square" lIns="0" tIns="79058" rIns="0" bIns="0" rtlCol="0">
            <a:spAutoFit/>
          </a:bodyPr>
          <a:lstStyle/>
          <a:p>
            <a:pPr marL="9525" marR="3810" indent="434340">
              <a:lnSpc>
                <a:spcPts val="4380"/>
              </a:lnSpc>
              <a:spcBef>
                <a:spcPts val="623"/>
              </a:spcBef>
            </a:pPr>
            <a:r>
              <a:rPr lang="fr-FR" sz="3200" b="1" dirty="0">
                <a:latin typeface="+mn-lt"/>
              </a:rPr>
              <a:t>Spring Boot, Maven et persistance des données avec Spring Data JPA</a:t>
            </a:r>
            <a:endParaRPr sz="3200" b="1" dirty="0">
              <a:latin typeface="+mn-lt"/>
            </a:endParaRPr>
          </a:p>
        </p:txBody>
      </p:sp>
      <p:sp>
        <p:nvSpPr>
          <p:cNvPr id="4" name="object 4"/>
          <p:cNvSpPr txBox="1"/>
          <p:nvPr/>
        </p:nvSpPr>
        <p:spPr>
          <a:xfrm>
            <a:off x="1958254" y="3249063"/>
            <a:ext cx="5218441" cy="543995"/>
          </a:xfrm>
          <a:prstGeom prst="rect">
            <a:avLst/>
          </a:prstGeom>
        </p:spPr>
        <p:txBody>
          <a:bodyPr vert="horz" wrap="square" lIns="0" tIns="9525" rIns="0" bIns="0" rtlCol="0">
            <a:spAutoFit/>
          </a:bodyPr>
          <a:lstStyle/>
          <a:p>
            <a:pPr marL="772477" marR="758189" indent="2381" algn="ctr">
              <a:lnSpc>
                <a:spcPct val="125000"/>
              </a:lnSpc>
              <a:spcBef>
                <a:spcPts val="75"/>
              </a:spcBef>
            </a:pPr>
            <a:r>
              <a:rPr lang="fr-FR" sz="1600" b="1" spc="-8" dirty="0">
                <a:solidFill>
                  <a:srgbClr val="B12109"/>
                </a:solidFill>
                <a:latin typeface="Calibri"/>
                <a:cs typeface="Calibri"/>
              </a:rPr>
              <a:t>Architecture des SI - UP ASI</a:t>
            </a:r>
          </a:p>
          <a:p>
            <a:pPr marL="772477" marR="758189" indent="2381" algn="ctr">
              <a:lnSpc>
                <a:spcPct val="125000"/>
              </a:lnSpc>
              <a:spcBef>
                <a:spcPts val="75"/>
              </a:spcBef>
            </a:pPr>
            <a:r>
              <a:rPr lang="en-GB" sz="1200" b="1" spc="-8" dirty="0">
                <a:solidFill>
                  <a:srgbClr val="B12109"/>
                </a:solidFill>
                <a:latin typeface="Calibri"/>
                <a:cs typeface="Calibri"/>
              </a:rPr>
              <a:t>Bureaux E204 | E304</a:t>
            </a:r>
            <a:endParaRPr sz="1200" b="1" spc="-8" dirty="0">
              <a:solidFill>
                <a:srgbClr val="B12109"/>
              </a:solidFill>
              <a:latin typeface="Calibri"/>
              <a:cs typeface="Calibri"/>
            </a:endParaRPr>
          </a:p>
        </p:txBody>
      </p:sp>
      <p:pic>
        <p:nvPicPr>
          <p:cNvPr id="5" name="object 5"/>
          <p:cNvPicPr/>
          <p:nvPr/>
        </p:nvPicPr>
        <p:blipFill>
          <a:blip r:embed="rId3" cstate="print"/>
          <a:stretch>
            <a:fillRect/>
          </a:stretch>
        </p:blipFill>
        <p:spPr>
          <a:xfrm>
            <a:off x="4071411" y="4398414"/>
            <a:ext cx="992123" cy="701116"/>
          </a:xfrm>
          <a:prstGeom prst="rect">
            <a:avLst/>
          </a:prstGeom>
        </p:spPr>
      </p:pic>
      <p:pic>
        <p:nvPicPr>
          <p:cNvPr id="6" name="object 6"/>
          <p:cNvPicPr/>
          <p:nvPr/>
        </p:nvPicPr>
        <p:blipFill>
          <a:blip r:embed="rId4" cstate="print"/>
          <a:stretch>
            <a:fillRect/>
          </a:stretch>
        </p:blipFill>
        <p:spPr>
          <a:xfrm>
            <a:off x="6152530" y="-208793"/>
            <a:ext cx="2984087" cy="1758125"/>
          </a:xfrm>
          <a:prstGeom prst="rect">
            <a:avLst/>
          </a:prstGeom>
        </p:spPr>
      </p:pic>
      <p:pic>
        <p:nvPicPr>
          <p:cNvPr id="7" name="object 7"/>
          <p:cNvPicPr/>
          <p:nvPr/>
        </p:nvPicPr>
        <p:blipFill>
          <a:blip r:embed="rId5" cstate="print"/>
          <a:stretch>
            <a:fillRect/>
          </a:stretch>
        </p:blipFill>
        <p:spPr>
          <a:xfrm>
            <a:off x="6314506" y="4535691"/>
            <a:ext cx="2048351" cy="408451"/>
          </a:xfrm>
          <a:prstGeom prst="rect">
            <a:avLst/>
          </a:prstGeom>
        </p:spPr>
      </p:pic>
      <p:pic>
        <p:nvPicPr>
          <p:cNvPr id="8" name="object 8"/>
          <p:cNvPicPr/>
          <p:nvPr/>
        </p:nvPicPr>
        <p:blipFill>
          <a:blip r:embed="rId6" cstate="print"/>
          <a:stretch>
            <a:fillRect/>
          </a:stretch>
        </p:blipFill>
        <p:spPr>
          <a:xfrm>
            <a:off x="1444799" y="4506335"/>
            <a:ext cx="1296162" cy="437807"/>
          </a:xfrm>
          <a:prstGeom prst="rect">
            <a:avLst/>
          </a:prstGeom>
        </p:spPr>
      </p:pic>
      <p:pic>
        <p:nvPicPr>
          <p:cNvPr id="11" name="object 11"/>
          <p:cNvPicPr/>
          <p:nvPr/>
        </p:nvPicPr>
        <p:blipFill>
          <a:blip r:embed="rId7" cstate="print"/>
          <a:stretch>
            <a:fillRect/>
          </a:stretch>
        </p:blipFill>
        <p:spPr>
          <a:xfrm>
            <a:off x="0" y="3263455"/>
            <a:ext cx="2466593" cy="16806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3C2396-75A2-22D8-D3FF-075E8239CCA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F3CB287-8C58-C210-BF6B-61DB069F20C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585DD7F1-6907-3B7F-0E50-D1D727FC9D86}"/>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34A6E470-18AE-0724-D9F5-3178623E1BF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108405C-9DC7-055F-C5F7-28F4C10275C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02A65F62-8E30-0671-ECAD-65A70836E15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4FA5BD0-3139-A1C9-E7F4-4DD0B31A2BCD}"/>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1EBDFF7-5364-33A0-0317-A60535000AA2}"/>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Plan du </a:t>
            </a:r>
            <a:r>
              <a:rPr lang="en-GB" b="1" dirty="0" err="1">
                <a:solidFill>
                  <a:srgbClr val="1A1A1A"/>
                </a:solidFill>
                <a:latin typeface="Calibri" pitchFamily="34" charset="0"/>
                <a:ea typeface="Calibri" pitchFamily="34" charset="-122"/>
                <a:cs typeface="Calibri" pitchFamily="34" charset="-120"/>
              </a:rPr>
              <a:t>chapitre</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5FCE5EA-FB06-4946-DDBA-085D92455BC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4061B9E7-AF13-2758-313F-7A7B9F099D09}"/>
              </a:ext>
            </a:extLst>
          </p:cNvPr>
          <p:cNvSpPr/>
          <p:nvPr/>
        </p:nvSpPr>
        <p:spPr>
          <a:xfrm>
            <a:off x="822960" y="758952"/>
            <a:ext cx="8046720" cy="3954918"/>
          </a:xfrm>
          <a:prstGeom prst="rect">
            <a:avLst/>
          </a:prstGeom>
          <a:noFill/>
          <a:ln/>
        </p:spPr>
        <p:txBody>
          <a:bodyPr wrap="square" rtlCol="0" anchor="t"/>
          <a:lstStyle/>
          <a:p>
            <a:pPr>
              <a:lnSpc>
                <a:spcPct val="200000"/>
              </a:lnSpc>
            </a:pPr>
            <a:r>
              <a:rPr lang="fr-FR" sz="1400" dirty="0"/>
              <a:t>Ce chapitre aborde les points suivants :</a:t>
            </a:r>
            <a:r>
              <a:rPr lang="en-US" sz="600" dirty="0">
                <a:solidFill>
                  <a:srgbClr val="1A1A1A"/>
                </a:solidFill>
                <a:latin typeface="Calibri" pitchFamily="34" charset="0"/>
                <a:ea typeface="Calibri" pitchFamily="34" charset="-122"/>
                <a:cs typeface="Calibri" pitchFamily="34" charset="-120"/>
              </a:rPr>
              <a:t> </a:t>
            </a:r>
            <a:endParaRPr lang="en-US" sz="1400" dirty="0"/>
          </a:p>
          <a:p>
            <a:pPr marL="285750" indent="-285750">
              <a:lnSpc>
                <a:spcPct val="150000"/>
              </a:lnSpc>
              <a:buFont typeface="Arial" panose="020B0604020202020204" pitchFamily="34" charset="0"/>
              <a:buChar char="•"/>
            </a:pPr>
            <a:r>
              <a:rPr lang="en-GB" sz="1400" dirty="0"/>
              <a:t>Spring Boot - </a:t>
            </a:r>
            <a:r>
              <a:rPr lang="en-GB" sz="1400" dirty="0" err="1"/>
              <a:t>Définition</a:t>
            </a:r>
            <a:r>
              <a:rPr lang="en-GB" sz="1400" dirty="0"/>
              <a:t> et </a:t>
            </a:r>
            <a:r>
              <a:rPr lang="en-GB" sz="1400" dirty="0" err="1"/>
              <a:t>Avantages</a:t>
            </a:r>
            <a:r>
              <a:rPr lang="en-GB" sz="1400" dirty="0"/>
              <a:t>.</a:t>
            </a:r>
          </a:p>
          <a:p>
            <a:pPr marL="285750" indent="-285750">
              <a:lnSpc>
                <a:spcPct val="150000"/>
              </a:lnSpc>
              <a:buFont typeface="Arial" panose="020B0604020202020204" pitchFamily="34" charset="0"/>
              <a:buChar char="•"/>
            </a:pPr>
            <a:r>
              <a:rPr lang="en-GB" sz="1400" dirty="0"/>
              <a:t>Maven - </a:t>
            </a:r>
            <a:r>
              <a:rPr lang="en-GB" sz="1400" dirty="0" err="1"/>
              <a:t>Définition</a:t>
            </a:r>
            <a:r>
              <a:rPr lang="en-GB" sz="1400" dirty="0"/>
              <a:t> et Cycle de Build.</a:t>
            </a:r>
          </a:p>
          <a:p>
            <a:pPr marL="285750" indent="-285750">
              <a:lnSpc>
                <a:spcPct val="150000"/>
              </a:lnSpc>
              <a:buFont typeface="Arial" panose="020B0604020202020204" pitchFamily="34" charset="0"/>
              <a:buChar char="•"/>
            </a:pPr>
            <a:r>
              <a:rPr lang="en-GB" sz="1400" dirty="0"/>
              <a:t>Arborescence et POM.xml.</a:t>
            </a:r>
          </a:p>
          <a:p>
            <a:pPr marL="285750" indent="-285750">
              <a:lnSpc>
                <a:spcPct val="150000"/>
              </a:lnSpc>
              <a:buFont typeface="Arial" panose="020B0604020202020204" pitchFamily="34" charset="0"/>
              <a:buChar char="•"/>
            </a:pPr>
            <a:r>
              <a:rPr lang="en-GB" sz="1400" dirty="0"/>
              <a:t>Gestion des </a:t>
            </a:r>
            <a:r>
              <a:rPr lang="en-GB" sz="1400" dirty="0" err="1"/>
              <a:t>dépendances</a:t>
            </a:r>
            <a:r>
              <a:rPr lang="en-GB" sz="1400" dirty="0"/>
              <a:t>.</a:t>
            </a:r>
          </a:p>
          <a:p>
            <a:pPr marL="285750" indent="-285750">
              <a:lnSpc>
                <a:spcPct val="150000"/>
              </a:lnSpc>
              <a:buFont typeface="Arial" panose="020B0604020202020204" pitchFamily="34" charset="0"/>
              <a:buChar char="•"/>
            </a:pPr>
            <a:r>
              <a:rPr lang="en-GB" sz="1400" dirty="0" err="1"/>
              <a:t>Persistance</a:t>
            </a:r>
            <a:r>
              <a:rPr lang="en-GB" sz="1400" dirty="0"/>
              <a:t> et ORM.</a:t>
            </a:r>
          </a:p>
          <a:p>
            <a:pPr marL="285750" indent="-285750">
              <a:lnSpc>
                <a:spcPct val="150000"/>
              </a:lnSpc>
              <a:buFont typeface="Arial" panose="020B0604020202020204" pitchFamily="34" charset="0"/>
              <a:buChar char="•"/>
            </a:pPr>
            <a:r>
              <a:rPr lang="en-GB" sz="1400" dirty="0"/>
              <a:t>JPA / Hibernate / Spring Data JPA.</a:t>
            </a:r>
          </a:p>
          <a:p>
            <a:pPr marL="285750" indent="-285750">
              <a:lnSpc>
                <a:spcPct val="150000"/>
              </a:lnSpc>
              <a:buFont typeface="Arial" panose="020B0604020202020204" pitchFamily="34" charset="0"/>
              <a:buChar char="•"/>
            </a:pPr>
            <a:r>
              <a:rPr lang="en-GB" sz="1400" dirty="0" err="1"/>
              <a:t>Entité</a:t>
            </a:r>
            <a:r>
              <a:rPr lang="en-GB" sz="1400" dirty="0"/>
              <a:t> JPA &amp; Annotations.</a:t>
            </a:r>
          </a:p>
          <a:p>
            <a:pPr marL="285750" indent="-285750">
              <a:lnSpc>
                <a:spcPct val="150000"/>
              </a:lnSpc>
              <a:buFont typeface="Arial" panose="020B0604020202020204" pitchFamily="34" charset="0"/>
              <a:buChar char="•"/>
            </a:pPr>
            <a:r>
              <a:rPr lang="en-GB" sz="1400" dirty="0"/>
              <a:t>Lombok avec Spring Boot.</a:t>
            </a:r>
          </a:p>
        </p:txBody>
      </p:sp>
      <p:sp>
        <p:nvSpPr>
          <p:cNvPr id="12" name="Shape 5">
            <a:extLst>
              <a:ext uri="{FF2B5EF4-FFF2-40B4-BE49-F238E27FC236}">
                <a16:creationId xmlns:a16="http://schemas.microsoft.com/office/drawing/2014/main" id="{EB414CEB-2A23-3413-E86A-6721FF5DBFB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888C09F-895B-BD3E-B528-D7766E3A14E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3B1995AF-36D7-3159-A55D-742B84A7A01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a:t>
            </a:r>
            <a:endParaRPr lang="en-US" sz="900" dirty="0"/>
          </a:p>
        </p:txBody>
      </p:sp>
      <p:pic>
        <p:nvPicPr>
          <p:cNvPr id="18" name="object 2">
            <a:extLst>
              <a:ext uri="{FF2B5EF4-FFF2-40B4-BE49-F238E27FC236}">
                <a16:creationId xmlns:a16="http://schemas.microsoft.com/office/drawing/2014/main" id="{D8726707-004F-078C-9DFC-929DBABA21C8}"/>
              </a:ext>
            </a:extLst>
          </p:cNvPr>
          <p:cNvPicPr/>
          <p:nvPr/>
        </p:nvPicPr>
        <p:blipFill>
          <a:blip r:embed="rId5" cstate="print"/>
          <a:stretch>
            <a:fillRect/>
          </a:stretch>
        </p:blipFill>
        <p:spPr>
          <a:xfrm>
            <a:off x="0" y="88479"/>
            <a:ext cx="1591056" cy="537747"/>
          </a:xfrm>
          <a:prstGeom prst="rect">
            <a:avLst/>
          </a:prstGeom>
        </p:spPr>
      </p:pic>
      <p:sp>
        <p:nvSpPr>
          <p:cNvPr id="14" name="TextBox 13">
            <a:extLst>
              <a:ext uri="{FF2B5EF4-FFF2-40B4-BE49-F238E27FC236}">
                <a16:creationId xmlns:a16="http://schemas.microsoft.com/office/drawing/2014/main" id="{D88B045D-E923-40AC-3491-62FD59426EC0}"/>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latin typeface="Calibri"/>
              <a:cs typeface="Calibri"/>
            </a:endParaRPr>
          </a:p>
        </p:txBody>
      </p:sp>
    </p:spTree>
    <p:extLst>
      <p:ext uri="{BB962C8B-B14F-4D97-AF65-F5344CB8AC3E}">
        <p14:creationId xmlns:p14="http://schemas.microsoft.com/office/powerpoint/2010/main" val="1952382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6D66AF-F3F8-3E0B-B2B0-7F3ED0B8170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84ED077-E7C7-158E-95E4-F2CF137B37F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095115B-DF7C-C52C-E55A-D706B2EAA4D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B8FB23D-6821-986E-D08A-0D56ED60063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FF31B682-FDEC-B682-5AA6-7ABE22EE574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005CDE4-DF76-534E-D17C-9A95800553F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E1A76B1-64E8-5B1A-C885-DDF2455016A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91401D8-98F1-F278-FD50-697919DD1221}"/>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Objectifs</a:t>
            </a:r>
            <a:r>
              <a:rPr lang="en-GB" b="1" dirty="0">
                <a:solidFill>
                  <a:srgbClr val="1A1A1A"/>
                </a:solidFill>
                <a:latin typeface="Calibri" pitchFamily="34" charset="0"/>
                <a:ea typeface="Calibri" pitchFamily="34" charset="-122"/>
                <a:cs typeface="Calibri" pitchFamily="34" charset="-120"/>
              </a:rPr>
              <a:t> du </a:t>
            </a:r>
            <a:r>
              <a:rPr lang="en-GB" b="1" dirty="0" err="1">
                <a:solidFill>
                  <a:srgbClr val="1A1A1A"/>
                </a:solidFill>
                <a:latin typeface="Calibri" pitchFamily="34" charset="0"/>
                <a:ea typeface="Calibri" pitchFamily="34" charset="-122"/>
                <a:cs typeface="Calibri" pitchFamily="34" charset="-120"/>
              </a:rPr>
              <a:t>cours</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81239101-3C31-B93A-7829-5F2B12EB0E2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4BBD4D96-9CB7-905B-B80B-C41AE8A34B19}"/>
              </a:ext>
            </a:extLst>
          </p:cNvPr>
          <p:cNvSpPr/>
          <p:nvPr/>
        </p:nvSpPr>
        <p:spPr>
          <a:xfrm>
            <a:off x="795528" y="900546"/>
            <a:ext cx="8046720" cy="3954918"/>
          </a:xfrm>
          <a:prstGeom prst="rect">
            <a:avLst/>
          </a:prstGeom>
          <a:noFill/>
          <a:ln/>
        </p:spPr>
        <p:txBody>
          <a:bodyPr wrap="square" rtlCol="0" anchor="t"/>
          <a:lstStyle/>
          <a:p>
            <a:pPr>
              <a:lnSpc>
                <a:spcPct val="150000"/>
              </a:lnSpc>
            </a:pPr>
            <a:r>
              <a:rPr lang="fr-FR" sz="1400" dirty="0"/>
              <a:t>À l'issue de cette séance, l'apprenant sera capable de :</a:t>
            </a:r>
            <a:endParaRPr lang="en-US" sz="1400" dirty="0"/>
          </a:p>
          <a:p>
            <a:pPr marL="285750" indent="-285750">
              <a:lnSpc>
                <a:spcPct val="150000"/>
              </a:lnSpc>
              <a:buFont typeface="Arial" panose="020B0604020202020204" pitchFamily="34" charset="0"/>
              <a:buChar char="•"/>
            </a:pPr>
            <a:r>
              <a:rPr lang="en-GB" sz="1400" dirty="0" err="1"/>
              <a:t>Créer</a:t>
            </a:r>
            <a:r>
              <a:rPr lang="en-GB" sz="1400" dirty="0"/>
              <a:t> un </a:t>
            </a:r>
            <a:r>
              <a:rPr lang="en-GB" sz="1400" dirty="0" err="1"/>
              <a:t>projet</a:t>
            </a:r>
            <a:r>
              <a:rPr lang="en-GB" sz="1400" dirty="0"/>
              <a:t> Spring Boot avec Maven.</a:t>
            </a:r>
          </a:p>
          <a:p>
            <a:pPr marL="285750" indent="-285750">
              <a:lnSpc>
                <a:spcPct val="150000"/>
              </a:lnSpc>
              <a:buFont typeface="Arial" panose="020B0604020202020204" pitchFamily="34" charset="0"/>
              <a:buChar char="•"/>
            </a:pPr>
            <a:r>
              <a:rPr lang="en-GB" sz="1400" dirty="0" err="1"/>
              <a:t>Comprendre</a:t>
            </a:r>
            <a:r>
              <a:rPr lang="en-GB" sz="1400" dirty="0"/>
              <a:t> la structure d'un </a:t>
            </a:r>
            <a:r>
              <a:rPr lang="en-GB" sz="1400" dirty="0" err="1"/>
              <a:t>projet</a:t>
            </a:r>
            <a:r>
              <a:rPr lang="en-GB" sz="1400" dirty="0"/>
              <a:t> Maven.</a:t>
            </a:r>
          </a:p>
          <a:p>
            <a:pPr marL="285750" indent="-285750">
              <a:lnSpc>
                <a:spcPct val="150000"/>
              </a:lnSpc>
              <a:buFont typeface="Arial" panose="020B0604020202020204" pitchFamily="34" charset="0"/>
              <a:buChar char="•"/>
            </a:pPr>
            <a:r>
              <a:rPr lang="en-GB" sz="1400" dirty="0" err="1"/>
              <a:t>Maîtriser</a:t>
            </a:r>
            <a:r>
              <a:rPr lang="en-GB" sz="1400" dirty="0"/>
              <a:t> la stack de </a:t>
            </a:r>
            <a:r>
              <a:rPr lang="en-GB" sz="1400" dirty="0" err="1"/>
              <a:t>persistance</a:t>
            </a:r>
            <a:r>
              <a:rPr lang="en-GB" sz="1400" dirty="0"/>
              <a:t> : JDBC - ORM - JPA - Hibernate - Spring Data JPA</a:t>
            </a:r>
          </a:p>
          <a:p>
            <a:pPr marL="285750" indent="-285750">
              <a:lnSpc>
                <a:spcPct val="150000"/>
              </a:lnSpc>
              <a:buFont typeface="Arial" panose="020B0604020202020204" pitchFamily="34" charset="0"/>
              <a:buChar char="•"/>
            </a:pPr>
            <a:r>
              <a:rPr lang="en-GB" sz="1400" dirty="0" err="1"/>
              <a:t>Créer</a:t>
            </a:r>
            <a:r>
              <a:rPr lang="en-GB" sz="1400" dirty="0"/>
              <a:t> </a:t>
            </a:r>
            <a:r>
              <a:rPr lang="en-GB" sz="1400" dirty="0" err="1"/>
              <a:t>une</a:t>
            </a:r>
            <a:r>
              <a:rPr lang="en-GB" sz="1400" dirty="0"/>
              <a:t> </a:t>
            </a:r>
            <a:r>
              <a:rPr lang="en-GB" sz="1400" dirty="0" err="1"/>
              <a:t>entité</a:t>
            </a:r>
            <a:r>
              <a:rPr lang="en-GB" sz="1400" dirty="0"/>
              <a:t> JPA avec les annotations </a:t>
            </a:r>
            <a:r>
              <a:rPr lang="en-GB" sz="1400" dirty="0" err="1"/>
              <a:t>essentielles</a:t>
            </a:r>
            <a:r>
              <a:rPr lang="en-GB" sz="1400" dirty="0"/>
              <a:t>.</a:t>
            </a:r>
          </a:p>
          <a:p>
            <a:pPr marL="285750" indent="-285750">
              <a:lnSpc>
                <a:spcPct val="150000"/>
              </a:lnSpc>
              <a:buFont typeface="Arial" panose="020B0604020202020204" pitchFamily="34" charset="0"/>
              <a:buChar char="•"/>
            </a:pPr>
            <a:r>
              <a:rPr lang="en-GB" sz="1400" dirty="0"/>
              <a:t>Utiliser Lombok pour </a:t>
            </a:r>
            <a:r>
              <a:rPr lang="en-GB" sz="1400" dirty="0" err="1"/>
              <a:t>éliminer</a:t>
            </a:r>
            <a:r>
              <a:rPr lang="en-GB" sz="1400" dirty="0"/>
              <a:t> le code boilerplate.</a:t>
            </a:r>
          </a:p>
          <a:p>
            <a:pPr marL="285750" indent="-285750">
              <a:lnSpc>
                <a:spcPct val="150000"/>
              </a:lnSpc>
              <a:buFont typeface="Arial" panose="020B0604020202020204" pitchFamily="34" charset="0"/>
              <a:buChar char="•"/>
            </a:pPr>
            <a:r>
              <a:rPr lang="en-GB" sz="1400" dirty="0" err="1"/>
              <a:t>Implémenter</a:t>
            </a:r>
            <a:r>
              <a:rPr lang="en-GB" sz="1400" dirty="0"/>
              <a:t> </a:t>
            </a:r>
            <a:r>
              <a:rPr lang="en-GB" sz="1400" dirty="0" err="1"/>
              <a:t>une</a:t>
            </a:r>
            <a:r>
              <a:rPr lang="en-GB" sz="1400" dirty="0"/>
              <a:t> </a:t>
            </a:r>
            <a:r>
              <a:rPr lang="en-GB" sz="1400" dirty="0" err="1"/>
              <a:t>entité</a:t>
            </a:r>
            <a:r>
              <a:rPr lang="en-GB" sz="1400" dirty="0"/>
              <a:t> avec </a:t>
            </a:r>
            <a:r>
              <a:rPr lang="en-GB" sz="1400" dirty="0" err="1"/>
              <a:t>une</a:t>
            </a:r>
            <a:r>
              <a:rPr lang="en-GB" sz="1400" dirty="0"/>
              <a:t> enumeration. </a:t>
            </a:r>
          </a:p>
          <a:p>
            <a:pPr>
              <a:lnSpc>
                <a:spcPct val="125000"/>
              </a:lnSpc>
              <a:buSzPct val="100000"/>
            </a:pPr>
            <a:endParaRPr lang="en-US" sz="1400" dirty="0"/>
          </a:p>
        </p:txBody>
      </p:sp>
      <p:sp>
        <p:nvSpPr>
          <p:cNvPr id="12" name="Shape 5">
            <a:extLst>
              <a:ext uri="{FF2B5EF4-FFF2-40B4-BE49-F238E27FC236}">
                <a16:creationId xmlns:a16="http://schemas.microsoft.com/office/drawing/2014/main" id="{2AB4F8F7-7C35-E1FE-8570-A3B88E9FD06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CE99343-C425-1738-3E1D-ACC6E9BF566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E0E93314-6FEA-D808-100A-7F6CFD60990F}"/>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a:t>
            </a:r>
            <a:endParaRPr lang="en-US" sz="900" dirty="0"/>
          </a:p>
        </p:txBody>
      </p:sp>
      <p:pic>
        <p:nvPicPr>
          <p:cNvPr id="18" name="object 2">
            <a:extLst>
              <a:ext uri="{FF2B5EF4-FFF2-40B4-BE49-F238E27FC236}">
                <a16:creationId xmlns:a16="http://schemas.microsoft.com/office/drawing/2014/main" id="{5FF3FE07-FE94-C2E1-484B-30D2C2CD9F83}"/>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03174ED7-9B6F-72D2-1DAF-BB636C2BB511}"/>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409411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C5E32D-BBA7-CE4B-D223-C135F0BDAE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13FEF46-FE79-A49A-7727-3E4640D87E76}"/>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54D2F38-1ACC-F1A4-7EA2-E73C59828FE7}"/>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5135BE6-2E82-613A-6F2C-1E6ADB78304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8495289-1E0C-811C-4C8B-ED67CECD6C4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457BEAEF-314F-66B6-F0FC-08B066DE5A6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F6243ED-4854-CF95-C535-C71AE1BD1D37}"/>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F985506-BA90-D98F-24EF-B6B484A88D04}"/>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Prérequis</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1FC3E0C7-7BB6-F74E-ED61-040223405F1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2CB5E03E-CA29-C36E-A3BD-CF8FB48E6C0B}"/>
              </a:ext>
            </a:extLst>
          </p:cNvPr>
          <p:cNvSpPr/>
          <p:nvPr/>
        </p:nvSpPr>
        <p:spPr>
          <a:xfrm>
            <a:off x="548640" y="717607"/>
            <a:ext cx="8046720" cy="3954918"/>
          </a:xfrm>
          <a:prstGeom prst="rect">
            <a:avLst/>
          </a:prstGeom>
          <a:noFill/>
          <a:ln/>
        </p:spPr>
        <p:txBody>
          <a:bodyPr wrap="square" rtlCol="0" anchor="t"/>
          <a:lstStyle/>
          <a:p>
            <a:pPr>
              <a:lnSpc>
                <a:spcPct val="200000"/>
              </a:lnSpc>
            </a:pPr>
            <a:r>
              <a:rPr lang="fr-FR" sz="1400" dirty="0"/>
              <a:t>Ce cours suppose que l'apprenant possède déjà les bases suivantes :</a:t>
            </a:r>
          </a:p>
          <a:p>
            <a:pPr marL="285750" indent="-285750">
              <a:lnSpc>
                <a:spcPct val="200000"/>
              </a:lnSpc>
              <a:buFont typeface="Arial" panose="020B0604020202020204" pitchFamily="34" charset="0"/>
              <a:buChar char="•"/>
            </a:pPr>
            <a:r>
              <a:rPr lang="en-GB" sz="1400" b="1" dirty="0" err="1"/>
              <a:t>Connaissances</a:t>
            </a:r>
            <a:r>
              <a:rPr lang="en-GB" sz="1400" b="1" dirty="0"/>
              <a:t> :</a:t>
            </a:r>
            <a:endParaRPr lang="fr-FR" sz="1400" b="1" dirty="0"/>
          </a:p>
          <a:p>
            <a:pPr marL="742950" lvl="1" indent="-285750">
              <a:lnSpc>
                <a:spcPct val="200000"/>
              </a:lnSpc>
              <a:buFont typeface="Courier New" panose="02070309020205020404" pitchFamily="49" charset="0"/>
              <a:buChar char="o"/>
            </a:pPr>
            <a:r>
              <a:rPr lang="fr-FR" sz="1400" dirty="0"/>
              <a:t>Bonne maîtrise de la programmation orientée objet en Java.</a:t>
            </a:r>
          </a:p>
          <a:p>
            <a:pPr marL="742950" lvl="1" indent="-285750">
              <a:lnSpc>
                <a:spcPct val="200000"/>
              </a:lnSpc>
              <a:buFont typeface="Courier New" panose="02070309020205020404" pitchFamily="49" charset="0"/>
              <a:buChar char="o"/>
            </a:pPr>
            <a:r>
              <a:rPr lang="fr-FR" sz="1400" dirty="0"/>
              <a:t>Connaissance des concepts de base de données relationnelles (SQL, MySQL).</a:t>
            </a:r>
          </a:p>
          <a:p>
            <a:pPr marL="285750" indent="-285750">
              <a:lnSpc>
                <a:spcPct val="200000"/>
              </a:lnSpc>
              <a:buFont typeface="Arial" panose="020B0604020202020204" pitchFamily="34" charset="0"/>
              <a:buChar char="•"/>
            </a:pPr>
            <a:r>
              <a:rPr lang="en-GB" sz="1400" b="1" dirty="0" err="1"/>
              <a:t>Outils</a:t>
            </a:r>
            <a:r>
              <a:rPr lang="en-GB" sz="1400" b="1" dirty="0"/>
              <a:t> </a:t>
            </a:r>
            <a:r>
              <a:rPr lang="en-GB" sz="1400" b="1" dirty="0" err="1"/>
              <a:t>installés</a:t>
            </a:r>
            <a:r>
              <a:rPr lang="en-GB" sz="1400" b="1" dirty="0"/>
              <a:t> :</a:t>
            </a:r>
            <a:endParaRPr lang="fr-FR" sz="1400" b="1" dirty="0"/>
          </a:p>
          <a:p>
            <a:pPr marL="742950" lvl="1" indent="-285750">
              <a:lnSpc>
                <a:spcPct val="200000"/>
              </a:lnSpc>
              <a:buFont typeface="Courier New" panose="02070309020205020404" pitchFamily="49" charset="0"/>
              <a:buChar char="o"/>
            </a:pPr>
            <a:r>
              <a:rPr lang="en-GB" sz="1400" dirty="0"/>
              <a:t>IntelliJ IDEA</a:t>
            </a:r>
            <a:r>
              <a:rPr lang="fr-FR" sz="1400" dirty="0"/>
              <a:t>.</a:t>
            </a:r>
          </a:p>
          <a:p>
            <a:pPr marL="742950" lvl="1" indent="-285750">
              <a:lnSpc>
                <a:spcPct val="200000"/>
              </a:lnSpc>
              <a:buFont typeface="Courier New" panose="02070309020205020404" pitchFamily="49" charset="0"/>
              <a:buChar char="o"/>
            </a:pPr>
            <a:r>
              <a:rPr lang="en-GB" sz="1400" dirty="0"/>
              <a:t>MySQL + phpMyAdmin (WAMP / XAMPP)</a:t>
            </a:r>
          </a:p>
          <a:p>
            <a:pPr marL="742950" lvl="1" indent="-285750">
              <a:lnSpc>
                <a:spcPct val="200000"/>
              </a:lnSpc>
              <a:buFont typeface="Courier New" panose="02070309020205020404" pitchFamily="49" charset="0"/>
              <a:buChar char="o"/>
            </a:pPr>
            <a:r>
              <a:rPr lang="en-GB" sz="1400" dirty="0"/>
              <a:t>JDK 17+</a:t>
            </a:r>
            <a:endParaRPr lang="fr-FR" sz="1400" dirty="0"/>
          </a:p>
          <a:p>
            <a:pPr lvl="1">
              <a:lnSpc>
                <a:spcPct val="200000"/>
              </a:lnSpc>
            </a:pPr>
            <a:endParaRPr lang="fr-FR" sz="1400" dirty="0"/>
          </a:p>
          <a:p>
            <a:pPr marL="742950" lvl="1" indent="-285750">
              <a:lnSpc>
                <a:spcPct val="200000"/>
              </a:lnSpc>
              <a:buFont typeface="Courier New" panose="02070309020205020404" pitchFamily="49" charset="0"/>
              <a:buChar char="o"/>
            </a:pPr>
            <a:endParaRPr lang="fr-FR" sz="1400" dirty="0"/>
          </a:p>
        </p:txBody>
      </p:sp>
      <p:sp>
        <p:nvSpPr>
          <p:cNvPr id="12" name="Shape 5">
            <a:extLst>
              <a:ext uri="{FF2B5EF4-FFF2-40B4-BE49-F238E27FC236}">
                <a16:creationId xmlns:a16="http://schemas.microsoft.com/office/drawing/2014/main" id="{F3CEF723-0645-E89E-FD89-ACA91946F691}"/>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9480C92-D481-3953-7586-C3CE098EF297}"/>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1E233D75-CE3B-E04E-157D-D02B559BCDE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a:t>
            </a:r>
            <a:endParaRPr lang="en-US" sz="900" dirty="0"/>
          </a:p>
        </p:txBody>
      </p:sp>
      <p:pic>
        <p:nvPicPr>
          <p:cNvPr id="18" name="object 2">
            <a:extLst>
              <a:ext uri="{FF2B5EF4-FFF2-40B4-BE49-F238E27FC236}">
                <a16:creationId xmlns:a16="http://schemas.microsoft.com/office/drawing/2014/main" id="{7FA94C77-EB4C-F5E3-61B6-61B6CE98CDBF}"/>
              </a:ext>
            </a:extLst>
          </p:cNvPr>
          <p:cNvPicPr/>
          <p:nvPr/>
        </p:nvPicPr>
        <p:blipFill>
          <a:blip r:embed="rId5" cstate="print"/>
          <a:stretch>
            <a:fillRect/>
          </a:stretch>
        </p:blipFill>
        <p:spPr>
          <a:xfrm>
            <a:off x="0" y="88479"/>
            <a:ext cx="1591056" cy="537747"/>
          </a:xfrm>
          <a:prstGeom prst="rect">
            <a:avLst/>
          </a:prstGeom>
        </p:spPr>
      </p:pic>
      <p:pic>
        <p:nvPicPr>
          <p:cNvPr id="2052" name="Picture 4">
            <a:extLst>
              <a:ext uri="{FF2B5EF4-FFF2-40B4-BE49-F238E27FC236}">
                <a16:creationId xmlns:a16="http://schemas.microsoft.com/office/drawing/2014/main" id="{A1361F7A-927C-367E-1E1C-E195E7DA9C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4823" y="1656997"/>
            <a:ext cx="737211" cy="13711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815F202-AC77-F89A-6928-28F0B0742EB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028" name="Picture 4">
            <a:extLst>
              <a:ext uri="{FF2B5EF4-FFF2-40B4-BE49-F238E27FC236}">
                <a16:creationId xmlns:a16="http://schemas.microsoft.com/office/drawing/2014/main" id="{AC89B2C1-A897-42CE-C06C-9E0C99D38E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1549" y="4025074"/>
            <a:ext cx="1240971" cy="3257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0C40BFE-AD5E-FD7C-1629-61D94A7256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7159" y="3976496"/>
            <a:ext cx="422910" cy="4229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9609941-8C48-406D-1803-CF03388D31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9730" y="3970781"/>
            <a:ext cx="435949" cy="43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071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A02EB7F-6D37-989D-7A96-674C616120C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0C7BB8C-33FE-D522-2A3C-B0695B40FF39}"/>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C349FE68-D6EB-ACAF-BD18-7AFF3C8C90A7}"/>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5E160A1C-81CA-8846-E5AC-54225F8ECB9B}"/>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B6BA0DE7-5DC4-FC00-2A98-4BF1DBCAF201}"/>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62815000-BC20-8E4C-85A1-DA0650632C94}"/>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54957A0C-9772-1C1E-1484-266B15DC4B9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A576852-5338-A40E-A981-C0FBF0E45F66}"/>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Spring Boot - </a:t>
            </a:r>
            <a:r>
              <a:rPr lang="en-GB" b="1" dirty="0" err="1">
                <a:solidFill>
                  <a:srgbClr val="1A1A1A"/>
                </a:solidFill>
                <a:latin typeface="Calibri" pitchFamily="34" charset="0"/>
                <a:ea typeface="Calibri" pitchFamily="34" charset="-122"/>
                <a:cs typeface="Calibri" pitchFamily="34" charset="-120"/>
              </a:rPr>
              <a:t>Définition</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986C0EDA-E8FE-A6C5-CF2D-ADE91B34F8E0}"/>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95749FF6-D66F-591C-650A-CC6F65CF6CC9}"/>
              </a:ext>
            </a:extLst>
          </p:cNvPr>
          <p:cNvSpPr/>
          <p:nvPr/>
        </p:nvSpPr>
        <p:spPr>
          <a:xfrm>
            <a:off x="548640" y="717607"/>
            <a:ext cx="8046720" cy="3954918"/>
          </a:xfrm>
          <a:prstGeom prst="rect">
            <a:avLst/>
          </a:prstGeom>
          <a:noFill/>
          <a:ln/>
        </p:spPr>
        <p:txBody>
          <a:bodyPr wrap="square" rtlCol="0" anchor="t"/>
          <a:lstStyle/>
          <a:p>
            <a:pPr>
              <a:lnSpc>
                <a:spcPct val="200000"/>
              </a:lnSpc>
            </a:pPr>
            <a:r>
              <a:rPr lang="fr-FR" sz="1400" dirty="0"/>
              <a:t>Spring Boot est le projet phare du </a:t>
            </a:r>
            <a:r>
              <a:rPr lang="fr-FR" sz="1400" dirty="0" err="1"/>
              <a:t>framework</a:t>
            </a:r>
            <a:r>
              <a:rPr lang="fr-FR" sz="1400" dirty="0"/>
              <a:t> Spring. Il simplifie la création et le démarrage de nouvelles applications Spring en réduisant drastiquement la configuration.</a:t>
            </a:r>
          </a:p>
          <a:p>
            <a:pPr>
              <a:lnSpc>
                <a:spcPct val="200000"/>
              </a:lnSpc>
            </a:pPr>
            <a:endParaRPr lang="fr-FR" sz="1400" dirty="0"/>
          </a:p>
          <a:p>
            <a:pPr marL="285750" indent="-285750">
              <a:lnSpc>
                <a:spcPct val="150000"/>
              </a:lnSpc>
              <a:buFont typeface="Arial" panose="020B0604020202020204" pitchFamily="34" charset="0"/>
              <a:buChar char="•"/>
            </a:pPr>
            <a:r>
              <a:rPr lang="fr-FR" sz="1400" dirty="0"/>
              <a:t>Il diminue énormément le temps de développement et augmente la productivité</a:t>
            </a:r>
          </a:p>
          <a:p>
            <a:pPr marL="285750" indent="-285750">
              <a:lnSpc>
                <a:spcPct val="150000"/>
              </a:lnSpc>
              <a:buFont typeface="Arial" panose="020B0604020202020204" pitchFamily="34" charset="0"/>
              <a:buChar char="•"/>
            </a:pPr>
            <a:r>
              <a:rPr lang="fr-FR" sz="1400" dirty="0"/>
              <a:t>Il permet l'utilisation de conteneurs embarqués (Tomcat, Jetty…) — aucun serveur externe requis</a:t>
            </a:r>
          </a:p>
          <a:p>
            <a:pPr marL="285750" indent="-285750">
              <a:lnSpc>
                <a:spcPct val="150000"/>
              </a:lnSpc>
              <a:buFont typeface="Arial" panose="020B0604020202020204" pitchFamily="34" charset="0"/>
              <a:buChar char="•"/>
            </a:pPr>
            <a:r>
              <a:rPr lang="fr-FR" sz="1400" dirty="0"/>
              <a:t>Les configurations Spring sont réduites au minimum</a:t>
            </a:r>
          </a:p>
          <a:p>
            <a:pPr marL="285750" indent="-285750">
              <a:lnSpc>
                <a:spcPct val="150000"/>
              </a:lnSpc>
              <a:buFont typeface="Arial" panose="020B0604020202020204" pitchFamily="34" charset="0"/>
              <a:buChar char="•"/>
            </a:pPr>
            <a:r>
              <a:rPr lang="fr-FR" sz="1400" dirty="0"/>
              <a:t>Les plugins Spring Boot facilitent le développement et les tests via Maven et Gradle</a:t>
            </a:r>
          </a:p>
          <a:p>
            <a:pPr>
              <a:lnSpc>
                <a:spcPct val="200000"/>
              </a:lnSpc>
            </a:pPr>
            <a:endParaRPr lang="fr-FR" sz="1400" dirty="0"/>
          </a:p>
          <a:p>
            <a:pPr marL="742950" lvl="1" indent="-285750">
              <a:lnSpc>
                <a:spcPct val="200000"/>
              </a:lnSpc>
              <a:buFont typeface="Courier New" panose="02070309020205020404" pitchFamily="49" charset="0"/>
              <a:buChar char="o"/>
            </a:pPr>
            <a:endParaRPr lang="fr-FR" sz="1400" dirty="0"/>
          </a:p>
        </p:txBody>
      </p:sp>
      <p:sp>
        <p:nvSpPr>
          <p:cNvPr id="12" name="Shape 5">
            <a:extLst>
              <a:ext uri="{FF2B5EF4-FFF2-40B4-BE49-F238E27FC236}">
                <a16:creationId xmlns:a16="http://schemas.microsoft.com/office/drawing/2014/main" id="{142AF8A9-BEC8-AC29-9A79-C4087703CC7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9C90EB9-0C25-468E-24D1-5E91D968581A}"/>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C6F0FA9F-2059-46C9-3556-3D1918B5EC0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5</a:t>
            </a:r>
            <a:endParaRPr lang="en-US" sz="900" dirty="0"/>
          </a:p>
        </p:txBody>
      </p:sp>
      <p:pic>
        <p:nvPicPr>
          <p:cNvPr id="18" name="object 2">
            <a:extLst>
              <a:ext uri="{FF2B5EF4-FFF2-40B4-BE49-F238E27FC236}">
                <a16:creationId xmlns:a16="http://schemas.microsoft.com/office/drawing/2014/main" id="{82514247-F47C-F482-A108-54ABF0326275}"/>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4C22CDBA-FC6C-2E51-9D95-81AAE130B0A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3075" name="Picture 3" descr="spring-boot-logo - Atomrace">
            <a:extLst>
              <a:ext uri="{FF2B5EF4-FFF2-40B4-BE49-F238E27FC236}">
                <a16:creationId xmlns:a16="http://schemas.microsoft.com/office/drawing/2014/main" id="{F3C97C03-E76E-41AC-529F-A9ECF1F53C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3539" y="3673031"/>
            <a:ext cx="1590401" cy="83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524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92033D3-2E1A-3B1B-6FEE-FE5E107DD4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92C7BC1-47BC-182A-F871-88CC12CE20D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9DB0880-6CEB-281E-53C4-94D0A543FEE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C4DBCCAF-50BF-3375-DC25-284DCD2151D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23CDAF03-9827-7B48-D244-4325AAC5545F}"/>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BD781AB-A227-0C73-D71E-06E9D7A0BE1E}"/>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4B4373E-9F9E-6529-F0DC-1526252FF10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6828413-F81B-87B5-AD77-D2320CF9D709}"/>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Spring Boot – </a:t>
            </a:r>
            <a:r>
              <a:rPr lang="en-GB" b="1" dirty="0" err="1">
                <a:solidFill>
                  <a:srgbClr val="1A1A1A"/>
                </a:solidFill>
                <a:latin typeface="Calibri" pitchFamily="34" charset="0"/>
                <a:ea typeface="Calibri" pitchFamily="34" charset="-122"/>
                <a:cs typeface="Calibri" pitchFamily="34" charset="-120"/>
              </a:rPr>
              <a:t>Avantages</a:t>
            </a:r>
            <a:r>
              <a:rPr lang="en-GB" b="1" dirty="0">
                <a:solidFill>
                  <a:srgbClr val="1A1A1A"/>
                </a:solidFill>
                <a:latin typeface="Calibri" pitchFamily="34" charset="0"/>
                <a:ea typeface="Calibri" pitchFamily="34" charset="-122"/>
                <a:cs typeface="Calibri" pitchFamily="34" charset="-120"/>
              </a:rPr>
              <a:t> (Gestion des configurations)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8682F91A-E8E0-F95A-A73D-6465463761D5}"/>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3EBD46E6-5744-4685-2722-D622F96A3DAA}"/>
              </a:ext>
            </a:extLst>
          </p:cNvPr>
          <p:cNvSpPr/>
          <p:nvPr/>
        </p:nvSpPr>
        <p:spPr>
          <a:xfrm>
            <a:off x="178308" y="783771"/>
            <a:ext cx="8046720" cy="3954918"/>
          </a:xfrm>
          <a:prstGeom prst="rect">
            <a:avLst/>
          </a:prstGeom>
          <a:noFill/>
          <a:ln/>
        </p:spPr>
        <p:txBody>
          <a:bodyPr wrap="square" rtlCol="0" anchor="t"/>
          <a:lstStyle/>
          <a:p>
            <a:pPr algn="just"/>
            <a:r>
              <a:rPr lang="fr-FR" sz="1400" dirty="0"/>
              <a:t>Spring Boot facilite la gestion des configurations en centralisant les configurations dans un seul fichier. Ainsi en se focalisant sur le métier au lieu de la configuration, le développeur devient beaucoup plus productif.</a:t>
            </a:r>
          </a:p>
        </p:txBody>
      </p:sp>
      <p:sp>
        <p:nvSpPr>
          <p:cNvPr id="12" name="Shape 5">
            <a:extLst>
              <a:ext uri="{FF2B5EF4-FFF2-40B4-BE49-F238E27FC236}">
                <a16:creationId xmlns:a16="http://schemas.microsoft.com/office/drawing/2014/main" id="{0284BE69-E0C6-AA3B-68FE-F847AA5ABCCA}"/>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B6B7FA24-2FEF-8849-BB54-9676B0AA6669}"/>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CA89D8D9-1410-E54A-3B4B-3EE1814CC962}"/>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6</a:t>
            </a:r>
            <a:endParaRPr lang="en-US" sz="900" dirty="0"/>
          </a:p>
        </p:txBody>
      </p:sp>
      <p:pic>
        <p:nvPicPr>
          <p:cNvPr id="18" name="object 2">
            <a:extLst>
              <a:ext uri="{FF2B5EF4-FFF2-40B4-BE49-F238E27FC236}">
                <a16:creationId xmlns:a16="http://schemas.microsoft.com/office/drawing/2014/main" id="{1A7E81D9-9575-B673-01F5-E2C4A6A3C070}"/>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2D4117FF-05FD-C168-37D2-39F2555EB87D}"/>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24" name="Picture 23">
            <a:extLst>
              <a:ext uri="{FF2B5EF4-FFF2-40B4-BE49-F238E27FC236}">
                <a16:creationId xmlns:a16="http://schemas.microsoft.com/office/drawing/2014/main" id="{FD31FE6C-CBFA-219E-E16B-EFBCCA732676}"/>
              </a:ext>
            </a:extLst>
          </p:cNvPr>
          <p:cNvPicPr>
            <a:picLocks noChangeAspect="1"/>
          </p:cNvPicPr>
          <p:nvPr/>
        </p:nvPicPr>
        <p:blipFill>
          <a:blip r:embed="rId6"/>
          <a:stretch>
            <a:fillRect/>
          </a:stretch>
        </p:blipFill>
        <p:spPr>
          <a:xfrm>
            <a:off x="1513332" y="1435807"/>
            <a:ext cx="6487668" cy="2820725"/>
          </a:xfrm>
          <a:prstGeom prst="rect">
            <a:avLst/>
          </a:prstGeom>
        </p:spPr>
      </p:pic>
    </p:spTree>
    <p:extLst>
      <p:ext uri="{BB962C8B-B14F-4D97-AF65-F5344CB8AC3E}">
        <p14:creationId xmlns:p14="http://schemas.microsoft.com/office/powerpoint/2010/main" val="34416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E1D0F72-DE32-8039-957E-750CF1D4AE4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E28388-A278-5085-6F72-7949047C825B}"/>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F96248D1-9BE5-E480-13FD-4DF63891631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828D07C-8EA1-D5B0-0150-F577F30426A3}"/>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B8DAEF9C-7677-0728-DB47-FC049EFA3AF1}"/>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A6B376E4-BB2B-53C3-ED57-F9CE136F47B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6ACE0E4-CA4E-3760-6844-3BA53DB8610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DA567CF8-E345-EE21-0466-FD0F223CE268}"/>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Spring Boot – </a:t>
            </a:r>
            <a:r>
              <a:rPr lang="en-GB" b="1" dirty="0" err="1">
                <a:solidFill>
                  <a:srgbClr val="1A1A1A"/>
                </a:solidFill>
                <a:latin typeface="Calibri" pitchFamily="34" charset="0"/>
                <a:ea typeface="Calibri" pitchFamily="34" charset="-122"/>
                <a:cs typeface="Calibri" pitchFamily="34" charset="-120"/>
              </a:rPr>
              <a:t>Avantages</a:t>
            </a:r>
            <a:r>
              <a:rPr lang="en-GB" b="1" dirty="0">
                <a:solidFill>
                  <a:srgbClr val="1A1A1A"/>
                </a:solidFill>
                <a:latin typeface="Calibri" pitchFamily="34" charset="0"/>
                <a:ea typeface="Calibri" pitchFamily="34" charset="-122"/>
                <a:cs typeface="Calibri" pitchFamily="34" charset="-120"/>
              </a:rPr>
              <a:t> (</a:t>
            </a:r>
            <a:r>
              <a:rPr lang="en-GB" b="1" dirty="0" err="1">
                <a:solidFill>
                  <a:srgbClr val="1A1A1A"/>
                </a:solidFill>
                <a:latin typeface="Calibri" pitchFamily="34" charset="0"/>
                <a:ea typeface="Calibri" pitchFamily="34" charset="-122"/>
                <a:cs typeface="Calibri" pitchFamily="34" charset="-120"/>
              </a:rPr>
              <a:t>Serveur</a:t>
            </a:r>
            <a:r>
              <a:rPr lang="en-GB" b="1" dirty="0">
                <a:solidFill>
                  <a:srgbClr val="1A1A1A"/>
                </a:solidFill>
                <a:latin typeface="Calibri" pitchFamily="34" charset="0"/>
                <a:ea typeface="Calibri" pitchFamily="34" charset="-122"/>
                <a:cs typeface="Calibri" pitchFamily="34" charset="-120"/>
              </a:rPr>
              <a:t> </a:t>
            </a:r>
            <a:r>
              <a:rPr lang="en-GB" b="1" dirty="0" err="1">
                <a:solidFill>
                  <a:srgbClr val="1A1A1A"/>
                </a:solidFill>
                <a:latin typeface="Calibri" pitchFamily="34" charset="0"/>
                <a:ea typeface="Calibri" pitchFamily="34" charset="-122"/>
                <a:cs typeface="Calibri" pitchFamily="34" charset="-120"/>
              </a:rPr>
              <a:t>Embarqué</a:t>
            </a:r>
            <a:r>
              <a:rPr lang="en-GB" b="1" dirty="0">
                <a:solidFill>
                  <a:srgbClr val="1A1A1A"/>
                </a:solidFill>
                <a:latin typeface="Calibri" pitchFamily="34" charset="0"/>
                <a:ea typeface="Calibri" pitchFamily="34" charset="-122"/>
                <a:cs typeface="Calibri" pitchFamily="34" charset="-120"/>
              </a:rPr>
              <a:t>)</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311F5CB0-42A7-33A2-89DB-71B2459346D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67CD4457-578C-FF16-4575-E05FBB3FA8C3}"/>
              </a:ext>
            </a:extLst>
          </p:cNvPr>
          <p:cNvSpPr/>
          <p:nvPr/>
        </p:nvSpPr>
        <p:spPr>
          <a:xfrm>
            <a:off x="178308" y="783771"/>
            <a:ext cx="8046720" cy="3954918"/>
          </a:xfrm>
          <a:prstGeom prst="rect">
            <a:avLst/>
          </a:prstGeom>
          <a:noFill/>
          <a:ln/>
        </p:spPr>
        <p:txBody>
          <a:bodyPr wrap="square" rtlCol="0" anchor="t"/>
          <a:lstStyle/>
          <a:p>
            <a:pPr algn="just">
              <a:lnSpc>
                <a:spcPct val="150000"/>
              </a:lnSpc>
            </a:pPr>
            <a:r>
              <a:rPr lang="fr-FR" sz="1400" dirty="0"/>
              <a:t>Spring Boot fournit des serveurs intégrés (Embedded HTTP servers) comme Tomcat, Jetty... afin de développer et de tester des applications web facilement. En lançant le projet, le jar du Tomcat dézippe et se lance. </a:t>
            </a:r>
          </a:p>
          <a:p>
            <a:pPr algn="just"/>
            <a:endParaRPr lang="fr-FR" sz="1400" dirty="0"/>
          </a:p>
        </p:txBody>
      </p:sp>
      <p:sp>
        <p:nvSpPr>
          <p:cNvPr id="12" name="Shape 5">
            <a:extLst>
              <a:ext uri="{FF2B5EF4-FFF2-40B4-BE49-F238E27FC236}">
                <a16:creationId xmlns:a16="http://schemas.microsoft.com/office/drawing/2014/main" id="{FBC8F922-518E-8B1E-E28C-03B8DD56B872}"/>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252E581-1D28-EA9D-015D-3917A0DE56ED}"/>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6687717E-104B-5F45-6AE6-A91F9C494747}"/>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7</a:t>
            </a:r>
            <a:endParaRPr lang="en-US" sz="900" dirty="0"/>
          </a:p>
        </p:txBody>
      </p:sp>
      <p:pic>
        <p:nvPicPr>
          <p:cNvPr id="18" name="object 2">
            <a:extLst>
              <a:ext uri="{FF2B5EF4-FFF2-40B4-BE49-F238E27FC236}">
                <a16:creationId xmlns:a16="http://schemas.microsoft.com/office/drawing/2014/main" id="{BC457B98-D1A9-32D2-36C7-56ECF307D11E}"/>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049DCE39-5AB8-5021-F44C-27B76E05FB4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5" name="Picture 14">
            <a:extLst>
              <a:ext uri="{FF2B5EF4-FFF2-40B4-BE49-F238E27FC236}">
                <a16:creationId xmlns:a16="http://schemas.microsoft.com/office/drawing/2014/main" id="{662DC620-AB1F-F6FC-0440-BAA13726FCB5}"/>
              </a:ext>
            </a:extLst>
          </p:cNvPr>
          <p:cNvPicPr>
            <a:picLocks noChangeAspect="1"/>
          </p:cNvPicPr>
          <p:nvPr/>
        </p:nvPicPr>
        <p:blipFill>
          <a:blip r:embed="rId6"/>
          <a:stretch>
            <a:fillRect/>
          </a:stretch>
        </p:blipFill>
        <p:spPr>
          <a:xfrm>
            <a:off x="1366701" y="1463040"/>
            <a:ext cx="6410597" cy="2787216"/>
          </a:xfrm>
          <a:prstGeom prst="rect">
            <a:avLst/>
          </a:prstGeom>
        </p:spPr>
      </p:pic>
      <p:sp>
        <p:nvSpPr>
          <p:cNvPr id="19" name="TextBox 18">
            <a:extLst>
              <a:ext uri="{FF2B5EF4-FFF2-40B4-BE49-F238E27FC236}">
                <a16:creationId xmlns:a16="http://schemas.microsoft.com/office/drawing/2014/main" id="{BBAB6154-CB08-B764-1E3D-61AACBD821FE}"/>
              </a:ext>
            </a:extLst>
          </p:cNvPr>
          <p:cNvSpPr txBox="1"/>
          <p:nvPr/>
        </p:nvSpPr>
        <p:spPr>
          <a:xfrm>
            <a:off x="1515454" y="4329763"/>
            <a:ext cx="6113090" cy="261610"/>
          </a:xfrm>
          <a:prstGeom prst="rect">
            <a:avLst/>
          </a:prstGeom>
          <a:noFill/>
        </p:spPr>
        <p:txBody>
          <a:bodyPr wrap="square">
            <a:spAutoFit/>
          </a:bodyPr>
          <a:lstStyle/>
          <a:p>
            <a:r>
              <a:rPr lang="fr-FR" sz="1100" b="1" dirty="0"/>
              <a:t>NB : Le packaging .</a:t>
            </a:r>
            <a:r>
              <a:rPr lang="fr-FR" sz="1100" b="1" dirty="0" err="1"/>
              <a:t>war</a:t>
            </a:r>
            <a:r>
              <a:rPr lang="fr-FR" sz="1100" b="1" dirty="0"/>
              <a:t> reste possible avec Spring Boot pour compatibilité avec les serveurs existants.</a:t>
            </a:r>
            <a:endParaRPr lang="en-GB" sz="1100" b="1" dirty="0"/>
          </a:p>
        </p:txBody>
      </p:sp>
    </p:spTree>
    <p:extLst>
      <p:ext uri="{BB962C8B-B14F-4D97-AF65-F5344CB8AC3E}">
        <p14:creationId xmlns:p14="http://schemas.microsoft.com/office/powerpoint/2010/main" val="2684247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713B126-D75D-4521-8068-A714099938F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830DBE5-1ED6-6743-E9D8-FAF3FA9F420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A5E29FB-0918-EC9E-0CBB-96B9310CD45E}"/>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C8F46F97-80D2-86BF-5163-5A4A484EACD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9235E306-F7D8-A089-CDA3-FADC797F101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0AC1576-AB3E-6A5F-DB6B-F0352E3B863F}"/>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410BBBC-AF1C-F32C-9B82-685E1EF9AA10}"/>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9969AF7E-E787-E938-0EE8-7D2891294488}"/>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Spring Boot – </a:t>
            </a:r>
            <a:r>
              <a:rPr lang="en-GB" b="1" dirty="0" err="1">
                <a:solidFill>
                  <a:srgbClr val="1A1A1A"/>
                </a:solidFill>
                <a:latin typeface="Calibri" pitchFamily="34" charset="0"/>
                <a:ea typeface="Calibri" pitchFamily="34" charset="-122"/>
                <a:cs typeface="Calibri" pitchFamily="34" charset="-120"/>
              </a:rPr>
              <a:t>Avantages</a:t>
            </a:r>
            <a:r>
              <a:rPr lang="en-GB" b="1" dirty="0">
                <a:solidFill>
                  <a:srgbClr val="1A1A1A"/>
                </a:solidFill>
                <a:latin typeface="Calibri" pitchFamily="34" charset="0"/>
                <a:ea typeface="Calibri" pitchFamily="34" charset="-122"/>
                <a:cs typeface="Calibri" pitchFamily="34" charset="-120"/>
              </a:rPr>
              <a:t> (Gestion des </a:t>
            </a:r>
            <a:r>
              <a:rPr lang="en-GB" b="1" dirty="0" err="1">
                <a:solidFill>
                  <a:srgbClr val="1A1A1A"/>
                </a:solidFill>
                <a:latin typeface="Calibri" pitchFamily="34" charset="0"/>
                <a:ea typeface="Calibri" pitchFamily="34" charset="-122"/>
                <a:cs typeface="Calibri" pitchFamily="34" charset="-120"/>
              </a:rPr>
              <a:t>dépendances</a:t>
            </a:r>
            <a:r>
              <a:rPr lang="en-GB" b="1" dirty="0">
                <a:solidFill>
                  <a:srgbClr val="1A1A1A"/>
                </a:solidFill>
                <a:latin typeface="Calibri" pitchFamily="34" charset="0"/>
                <a:ea typeface="Calibri" pitchFamily="34" charset="-122"/>
                <a:cs typeface="Calibri" pitchFamily="34" charset="-120"/>
              </a:rPr>
              <a:t>)</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E6AF6E0-5A05-262F-54D2-BA3165EB0D4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B1C64BFC-EC40-7255-C7B1-24B9A91DEB9E}"/>
              </a:ext>
            </a:extLst>
          </p:cNvPr>
          <p:cNvSpPr/>
          <p:nvPr/>
        </p:nvSpPr>
        <p:spPr>
          <a:xfrm>
            <a:off x="178308" y="724871"/>
            <a:ext cx="8046720" cy="3954918"/>
          </a:xfrm>
          <a:prstGeom prst="rect">
            <a:avLst/>
          </a:prstGeom>
          <a:noFill/>
          <a:ln/>
        </p:spPr>
        <p:txBody>
          <a:bodyPr wrap="square" rtlCol="0" anchor="t"/>
          <a:lstStyle/>
          <a:p>
            <a:pPr algn="just">
              <a:lnSpc>
                <a:spcPct val="150000"/>
              </a:lnSpc>
            </a:pPr>
            <a:r>
              <a:rPr lang="fr-FR" sz="1400" dirty="0"/>
              <a:t>Spring Boot facilite la gestion des dépendances grâce notamment à l'utilisation des starters, une seule dépendance qui ramène toutes les dépendances nécessaires et gère automatiquement les versions compatibles.</a:t>
            </a:r>
          </a:p>
          <a:p>
            <a:pPr marL="285750" indent="-285750" algn="just">
              <a:lnSpc>
                <a:spcPct val="150000"/>
              </a:lnSpc>
              <a:buFont typeface="Arial" panose="020B0604020202020204" pitchFamily="34" charset="0"/>
              <a:buChar char="•"/>
            </a:pPr>
            <a:r>
              <a:rPr lang="fr-FR" sz="1400" dirty="0"/>
              <a:t>Plus besoin de chercher quelles versions sont compatibles entre elles</a:t>
            </a:r>
          </a:p>
          <a:p>
            <a:pPr marL="285750" indent="-285750" algn="just">
              <a:lnSpc>
                <a:spcPct val="150000"/>
              </a:lnSpc>
              <a:buFont typeface="Arial" panose="020B0604020202020204" pitchFamily="34" charset="0"/>
              <a:buChar char="•"/>
            </a:pPr>
            <a:r>
              <a:rPr lang="fr-FR" sz="1400" dirty="0"/>
              <a:t>Un starter = un ensemble de dépendances prêtes à l'emploi</a:t>
            </a:r>
          </a:p>
          <a:p>
            <a:pPr marL="285750" indent="-285750" algn="just">
              <a:lnSpc>
                <a:spcPct val="150000"/>
              </a:lnSpc>
              <a:buFont typeface="Arial" panose="020B0604020202020204" pitchFamily="34" charset="0"/>
              <a:buChar char="•"/>
            </a:pPr>
            <a:r>
              <a:rPr lang="fr-FR" sz="1400" dirty="0"/>
              <a:t>Les versions sont gérées par le parent </a:t>
            </a:r>
            <a:r>
              <a:rPr lang="fr-FR" sz="1400" dirty="0" err="1"/>
              <a:t>spring</a:t>
            </a:r>
            <a:r>
              <a:rPr lang="fr-FR" sz="1400" dirty="0"/>
              <a:t>-boot-starter-parent</a:t>
            </a:r>
          </a:p>
          <a:p>
            <a:pPr algn="just">
              <a:lnSpc>
                <a:spcPct val="150000"/>
              </a:lnSpc>
            </a:pPr>
            <a:endParaRPr lang="fr-FR" sz="1400" dirty="0"/>
          </a:p>
        </p:txBody>
      </p:sp>
      <p:sp>
        <p:nvSpPr>
          <p:cNvPr id="12" name="Shape 5">
            <a:extLst>
              <a:ext uri="{FF2B5EF4-FFF2-40B4-BE49-F238E27FC236}">
                <a16:creationId xmlns:a16="http://schemas.microsoft.com/office/drawing/2014/main" id="{9AD50E68-5E3D-80AF-6CAA-5BEC762E6AB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98B1A0E8-F1D1-734C-A7F4-C63AC12BF8B2}"/>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E0C5CA87-39C9-6DB3-FEFC-787B2524C936}"/>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8</a:t>
            </a:r>
            <a:endParaRPr lang="en-US" sz="900" dirty="0"/>
          </a:p>
        </p:txBody>
      </p:sp>
      <p:pic>
        <p:nvPicPr>
          <p:cNvPr id="18" name="object 2">
            <a:extLst>
              <a:ext uri="{FF2B5EF4-FFF2-40B4-BE49-F238E27FC236}">
                <a16:creationId xmlns:a16="http://schemas.microsoft.com/office/drawing/2014/main" id="{2B36D27C-7FE1-EE64-E86D-6A7A2F200A44}"/>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BFD58999-D256-72FF-7AD0-FD7919643A11}"/>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21" name="Picture 20">
            <a:extLst>
              <a:ext uri="{FF2B5EF4-FFF2-40B4-BE49-F238E27FC236}">
                <a16:creationId xmlns:a16="http://schemas.microsoft.com/office/drawing/2014/main" id="{9B966635-4E37-0FAA-F4F0-7E73D4F598DF}"/>
              </a:ext>
            </a:extLst>
          </p:cNvPr>
          <p:cNvPicPr>
            <a:picLocks noChangeAspect="1"/>
          </p:cNvPicPr>
          <p:nvPr/>
        </p:nvPicPr>
        <p:blipFill>
          <a:blip r:embed="rId6"/>
          <a:stretch>
            <a:fillRect/>
          </a:stretch>
        </p:blipFill>
        <p:spPr>
          <a:xfrm>
            <a:off x="0" y="2766000"/>
            <a:ext cx="4988052" cy="1355449"/>
          </a:xfrm>
          <a:prstGeom prst="rect">
            <a:avLst/>
          </a:prstGeom>
        </p:spPr>
      </p:pic>
      <p:pic>
        <p:nvPicPr>
          <p:cNvPr id="23" name="Picture 22">
            <a:extLst>
              <a:ext uri="{FF2B5EF4-FFF2-40B4-BE49-F238E27FC236}">
                <a16:creationId xmlns:a16="http://schemas.microsoft.com/office/drawing/2014/main" id="{70B4E862-26FB-DFC7-FBD4-B0F2D890F655}"/>
              </a:ext>
            </a:extLst>
          </p:cNvPr>
          <p:cNvPicPr>
            <a:picLocks noChangeAspect="1"/>
          </p:cNvPicPr>
          <p:nvPr/>
        </p:nvPicPr>
        <p:blipFill>
          <a:blip r:embed="rId7"/>
          <a:stretch>
            <a:fillRect/>
          </a:stretch>
        </p:blipFill>
        <p:spPr>
          <a:xfrm>
            <a:off x="4632236" y="2787741"/>
            <a:ext cx="4828032" cy="1311966"/>
          </a:xfrm>
          <a:prstGeom prst="rect">
            <a:avLst/>
          </a:prstGeom>
        </p:spPr>
      </p:pic>
    </p:spTree>
    <p:extLst>
      <p:ext uri="{BB962C8B-B14F-4D97-AF65-F5344CB8AC3E}">
        <p14:creationId xmlns:p14="http://schemas.microsoft.com/office/powerpoint/2010/main" val="123777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07B26E9-CF12-8933-6663-9ED748F9AD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0C67EEB-782C-3B48-B8CC-2A671659C2A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99F0D6B-60E1-A384-C61E-C3CCB0838499}"/>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F965A91C-7EC4-0AB3-93A6-3F049C9A3994}"/>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955DA335-0529-8FA7-5DD0-501ADB14414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FEFB6F6-5F1E-1459-7C15-20992A7A6F7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A77E2E1-1840-6418-E756-CCC69D78372F}"/>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32771AE-96C6-8C73-5294-0E0CB9882688}"/>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Spring Boot – </a:t>
            </a:r>
            <a:r>
              <a:rPr lang="en-GB" b="1" dirty="0" err="1">
                <a:solidFill>
                  <a:srgbClr val="1A1A1A"/>
                </a:solidFill>
                <a:latin typeface="Calibri" pitchFamily="34" charset="0"/>
                <a:ea typeface="Calibri" pitchFamily="34" charset="-122"/>
                <a:cs typeface="Calibri" pitchFamily="34" charset="-120"/>
              </a:rPr>
              <a:t>Avantages</a:t>
            </a:r>
            <a:r>
              <a:rPr lang="en-GB" b="1" dirty="0">
                <a:solidFill>
                  <a:srgbClr val="1A1A1A"/>
                </a:solidFill>
                <a:latin typeface="Calibri" pitchFamily="34" charset="0"/>
                <a:ea typeface="Calibri" pitchFamily="34" charset="-122"/>
                <a:cs typeface="Calibri" pitchFamily="34" charset="-120"/>
              </a:rPr>
              <a:t> (Gestion des </a:t>
            </a:r>
            <a:r>
              <a:rPr lang="en-GB" b="1" dirty="0" err="1">
                <a:solidFill>
                  <a:srgbClr val="1A1A1A"/>
                </a:solidFill>
                <a:latin typeface="Calibri" pitchFamily="34" charset="0"/>
                <a:ea typeface="Calibri" pitchFamily="34" charset="-122"/>
                <a:cs typeface="Calibri" pitchFamily="34" charset="-120"/>
              </a:rPr>
              <a:t>dépendances</a:t>
            </a:r>
            <a:r>
              <a:rPr lang="en-GB" b="1" dirty="0">
                <a:solidFill>
                  <a:srgbClr val="1A1A1A"/>
                </a:solidFill>
                <a:latin typeface="Calibri" pitchFamily="34" charset="0"/>
                <a:ea typeface="Calibri" pitchFamily="34" charset="-122"/>
                <a:cs typeface="Calibri" pitchFamily="34" charset="-120"/>
              </a:rPr>
              <a:t>)</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452D2360-14F8-7FE3-F11E-42D21276D4E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A81D2CF-A1DB-E9C6-D266-5871AE70D33C}"/>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BFB8715-39A3-5D08-FFAF-6EA7D69BB669}"/>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2D266105-B69D-D41B-21F3-9D8ACAC2E4F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9</a:t>
            </a:r>
            <a:endParaRPr lang="en-US" sz="900" dirty="0"/>
          </a:p>
        </p:txBody>
      </p:sp>
      <p:pic>
        <p:nvPicPr>
          <p:cNvPr id="18" name="object 2">
            <a:extLst>
              <a:ext uri="{FF2B5EF4-FFF2-40B4-BE49-F238E27FC236}">
                <a16:creationId xmlns:a16="http://schemas.microsoft.com/office/drawing/2014/main" id="{22FCA59A-4A02-EC65-62AC-58DABAE4874D}"/>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E01901FC-9877-DB78-862D-F5ED11A9AF1B}"/>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5" name="Picture 14">
            <a:extLst>
              <a:ext uri="{FF2B5EF4-FFF2-40B4-BE49-F238E27FC236}">
                <a16:creationId xmlns:a16="http://schemas.microsoft.com/office/drawing/2014/main" id="{929C6D50-2228-472B-0821-52BCDC753BA0}"/>
              </a:ext>
            </a:extLst>
          </p:cNvPr>
          <p:cNvPicPr>
            <a:picLocks noChangeAspect="1"/>
          </p:cNvPicPr>
          <p:nvPr/>
        </p:nvPicPr>
        <p:blipFill>
          <a:blip r:embed="rId6"/>
          <a:stretch>
            <a:fillRect/>
          </a:stretch>
        </p:blipFill>
        <p:spPr>
          <a:xfrm>
            <a:off x="1877785" y="777240"/>
            <a:ext cx="5388429" cy="1464247"/>
          </a:xfrm>
          <a:prstGeom prst="rect">
            <a:avLst/>
          </a:prstGeom>
        </p:spPr>
      </p:pic>
      <p:sp>
        <p:nvSpPr>
          <p:cNvPr id="16" name="Text 4">
            <a:extLst>
              <a:ext uri="{FF2B5EF4-FFF2-40B4-BE49-F238E27FC236}">
                <a16:creationId xmlns:a16="http://schemas.microsoft.com/office/drawing/2014/main" id="{1B375E0B-AAFF-2402-E1F3-37DDADF5C675}"/>
              </a:ext>
            </a:extLst>
          </p:cNvPr>
          <p:cNvSpPr/>
          <p:nvPr/>
        </p:nvSpPr>
        <p:spPr>
          <a:xfrm>
            <a:off x="511411" y="2640261"/>
            <a:ext cx="9024475" cy="3954918"/>
          </a:xfrm>
          <a:prstGeom prst="rect">
            <a:avLst/>
          </a:prstGeom>
          <a:noFill/>
          <a:ln/>
        </p:spPr>
        <p:txBody>
          <a:bodyPr wrap="square" rtlCol="0" anchor="t"/>
          <a:lstStyle/>
          <a:p>
            <a:pPr algn="just">
              <a:lnSpc>
                <a:spcPct val="150000"/>
              </a:lnSpc>
            </a:pPr>
            <a:r>
              <a:rPr lang="fr-FR" sz="1400" dirty="0"/>
              <a:t>Lors de la création du notre projet on va utiliser les 4 starters :</a:t>
            </a:r>
          </a:p>
          <a:p>
            <a:pPr marL="285750" indent="-285750">
              <a:lnSpc>
                <a:spcPct val="150000"/>
              </a:lnSpc>
              <a:buFont typeface="Arial" panose="020B0604020202020204" pitchFamily="34" charset="0"/>
              <a:buChar char="•"/>
            </a:pPr>
            <a:r>
              <a:rPr lang="fr-FR" sz="1400" b="1" dirty="0"/>
              <a:t>Spring Data JPA : </a:t>
            </a:r>
            <a:r>
              <a:rPr lang="fr-FR" sz="1400" dirty="0"/>
              <a:t>pour gérer la persistance des données et le mapping objet-relationnel avec MySQL.</a:t>
            </a:r>
          </a:p>
          <a:p>
            <a:pPr marL="285750" indent="-285750">
              <a:lnSpc>
                <a:spcPct val="150000"/>
              </a:lnSpc>
              <a:buFont typeface="Arial" panose="020B0604020202020204" pitchFamily="34" charset="0"/>
              <a:buChar char="•"/>
            </a:pPr>
            <a:r>
              <a:rPr lang="fr-FR" sz="1400" b="1" dirty="0"/>
              <a:t>MySQL Driver : </a:t>
            </a:r>
            <a:r>
              <a:rPr lang="fr-FR" sz="1400" dirty="0"/>
              <a:t>pour établir la connexion entre Spring Boot et la base de données MySQL.</a:t>
            </a:r>
          </a:p>
          <a:p>
            <a:pPr marL="285750" indent="-285750">
              <a:lnSpc>
                <a:spcPct val="150000"/>
              </a:lnSpc>
              <a:buFont typeface="Arial" panose="020B0604020202020204" pitchFamily="34" charset="0"/>
              <a:buChar char="•"/>
            </a:pPr>
            <a:r>
              <a:rPr lang="fr-FR" sz="1400" b="1" dirty="0"/>
              <a:t>Lombok : </a:t>
            </a:r>
            <a:r>
              <a:rPr lang="fr-FR" sz="1400" dirty="0"/>
              <a:t>pour éliminer le code </a:t>
            </a:r>
            <a:r>
              <a:rPr lang="fr-FR" sz="1400" dirty="0" err="1"/>
              <a:t>boilerplate</a:t>
            </a:r>
            <a:r>
              <a:rPr lang="fr-FR" sz="1400" dirty="0"/>
              <a:t> (getters, setters, constructeurs…) (détaillé dans la suite du chapitre).</a:t>
            </a:r>
          </a:p>
          <a:p>
            <a:pPr marL="285750" indent="-285750">
              <a:lnSpc>
                <a:spcPct val="150000"/>
              </a:lnSpc>
              <a:buFont typeface="Arial" panose="020B0604020202020204" pitchFamily="34" charset="0"/>
              <a:buChar char="•"/>
            </a:pPr>
            <a:r>
              <a:rPr lang="fr-FR" sz="1400" b="1" dirty="0"/>
              <a:t>Spring Web : </a:t>
            </a:r>
            <a:r>
              <a:rPr lang="fr-FR" sz="1400" dirty="0"/>
              <a:t>pour créer les APIs REST et exposer les </a:t>
            </a:r>
            <a:r>
              <a:rPr lang="fr-FR" sz="1400" dirty="0" err="1"/>
              <a:t>endpoints</a:t>
            </a:r>
            <a:r>
              <a:rPr lang="fr-FR" sz="1400" dirty="0"/>
              <a:t> de l'application.</a:t>
            </a:r>
          </a:p>
          <a:p>
            <a:pPr algn="just"/>
            <a:endParaRPr lang="fr-FR" sz="1400" dirty="0"/>
          </a:p>
        </p:txBody>
      </p:sp>
    </p:spTree>
    <p:extLst>
      <p:ext uri="{BB962C8B-B14F-4D97-AF65-F5344CB8AC3E}">
        <p14:creationId xmlns:p14="http://schemas.microsoft.com/office/powerpoint/2010/main" val="3200159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842618-7C0A-8AAE-A7D0-501648F1937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5754B5F-2AC6-544B-36EC-DACA4639338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76B56B73-4947-BEA2-F2C0-5ED54AEC847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FCD4242-CF78-5B1B-4E94-1042016E020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2ED2AF8-FCC5-E6F7-23DF-81F29669BFD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5D22925-44FB-BEF0-414D-DB3220A701B8}"/>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A10508F-80D3-BB52-707F-350147620BEF}"/>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39D4054-AA7B-E735-C234-0C699BFD237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Maven - </a:t>
            </a:r>
            <a:r>
              <a:rPr lang="en-GB" b="1" dirty="0" err="1">
                <a:solidFill>
                  <a:srgbClr val="1A1A1A"/>
                </a:solidFill>
                <a:latin typeface="Calibri" pitchFamily="34" charset="0"/>
                <a:ea typeface="Calibri" pitchFamily="34" charset="-122"/>
                <a:cs typeface="Calibri" pitchFamily="34" charset="-120"/>
              </a:rPr>
              <a:t>Définition</a:t>
            </a:r>
            <a:r>
              <a:rPr lang="en-GB" b="1" dirty="0">
                <a:solidFill>
                  <a:srgbClr val="1A1A1A"/>
                </a:solidFill>
                <a:latin typeface="Calibri" pitchFamily="34" charset="0"/>
                <a:ea typeface="Calibri" pitchFamily="34" charset="-122"/>
                <a:cs typeface="Calibri" pitchFamily="34" charset="-120"/>
              </a:rPr>
              <a:t> &amp; POM.xml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579C753-E317-B8C2-D301-29E4B8CAEE7B}"/>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5FED212E-2B5D-D7BF-7B37-62BB2B41B48E}"/>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059C123-B77D-9AC9-232D-B4D1A35F396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EA6C2EAC-64E3-B5D2-F002-6CBC74012E2B}"/>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10</a:t>
            </a:r>
            <a:endParaRPr lang="en-US" sz="900" dirty="0"/>
          </a:p>
        </p:txBody>
      </p:sp>
      <p:pic>
        <p:nvPicPr>
          <p:cNvPr id="18" name="object 2">
            <a:extLst>
              <a:ext uri="{FF2B5EF4-FFF2-40B4-BE49-F238E27FC236}">
                <a16:creationId xmlns:a16="http://schemas.microsoft.com/office/drawing/2014/main" id="{23459CA8-0A82-078B-8212-26480B5571D3}"/>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50B348B2-C60C-0E62-36FE-A817392FB0F0}"/>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16" name="Text 4">
            <a:extLst>
              <a:ext uri="{FF2B5EF4-FFF2-40B4-BE49-F238E27FC236}">
                <a16:creationId xmlns:a16="http://schemas.microsoft.com/office/drawing/2014/main" id="{CDF46BEA-FD9B-225E-212B-0DA7A547BFBC}"/>
              </a:ext>
            </a:extLst>
          </p:cNvPr>
          <p:cNvSpPr/>
          <p:nvPr/>
        </p:nvSpPr>
        <p:spPr>
          <a:xfrm>
            <a:off x="480060" y="799962"/>
            <a:ext cx="8610382" cy="3954918"/>
          </a:xfrm>
          <a:prstGeom prst="rect">
            <a:avLst/>
          </a:prstGeom>
          <a:noFill/>
          <a:ln/>
        </p:spPr>
        <p:txBody>
          <a:bodyPr wrap="square" rtlCol="0" anchor="t"/>
          <a:lstStyle/>
          <a:p>
            <a:pPr algn="just">
              <a:lnSpc>
                <a:spcPct val="150000"/>
              </a:lnSpc>
            </a:pPr>
            <a:r>
              <a:rPr lang="fr-FR" sz="1400" dirty="0"/>
              <a:t>Maven est un outil pour faciliter la construction de projets (</a:t>
            </a:r>
            <a:r>
              <a:rPr lang="fr-FR" sz="1400" dirty="0" err="1"/>
              <a:t>Build</a:t>
            </a:r>
            <a:r>
              <a:rPr lang="fr-FR" sz="1400" dirty="0"/>
              <a:t>, Dépendances…) et l'automatisation des différentes phases projets (Tests, Packaging…)</a:t>
            </a:r>
          </a:p>
          <a:p>
            <a:pPr>
              <a:lnSpc>
                <a:spcPct val="150000"/>
              </a:lnSpc>
            </a:pPr>
            <a:r>
              <a:rPr lang="fr-FR" sz="1400" dirty="0"/>
              <a:t>Maven permet :</a:t>
            </a:r>
          </a:p>
          <a:p>
            <a:pPr marL="285750" indent="-285750">
              <a:lnSpc>
                <a:spcPct val="150000"/>
              </a:lnSpc>
              <a:buFont typeface="Arial" panose="020B0604020202020204" pitchFamily="34" charset="0"/>
              <a:buChar char="•"/>
            </a:pPr>
            <a:r>
              <a:rPr lang="fr-FR" sz="1400" dirty="0"/>
              <a:t>Gestion des </a:t>
            </a:r>
            <a:r>
              <a:rPr lang="fr-FR" sz="1400" dirty="0" err="1"/>
              <a:t>builds</a:t>
            </a:r>
            <a:r>
              <a:rPr lang="fr-FR" sz="1400" dirty="0"/>
              <a:t> (compilation)</a:t>
            </a:r>
          </a:p>
          <a:p>
            <a:pPr marL="285750" indent="-285750">
              <a:lnSpc>
                <a:spcPct val="150000"/>
              </a:lnSpc>
              <a:buFont typeface="Arial" panose="020B0604020202020204" pitchFamily="34" charset="0"/>
              <a:buChar char="•"/>
            </a:pPr>
            <a:r>
              <a:rPr lang="fr-FR" sz="1400" dirty="0"/>
              <a:t>Gestion des dépendances (*.jar) via le fichier POM</a:t>
            </a:r>
          </a:p>
          <a:p>
            <a:pPr marL="285750" indent="-285750">
              <a:lnSpc>
                <a:spcPct val="150000"/>
              </a:lnSpc>
              <a:buFont typeface="Arial" panose="020B0604020202020204" pitchFamily="34" charset="0"/>
              <a:buChar char="•"/>
            </a:pPr>
            <a:r>
              <a:rPr lang="fr-FR" sz="1400" dirty="0"/>
              <a:t>Lancement des tests (Unitaires, Qualité de Code…)</a:t>
            </a:r>
          </a:p>
          <a:p>
            <a:pPr marL="285750" indent="-285750">
              <a:lnSpc>
                <a:spcPct val="150000"/>
              </a:lnSpc>
              <a:buFont typeface="Arial" panose="020B0604020202020204" pitchFamily="34" charset="0"/>
              <a:buChar char="•"/>
            </a:pPr>
            <a:r>
              <a:rPr lang="fr-FR" sz="1400" dirty="0"/>
              <a:t>Génération des livrables</a:t>
            </a:r>
          </a:p>
          <a:p>
            <a:pPr>
              <a:lnSpc>
                <a:spcPct val="150000"/>
              </a:lnSpc>
            </a:pPr>
            <a:r>
              <a:rPr lang="fr-FR" sz="1400" dirty="0"/>
              <a:t>⇒ Automatisation de tâches récurrentes ⇒ Intégration Continue (DevOps)</a:t>
            </a:r>
          </a:p>
          <a:p>
            <a:pPr>
              <a:lnSpc>
                <a:spcPct val="150000"/>
              </a:lnSpc>
            </a:pPr>
            <a:r>
              <a:rPr lang="fr-FR" sz="1400" b="1" dirty="0"/>
              <a:t>Installation :</a:t>
            </a:r>
          </a:p>
          <a:p>
            <a:pPr>
              <a:lnSpc>
                <a:spcPct val="150000"/>
              </a:lnSpc>
            </a:pPr>
            <a:r>
              <a:rPr lang="fr-FR" sz="1400" dirty="0"/>
              <a:t>Mode Standalone : utilisé dans l'intégration continue (CI/CD, DevOps)</a:t>
            </a:r>
          </a:p>
          <a:p>
            <a:pPr>
              <a:lnSpc>
                <a:spcPct val="150000"/>
              </a:lnSpc>
            </a:pPr>
            <a:r>
              <a:rPr lang="fr-FR" sz="1400" dirty="0"/>
              <a:t>Mode Plugin : intégré par défaut dans </a:t>
            </a:r>
            <a:r>
              <a:rPr lang="fr-FR" sz="1400" dirty="0" err="1"/>
              <a:t>IntelliJ</a:t>
            </a:r>
            <a:r>
              <a:rPr lang="fr-FR" sz="1400" dirty="0"/>
              <a:t> IDEA (nous utiliserons ce mode)</a:t>
            </a:r>
          </a:p>
          <a:p>
            <a:pPr algn="just">
              <a:lnSpc>
                <a:spcPct val="150000"/>
              </a:lnSpc>
            </a:pPr>
            <a:endParaRPr lang="fr-FR" sz="1400" dirty="0"/>
          </a:p>
        </p:txBody>
      </p:sp>
      <p:pic>
        <p:nvPicPr>
          <p:cNvPr id="1026" name="Picture 2">
            <a:extLst>
              <a:ext uri="{FF2B5EF4-FFF2-40B4-BE49-F238E27FC236}">
                <a16:creationId xmlns:a16="http://schemas.microsoft.com/office/drawing/2014/main" id="{0081F6DB-0A23-C4B1-9EDB-FDCADE911F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000"/>
          <a:stretch>
            <a:fillRect/>
          </a:stretch>
        </p:blipFill>
        <p:spPr bwMode="auto">
          <a:xfrm>
            <a:off x="6426893" y="1808138"/>
            <a:ext cx="1967299" cy="529758"/>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Améliorez vos opérations DevOps avec ces outils open-source incontournables  pour les microservices - DeclerSoft">
            <a:extLst>
              <a:ext uri="{FF2B5EF4-FFF2-40B4-BE49-F238E27FC236}">
                <a16:creationId xmlns:a16="http://schemas.microsoft.com/office/drawing/2014/main" id="{AD7B0CF0-E1CE-B9C7-6269-263338360A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8371" y="3554730"/>
            <a:ext cx="1865821" cy="960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361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F4704FB-1AE0-AC03-16E3-3FE92A1E19C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31C2A13-360F-F0C2-AAA4-506E7A1A6F3F}"/>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C0E680C5-F0E1-DE6D-1BA7-5C24768BAEE3}"/>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C50933C-F818-E346-44F1-0C3535AEFBC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A0C3B3A7-2AB5-3BA8-EC38-3B67A557F06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96B9E44-F599-8F5C-46CC-FF2FCA1C57AF}"/>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E5E1FC98-9D14-9EC7-7549-E861C4FDAD46}"/>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A62AE23-FF1B-BE96-DE75-B956316E96F3}"/>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Maven - </a:t>
            </a:r>
            <a:r>
              <a:rPr lang="en-GB" b="1" dirty="0" err="1">
                <a:solidFill>
                  <a:srgbClr val="1A1A1A"/>
                </a:solidFill>
                <a:latin typeface="Calibri" pitchFamily="34" charset="0"/>
                <a:ea typeface="Calibri" pitchFamily="34" charset="-122"/>
                <a:cs typeface="Calibri" pitchFamily="34" charset="-120"/>
              </a:rPr>
              <a:t>Définition</a:t>
            </a:r>
            <a:r>
              <a:rPr lang="en-GB" b="1" dirty="0">
                <a:solidFill>
                  <a:srgbClr val="1A1A1A"/>
                </a:solidFill>
                <a:latin typeface="Calibri" pitchFamily="34" charset="0"/>
                <a:ea typeface="Calibri" pitchFamily="34" charset="-122"/>
                <a:cs typeface="Calibri" pitchFamily="34" charset="-120"/>
              </a:rPr>
              <a:t> &amp; POM.xml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430EB76-61FA-A9FC-A6DD-D8A2742710DB}"/>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8808407B-B682-D7AB-B776-62EE08C4B00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2EBF289-C956-604A-D321-8FB5A594E1E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9272AE46-5F21-859E-2266-2F2836DE987A}"/>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11</a:t>
            </a:r>
            <a:endParaRPr lang="en-US" sz="900" dirty="0"/>
          </a:p>
        </p:txBody>
      </p:sp>
      <p:pic>
        <p:nvPicPr>
          <p:cNvPr id="18" name="object 2">
            <a:extLst>
              <a:ext uri="{FF2B5EF4-FFF2-40B4-BE49-F238E27FC236}">
                <a16:creationId xmlns:a16="http://schemas.microsoft.com/office/drawing/2014/main" id="{514213EA-72E8-25EC-481F-1D0C8253F685}"/>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94F8B233-2229-5280-C314-78364266557F}"/>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23" name="Picture 22">
            <a:extLst>
              <a:ext uri="{FF2B5EF4-FFF2-40B4-BE49-F238E27FC236}">
                <a16:creationId xmlns:a16="http://schemas.microsoft.com/office/drawing/2014/main" id="{8F70883A-EB4A-ED25-5476-D7E677DA577A}"/>
              </a:ext>
            </a:extLst>
          </p:cNvPr>
          <p:cNvPicPr>
            <a:picLocks noChangeAspect="1"/>
          </p:cNvPicPr>
          <p:nvPr/>
        </p:nvPicPr>
        <p:blipFill>
          <a:blip r:embed="rId6"/>
          <a:stretch>
            <a:fillRect/>
          </a:stretch>
        </p:blipFill>
        <p:spPr>
          <a:xfrm>
            <a:off x="1667540" y="617219"/>
            <a:ext cx="5808919" cy="3314873"/>
          </a:xfrm>
          <a:prstGeom prst="rect">
            <a:avLst/>
          </a:prstGeom>
        </p:spPr>
      </p:pic>
      <p:sp>
        <p:nvSpPr>
          <p:cNvPr id="25" name="TextBox 24">
            <a:extLst>
              <a:ext uri="{FF2B5EF4-FFF2-40B4-BE49-F238E27FC236}">
                <a16:creationId xmlns:a16="http://schemas.microsoft.com/office/drawing/2014/main" id="{BCAA0E49-AEB1-D84D-1863-0E94563703E2}"/>
              </a:ext>
            </a:extLst>
          </p:cNvPr>
          <p:cNvSpPr txBox="1"/>
          <p:nvPr/>
        </p:nvSpPr>
        <p:spPr>
          <a:xfrm>
            <a:off x="795529" y="3872231"/>
            <a:ext cx="8145998" cy="1015663"/>
          </a:xfrm>
          <a:prstGeom prst="rect">
            <a:avLst/>
          </a:prstGeom>
          <a:noFill/>
        </p:spPr>
        <p:txBody>
          <a:bodyPr wrap="square">
            <a:spAutoFit/>
          </a:bodyPr>
          <a:lstStyle/>
          <a:p>
            <a:pPr algn="just">
              <a:buNone/>
            </a:pPr>
            <a:r>
              <a:rPr lang="fr-FR" sz="1200" b="1" dirty="0"/>
              <a:t>POM - Project Object Model</a:t>
            </a:r>
          </a:p>
          <a:p>
            <a:pPr algn="just"/>
            <a:r>
              <a:rPr lang="fr-FR" sz="1200" dirty="0"/>
              <a:t>Le fichier pom.xml est le fichier de configuration central de tout projet Maven. Il décrit le projet, ses dépendances, ses plugins et les étapes de construction. C'est le cœur de tout projet Spring Boot. </a:t>
            </a:r>
            <a:r>
              <a:rPr lang="en-GB" sz="1200" dirty="0"/>
              <a:t>Il s</a:t>
            </a:r>
            <a:r>
              <a:rPr lang="fr-FR" sz="1200" dirty="0" err="1"/>
              <a:t>pécifie</a:t>
            </a:r>
            <a:r>
              <a:rPr lang="fr-FR" sz="1200" dirty="0"/>
              <a:t> l’emplacement de l’artefact du projet </a:t>
            </a:r>
            <a:br>
              <a:rPr lang="fr-FR" sz="1200" dirty="0"/>
            </a:br>
            <a:r>
              <a:rPr lang="fr-FR" sz="1200" dirty="0"/>
              <a:t>(</a:t>
            </a:r>
            <a:r>
              <a:rPr lang="fr-FR" sz="1200" dirty="0" err="1"/>
              <a:t>groupId</a:t>
            </a:r>
            <a:r>
              <a:rPr lang="fr-FR" sz="1200" dirty="0"/>
              <a:t>, </a:t>
            </a:r>
            <a:r>
              <a:rPr lang="fr-FR" sz="1200" dirty="0" err="1"/>
              <a:t>ArtifactId</a:t>
            </a:r>
            <a:r>
              <a:rPr lang="fr-FR" sz="1200" dirty="0"/>
              <a:t>, version)</a:t>
            </a:r>
          </a:p>
          <a:p>
            <a:pPr algn="just">
              <a:buNone/>
            </a:pPr>
            <a:endParaRPr lang="fr-FR" sz="1200" dirty="0"/>
          </a:p>
        </p:txBody>
      </p:sp>
    </p:spTree>
    <p:extLst>
      <p:ext uri="{BB962C8B-B14F-4D97-AF65-F5344CB8AC3E}">
        <p14:creationId xmlns:p14="http://schemas.microsoft.com/office/powerpoint/2010/main" val="3067553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16A03F-D60D-2D96-34D2-E1E1BD73C9A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99E18D9-465C-2A19-564F-B6A83374032C}"/>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5D17F7EA-A895-5C9D-F711-9EAE3C456E9C}"/>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EAB6A17A-5460-1F91-ABE3-5F25E96C6A3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752B34D2-2699-E9E0-8AFF-2419FDAE5D1D}"/>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3EE34BF-2DC2-18A6-3F47-279FE0EB5D6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A837FCE-73B5-8F71-9FAA-C24566C4DF39}"/>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37F2FCFC-F33B-87B0-B4F0-89D4C891B34D}"/>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Maven - </a:t>
            </a:r>
            <a:r>
              <a:rPr lang="fr-FR" b="1" dirty="0">
                <a:solidFill>
                  <a:srgbClr val="1A1A1A"/>
                </a:solidFill>
                <a:latin typeface="Calibri" pitchFamily="34" charset="0"/>
                <a:ea typeface="Calibri" pitchFamily="34" charset="-122"/>
                <a:cs typeface="Calibri" pitchFamily="34" charset="-120"/>
              </a:rPr>
              <a:t>Cycle de vie et Repository</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6956A5F-168B-FEF9-59F1-A1456C0738FE}"/>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B2E3D02F-D7FB-0A7A-C04B-356CF1F729D3}"/>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3571BF5-F367-3E1D-30BD-D346A89E6672}"/>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1BE7967D-6AAA-6D00-7237-245B0FB0EBFA}"/>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12</a:t>
            </a:r>
            <a:endParaRPr lang="en-US" sz="900" dirty="0"/>
          </a:p>
        </p:txBody>
      </p:sp>
      <p:pic>
        <p:nvPicPr>
          <p:cNvPr id="18" name="object 2">
            <a:extLst>
              <a:ext uri="{FF2B5EF4-FFF2-40B4-BE49-F238E27FC236}">
                <a16:creationId xmlns:a16="http://schemas.microsoft.com/office/drawing/2014/main" id="{81C8BDFA-920E-1675-7600-26F93A20A8D1}"/>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4305F01E-8EF1-C838-08BD-4F885F7AB4A9}"/>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9B873AE1-8637-694C-340A-FA1A683DEE95}"/>
              </a:ext>
            </a:extLst>
          </p:cNvPr>
          <p:cNvSpPr txBox="1"/>
          <p:nvPr/>
        </p:nvSpPr>
        <p:spPr>
          <a:xfrm>
            <a:off x="711600" y="779244"/>
            <a:ext cx="8306017" cy="3754874"/>
          </a:xfrm>
          <a:prstGeom prst="rect">
            <a:avLst/>
          </a:prstGeom>
          <a:noFill/>
        </p:spPr>
        <p:txBody>
          <a:bodyPr wrap="square">
            <a:spAutoFit/>
          </a:bodyPr>
          <a:lstStyle/>
          <a:p>
            <a:pPr>
              <a:buNone/>
            </a:pPr>
            <a:r>
              <a:rPr lang="fr-FR" sz="1400" b="1" dirty="0"/>
              <a:t>POM - Project Object Model</a:t>
            </a:r>
          </a:p>
          <a:p>
            <a:pPr>
              <a:buNone/>
            </a:pPr>
            <a:r>
              <a:rPr lang="fr-FR" sz="1400" dirty="0"/>
              <a:t>Spring </a:t>
            </a:r>
            <a:r>
              <a:rPr lang="fr-FR" sz="1400" dirty="0" err="1"/>
              <a:t>BootMaven</a:t>
            </a:r>
            <a:r>
              <a:rPr lang="fr-FR" sz="1400" dirty="0"/>
              <a:t> définit un cycle de vie standardisé composé de phases exécutées dans l'ordre :</a:t>
            </a:r>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endParaRPr lang="fr-FR" sz="1400" dirty="0"/>
          </a:p>
          <a:p>
            <a:pPr>
              <a:buNone/>
            </a:pPr>
            <a:r>
              <a:rPr lang="fr-FR" sz="1400" dirty="0"/>
              <a:t>Les dépendances et starters sont téléchargés auprès d'un repository distant </a:t>
            </a:r>
            <a:r>
              <a:rPr lang="fr-FR" sz="1400" b="1" dirty="0"/>
              <a:t>(Maven Central) </a:t>
            </a:r>
            <a:r>
              <a:rPr lang="fr-FR" sz="1400" dirty="0"/>
              <a:t>puis mis en cache dans un repository local </a:t>
            </a:r>
            <a:r>
              <a:rPr lang="fr-FR" sz="1400" b="1" dirty="0"/>
              <a:t>(~/.m2/repository). </a:t>
            </a:r>
          </a:p>
          <a:p>
            <a:pPr>
              <a:buNone/>
            </a:pPr>
            <a:r>
              <a:rPr lang="fr-FR" sz="1400" dirty="0"/>
              <a:t>Maven vérifie d'abord le local avant de contacter le distant.</a:t>
            </a:r>
          </a:p>
        </p:txBody>
      </p:sp>
      <p:pic>
        <p:nvPicPr>
          <p:cNvPr id="16" name="Picture 15">
            <a:extLst>
              <a:ext uri="{FF2B5EF4-FFF2-40B4-BE49-F238E27FC236}">
                <a16:creationId xmlns:a16="http://schemas.microsoft.com/office/drawing/2014/main" id="{8260BBB0-7334-2018-477B-AAF6F20DD454}"/>
              </a:ext>
            </a:extLst>
          </p:cNvPr>
          <p:cNvPicPr>
            <a:picLocks noChangeAspect="1"/>
          </p:cNvPicPr>
          <p:nvPr/>
        </p:nvPicPr>
        <p:blipFill>
          <a:blip r:embed="rId6"/>
          <a:stretch>
            <a:fillRect/>
          </a:stretch>
        </p:blipFill>
        <p:spPr>
          <a:xfrm>
            <a:off x="1395129" y="1192449"/>
            <a:ext cx="6353741" cy="2676168"/>
          </a:xfrm>
          <a:prstGeom prst="rect">
            <a:avLst/>
          </a:prstGeom>
        </p:spPr>
      </p:pic>
    </p:spTree>
    <p:extLst>
      <p:ext uri="{BB962C8B-B14F-4D97-AF65-F5344CB8AC3E}">
        <p14:creationId xmlns:p14="http://schemas.microsoft.com/office/powerpoint/2010/main" val="1216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BC361C9-F364-D401-0774-84EEAAD1F73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E97CDDA-BB3D-357C-F856-9D92C0CE27E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0120987-CBCD-4AF6-D23D-F8E3AFD20D4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93F7F66-9B28-E205-36F0-216489136CD7}"/>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7A9D5F90-D989-8646-D11E-F74E5B51B3C0}"/>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3D9296C-EE72-395A-008E-04C9A9D54B9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CE7B6F33-5575-586E-4264-3D3F740D83A9}"/>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45F8DE8-EDE5-38C2-B292-EEA0305760E4}"/>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Maven - </a:t>
            </a:r>
            <a:r>
              <a:rPr lang="fr-FR" b="1" dirty="0">
                <a:solidFill>
                  <a:srgbClr val="1A1A1A"/>
                </a:solidFill>
                <a:latin typeface="Calibri" pitchFamily="34" charset="0"/>
                <a:ea typeface="Calibri" pitchFamily="34" charset="-122"/>
                <a:cs typeface="Calibri" pitchFamily="34" charset="-120"/>
              </a:rPr>
              <a:t>Cycle de vie et Repository</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79216481-2FB2-88A9-8791-BDFBFD7819C9}"/>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49B657FB-224F-A3B9-FCB1-2F25C8B9AD96}"/>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F72434BF-4EE9-D32A-09BB-AFEBAF30034A}"/>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FAB6A7C1-2553-BB9D-DCF6-40C98177C2E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13</a:t>
            </a:r>
            <a:endParaRPr lang="en-US" sz="900" dirty="0"/>
          </a:p>
        </p:txBody>
      </p:sp>
      <p:pic>
        <p:nvPicPr>
          <p:cNvPr id="18" name="object 2">
            <a:extLst>
              <a:ext uri="{FF2B5EF4-FFF2-40B4-BE49-F238E27FC236}">
                <a16:creationId xmlns:a16="http://schemas.microsoft.com/office/drawing/2014/main" id="{40F9EAFE-DAF6-A78F-37BF-9A707774492C}"/>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65B15237-0E6A-FD2E-56AD-9165D8BA3548}"/>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10DC1ADB-7145-7A67-6060-393D798E9BB9}"/>
              </a:ext>
            </a:extLst>
          </p:cNvPr>
          <p:cNvSpPr txBox="1"/>
          <p:nvPr/>
        </p:nvSpPr>
        <p:spPr>
          <a:xfrm>
            <a:off x="446605" y="785098"/>
            <a:ext cx="7691556" cy="738664"/>
          </a:xfrm>
          <a:prstGeom prst="rect">
            <a:avLst/>
          </a:prstGeom>
          <a:noFill/>
        </p:spPr>
        <p:txBody>
          <a:bodyPr wrap="square">
            <a:spAutoFit/>
          </a:bodyPr>
          <a:lstStyle/>
          <a:p>
            <a:pPr algn="just">
              <a:buNone/>
            </a:pPr>
            <a:r>
              <a:rPr lang="fr-FR" sz="1400" dirty="0"/>
              <a:t>Les dépendances et starters sont téléchargés auprès d'un repository distant </a:t>
            </a:r>
            <a:r>
              <a:rPr lang="fr-FR" sz="1400" b="1" dirty="0"/>
              <a:t>(Maven Central) </a:t>
            </a:r>
            <a:r>
              <a:rPr lang="fr-FR" sz="1400" dirty="0"/>
              <a:t>puis </a:t>
            </a:r>
            <a:br>
              <a:rPr lang="fr-FR" sz="1400" dirty="0"/>
            </a:br>
            <a:r>
              <a:rPr lang="fr-FR" sz="1400" dirty="0"/>
              <a:t>mis en cache dans un repository local </a:t>
            </a:r>
            <a:r>
              <a:rPr lang="fr-FR" sz="1400" b="1" dirty="0"/>
              <a:t>(~/.m2/repository). </a:t>
            </a:r>
          </a:p>
          <a:p>
            <a:pPr algn="just">
              <a:buNone/>
            </a:pPr>
            <a:r>
              <a:rPr lang="fr-FR" sz="1400" dirty="0"/>
              <a:t>Maven vérifie d'abord le local avant de contacter le distant.</a:t>
            </a:r>
          </a:p>
        </p:txBody>
      </p:sp>
      <p:pic>
        <p:nvPicPr>
          <p:cNvPr id="14" name="Picture 13">
            <a:extLst>
              <a:ext uri="{FF2B5EF4-FFF2-40B4-BE49-F238E27FC236}">
                <a16:creationId xmlns:a16="http://schemas.microsoft.com/office/drawing/2014/main" id="{7E0A05F0-8557-0163-584C-9D1BA06D170A}"/>
              </a:ext>
            </a:extLst>
          </p:cNvPr>
          <p:cNvPicPr>
            <a:picLocks noChangeAspect="1"/>
          </p:cNvPicPr>
          <p:nvPr/>
        </p:nvPicPr>
        <p:blipFill>
          <a:blip r:embed="rId6"/>
          <a:stretch>
            <a:fillRect/>
          </a:stretch>
        </p:blipFill>
        <p:spPr>
          <a:xfrm>
            <a:off x="1339450" y="1220586"/>
            <a:ext cx="6353741" cy="3107808"/>
          </a:xfrm>
          <a:prstGeom prst="rect">
            <a:avLst/>
          </a:prstGeom>
        </p:spPr>
      </p:pic>
    </p:spTree>
    <p:extLst>
      <p:ext uri="{BB962C8B-B14F-4D97-AF65-F5344CB8AC3E}">
        <p14:creationId xmlns:p14="http://schemas.microsoft.com/office/powerpoint/2010/main" val="1131731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15AD571-B2C9-9105-959E-EABB870ECD6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A578018-E119-ECB2-6D15-7E3E44CEC90F}"/>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E639B3D-D2F9-C469-E92A-72DD422AE2D9}"/>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67947623-3E8A-86A5-C302-8778E07E4FB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9549B55-E7C8-C09F-8A6F-9370EBE0C28B}"/>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C760F336-01DD-530C-44B9-9F7B5707462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726D0C9-AA1E-AF3D-B5FF-9A6ACBD4523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62E2A027-60CF-C2E2-8D7C-B8ADD7AED06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Maven - Arborescence du </a:t>
            </a:r>
            <a:r>
              <a:rPr lang="en-GB" b="1" dirty="0" err="1">
                <a:solidFill>
                  <a:srgbClr val="1A1A1A"/>
                </a:solidFill>
                <a:latin typeface="Calibri" pitchFamily="34" charset="0"/>
                <a:ea typeface="Calibri" pitchFamily="34" charset="-122"/>
                <a:cs typeface="Calibri" pitchFamily="34" charset="-120"/>
              </a:rPr>
              <a:t>Projet</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1678A0B-DC6B-B84B-B03F-4B04585212DF}"/>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3C41205-5A1B-3A7E-C209-1C0BB3D801CC}"/>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E1DE45E6-2831-D5B8-AED2-581DD265D39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A9F4B5CA-B795-216B-8DA1-6B44FB489612}"/>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14</a:t>
            </a:r>
            <a:endParaRPr lang="en-US" sz="900" dirty="0"/>
          </a:p>
        </p:txBody>
      </p:sp>
      <p:pic>
        <p:nvPicPr>
          <p:cNvPr id="18" name="object 2">
            <a:extLst>
              <a:ext uri="{FF2B5EF4-FFF2-40B4-BE49-F238E27FC236}">
                <a16:creationId xmlns:a16="http://schemas.microsoft.com/office/drawing/2014/main" id="{E9A4D3FB-0A8E-4CB5-6547-B7AB9D94716D}"/>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61B433C6-0DBD-D0FC-6167-D5151BE16967}"/>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8E97A456-F789-A786-67BB-30C1A69A92FC}"/>
              </a:ext>
            </a:extLst>
          </p:cNvPr>
          <p:cNvSpPr txBox="1"/>
          <p:nvPr/>
        </p:nvSpPr>
        <p:spPr>
          <a:xfrm>
            <a:off x="446605" y="785098"/>
            <a:ext cx="7691556" cy="738664"/>
          </a:xfrm>
          <a:prstGeom prst="rect">
            <a:avLst/>
          </a:prstGeom>
          <a:noFill/>
        </p:spPr>
        <p:txBody>
          <a:bodyPr wrap="square">
            <a:spAutoFit/>
          </a:bodyPr>
          <a:lstStyle/>
          <a:p>
            <a:pPr algn="just">
              <a:buNone/>
            </a:pPr>
            <a:r>
              <a:rPr lang="fr-FR" sz="1400" dirty="0"/>
              <a:t>Maven est basé sur la notion de </a:t>
            </a:r>
            <a:r>
              <a:rPr lang="fr-FR" sz="1400" b="1" dirty="0"/>
              <a:t>convention over configuration. </a:t>
            </a:r>
            <a:r>
              <a:rPr lang="fr-FR" sz="1400" dirty="0"/>
              <a:t>L'arborescence du projet est prédéfinie, ce qui le différencie de ses concurrents (Gradle, Ant) où une configuration supplémentaire est requise.</a:t>
            </a:r>
          </a:p>
        </p:txBody>
      </p:sp>
      <p:pic>
        <p:nvPicPr>
          <p:cNvPr id="15" name="Picture 14">
            <a:extLst>
              <a:ext uri="{FF2B5EF4-FFF2-40B4-BE49-F238E27FC236}">
                <a16:creationId xmlns:a16="http://schemas.microsoft.com/office/drawing/2014/main" id="{E1C3B487-1BE3-EB62-9B24-5E95048B4494}"/>
              </a:ext>
            </a:extLst>
          </p:cNvPr>
          <p:cNvPicPr>
            <a:picLocks noChangeAspect="1"/>
          </p:cNvPicPr>
          <p:nvPr/>
        </p:nvPicPr>
        <p:blipFill>
          <a:blip r:embed="rId6"/>
          <a:stretch>
            <a:fillRect/>
          </a:stretch>
        </p:blipFill>
        <p:spPr>
          <a:xfrm>
            <a:off x="6592138" y="1389634"/>
            <a:ext cx="2277542" cy="3228086"/>
          </a:xfrm>
          <a:prstGeom prst="rect">
            <a:avLst/>
          </a:prstGeom>
          <a:solidFill>
            <a:srgbClr val="000000">
              <a:shade val="95000"/>
            </a:srgbClr>
          </a:solidFill>
          <a:ln w="9525" cap="sq">
            <a:solidFill>
              <a:srgbClr val="000000"/>
            </a:solidFill>
            <a:miter lim="800000"/>
          </a:ln>
          <a:effectLst>
            <a:outerShdw blurRad="254000" dist="190500" dir="2700000" sy="90000" algn="bl" rotWithShape="0">
              <a:srgbClr val="000000">
                <a:alpha val="40000"/>
              </a:srgbClr>
            </a:outerShdw>
          </a:effectLst>
        </p:spPr>
      </p:pic>
      <p:sp>
        <p:nvSpPr>
          <p:cNvPr id="19" name="TextBox 18">
            <a:extLst>
              <a:ext uri="{FF2B5EF4-FFF2-40B4-BE49-F238E27FC236}">
                <a16:creationId xmlns:a16="http://schemas.microsoft.com/office/drawing/2014/main" id="{4DACB81C-6819-0EE3-2541-E6A0672A2BC9}"/>
              </a:ext>
            </a:extLst>
          </p:cNvPr>
          <p:cNvSpPr txBox="1"/>
          <p:nvPr/>
        </p:nvSpPr>
        <p:spPr>
          <a:xfrm>
            <a:off x="429768" y="1601116"/>
            <a:ext cx="6096422" cy="28337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sz="1200" b="1" dirty="0"/>
              <a:t>pom.xml : </a:t>
            </a:r>
            <a:r>
              <a:rPr lang="fr-FR" sz="1200" dirty="0"/>
              <a:t>le fichier de configuration du projet. </a:t>
            </a:r>
          </a:p>
          <a:p>
            <a:pPr marL="285750" indent="-285750">
              <a:lnSpc>
                <a:spcPct val="150000"/>
              </a:lnSpc>
              <a:buFont typeface="Arial" panose="020B0604020202020204" pitchFamily="34" charset="0"/>
              <a:buChar char="•"/>
            </a:pPr>
            <a:r>
              <a:rPr lang="fr-FR" sz="1200" b="1" dirty="0"/>
              <a:t>/src : </a:t>
            </a:r>
            <a:r>
              <a:rPr lang="fr-FR" sz="1200" dirty="0"/>
              <a:t>code source et fichiers source principaux. </a:t>
            </a:r>
          </a:p>
          <a:p>
            <a:pPr marL="285750" indent="-285750">
              <a:lnSpc>
                <a:spcPct val="150000"/>
              </a:lnSpc>
              <a:buFont typeface="Arial" panose="020B0604020202020204" pitchFamily="34" charset="0"/>
              <a:buChar char="•"/>
            </a:pPr>
            <a:r>
              <a:rPr lang="fr-FR" sz="1200" b="1" dirty="0"/>
              <a:t>/src/main/java : </a:t>
            </a:r>
            <a:r>
              <a:rPr lang="fr-FR" sz="1200" dirty="0"/>
              <a:t>code source java.</a:t>
            </a:r>
          </a:p>
          <a:p>
            <a:pPr marL="285750" indent="-285750">
              <a:lnSpc>
                <a:spcPct val="150000"/>
              </a:lnSpc>
              <a:buFont typeface="Arial" panose="020B0604020202020204" pitchFamily="34" charset="0"/>
              <a:buChar char="•"/>
            </a:pPr>
            <a:r>
              <a:rPr lang="fr-FR" sz="1200" b="1" dirty="0"/>
              <a:t>/src/main/</a:t>
            </a:r>
            <a:r>
              <a:rPr lang="fr-FR" sz="1200" b="1" dirty="0" err="1"/>
              <a:t>resources</a:t>
            </a:r>
            <a:r>
              <a:rPr lang="fr-FR" sz="1200" b="1" dirty="0"/>
              <a:t> : </a:t>
            </a:r>
            <a:r>
              <a:rPr lang="fr-FR" sz="1200" dirty="0"/>
              <a:t>fichiers de ressources (images, fichiers config, HTML...).</a:t>
            </a:r>
          </a:p>
          <a:p>
            <a:pPr marL="285750" indent="-285750">
              <a:lnSpc>
                <a:spcPct val="150000"/>
              </a:lnSpc>
              <a:buFont typeface="Arial" panose="020B0604020202020204" pitchFamily="34" charset="0"/>
              <a:buChar char="•"/>
            </a:pPr>
            <a:r>
              <a:rPr lang="fr-FR" sz="1200" b="1" dirty="0"/>
              <a:t>/src/main/</a:t>
            </a:r>
            <a:r>
              <a:rPr lang="fr-FR" sz="1200" b="1" dirty="0" err="1"/>
              <a:t>webapp</a:t>
            </a:r>
            <a:r>
              <a:rPr lang="fr-FR" sz="1200" b="1" dirty="0"/>
              <a:t> : </a:t>
            </a:r>
            <a:r>
              <a:rPr lang="fr-FR" sz="1200" dirty="0" err="1"/>
              <a:t>webapp</a:t>
            </a:r>
            <a:r>
              <a:rPr lang="fr-FR" sz="1200" dirty="0"/>
              <a:t> du projet.</a:t>
            </a:r>
          </a:p>
          <a:p>
            <a:pPr marL="285750" indent="-285750">
              <a:lnSpc>
                <a:spcPct val="150000"/>
              </a:lnSpc>
              <a:buFont typeface="Arial" panose="020B0604020202020204" pitchFamily="34" charset="0"/>
              <a:buChar char="•"/>
            </a:pPr>
            <a:r>
              <a:rPr lang="fr-FR" sz="1200" b="1" dirty="0"/>
              <a:t>/src/test : </a:t>
            </a:r>
            <a:r>
              <a:rPr lang="fr-FR" sz="1200" dirty="0"/>
              <a:t>fichiers de test.</a:t>
            </a:r>
          </a:p>
          <a:p>
            <a:pPr marL="285750" indent="-285750">
              <a:lnSpc>
                <a:spcPct val="150000"/>
              </a:lnSpc>
              <a:buFont typeface="Arial" panose="020B0604020202020204" pitchFamily="34" charset="0"/>
              <a:buChar char="•"/>
            </a:pPr>
            <a:r>
              <a:rPr lang="fr-FR" sz="1200" b="1" dirty="0"/>
              <a:t>/src/test/java : </a:t>
            </a:r>
            <a:r>
              <a:rPr lang="fr-FR" sz="1200" dirty="0"/>
              <a:t>code source Java de test.</a:t>
            </a:r>
          </a:p>
          <a:p>
            <a:pPr marL="285750" indent="-285750">
              <a:lnSpc>
                <a:spcPct val="150000"/>
              </a:lnSpc>
              <a:buFont typeface="Arial" panose="020B0604020202020204" pitchFamily="34" charset="0"/>
              <a:buChar char="•"/>
            </a:pPr>
            <a:r>
              <a:rPr lang="fr-FR" sz="1200" b="1" dirty="0"/>
              <a:t>/src/test/</a:t>
            </a:r>
            <a:r>
              <a:rPr lang="fr-FR" sz="1200" b="1" dirty="0" err="1"/>
              <a:t>resources</a:t>
            </a:r>
            <a:r>
              <a:rPr lang="fr-FR" sz="1200" b="1" dirty="0"/>
              <a:t> : </a:t>
            </a:r>
            <a:r>
              <a:rPr lang="fr-FR" sz="1200" dirty="0"/>
              <a:t>fichiers de ressources de test.</a:t>
            </a:r>
          </a:p>
          <a:p>
            <a:pPr marL="285750" indent="-285750">
              <a:lnSpc>
                <a:spcPct val="150000"/>
              </a:lnSpc>
              <a:buFont typeface="Arial" panose="020B0604020202020204" pitchFamily="34" charset="0"/>
              <a:buChar char="•"/>
            </a:pPr>
            <a:r>
              <a:rPr lang="fr-FR" sz="1200" b="1" dirty="0"/>
              <a:t>/</a:t>
            </a:r>
            <a:r>
              <a:rPr lang="fr-FR" sz="1200" b="1" dirty="0" err="1"/>
              <a:t>target</a:t>
            </a:r>
            <a:r>
              <a:rPr lang="fr-FR" sz="1200" b="1" dirty="0"/>
              <a:t> : </a:t>
            </a:r>
            <a:r>
              <a:rPr lang="fr-FR" sz="1200" dirty="0"/>
              <a:t>fichiers résultat, les binaires (du code et des tests), les packages générés et les résultats des tests.</a:t>
            </a:r>
          </a:p>
        </p:txBody>
      </p:sp>
    </p:spTree>
    <p:extLst>
      <p:ext uri="{BB962C8B-B14F-4D97-AF65-F5344CB8AC3E}">
        <p14:creationId xmlns:p14="http://schemas.microsoft.com/office/powerpoint/2010/main" val="3022797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EAA3CC7-2BBD-4F98-2B24-648C8A24FAE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767D42D-9AF6-D6B5-FB8E-0746E8B3AEE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CB0B9FB-34F9-0BD1-8F20-27146374356F}"/>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3666111-C86F-5750-0A1B-ECF596020826}"/>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40F1357C-D89E-56E9-AC7E-A43FD268892C}"/>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F5F40FCD-FF56-815D-B5A8-CE96C1F1612D}"/>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0DA1A45A-8EB2-CADF-3222-010004D2FE3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6CE4B791-5F10-624E-8C30-AA82583DF3B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Le </a:t>
            </a:r>
            <a:r>
              <a:rPr lang="en-GB" b="1" dirty="0" err="1">
                <a:solidFill>
                  <a:srgbClr val="1A1A1A"/>
                </a:solidFill>
                <a:latin typeface="Calibri" pitchFamily="34" charset="0"/>
                <a:ea typeface="Calibri" pitchFamily="34" charset="-122"/>
                <a:cs typeface="Calibri" pitchFamily="34" charset="-120"/>
              </a:rPr>
              <a:t>problème</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C70825EF-7EDB-B35A-9506-1C331F5A9E24}"/>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FB8C2030-3702-26E0-9583-B71512B179C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B1063F83-0A66-F7B1-EE74-743345E9DF2A}"/>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BB3EC2B7-6B64-3E00-9042-9E75FEF9C6AC}"/>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15</a:t>
            </a:r>
            <a:endParaRPr lang="en-US" sz="900" dirty="0"/>
          </a:p>
        </p:txBody>
      </p:sp>
      <p:pic>
        <p:nvPicPr>
          <p:cNvPr id="18" name="object 2">
            <a:extLst>
              <a:ext uri="{FF2B5EF4-FFF2-40B4-BE49-F238E27FC236}">
                <a16:creationId xmlns:a16="http://schemas.microsoft.com/office/drawing/2014/main" id="{D05D7D7C-3A14-815F-C466-2BBD7755B614}"/>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0FE4AF7A-9B2F-6A0E-8FD4-6B435E32CD0D}"/>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E2049D84-C000-E676-14B1-71C359853241}"/>
              </a:ext>
            </a:extLst>
          </p:cNvPr>
          <p:cNvSpPr txBox="1"/>
          <p:nvPr/>
        </p:nvSpPr>
        <p:spPr>
          <a:xfrm>
            <a:off x="381036" y="1046825"/>
            <a:ext cx="8381928" cy="2967415"/>
          </a:xfrm>
          <a:prstGeom prst="rect">
            <a:avLst/>
          </a:prstGeom>
          <a:noFill/>
        </p:spPr>
        <p:txBody>
          <a:bodyPr wrap="square">
            <a:spAutoFit/>
          </a:bodyPr>
          <a:lstStyle/>
          <a:p>
            <a:pPr>
              <a:lnSpc>
                <a:spcPct val="150000"/>
              </a:lnSpc>
            </a:pPr>
            <a:r>
              <a:rPr lang="fr-FR" sz="1400" b="1" dirty="0"/>
              <a:t>Le Modèle Relationnel : </a:t>
            </a:r>
            <a:r>
              <a:rPr lang="fr-FR" sz="1400" dirty="0"/>
              <a:t>Les systèmes de gestion de bases de données relationnels (SGBDR) sont devenus un pilier incontournable dans le développement d'applications.</a:t>
            </a:r>
          </a:p>
          <a:p>
            <a:pPr>
              <a:lnSpc>
                <a:spcPct val="150000"/>
              </a:lnSpc>
            </a:pPr>
            <a:r>
              <a:rPr lang="fr-FR" sz="1400" b="1" dirty="0"/>
              <a:t>Le Modèle Objet : </a:t>
            </a:r>
            <a:r>
              <a:rPr lang="fr-FR" sz="1400" dirty="0"/>
              <a:t>Se base sur la programmation orientée objet. Celle-ci permet aux applications d'atteindre un excellent niveau de qualité et de flexibilité.</a:t>
            </a:r>
          </a:p>
          <a:p>
            <a:pPr>
              <a:lnSpc>
                <a:spcPct val="150000"/>
              </a:lnSpc>
            </a:pPr>
            <a:endParaRPr lang="fr-FR" sz="1400" dirty="0"/>
          </a:p>
          <a:p>
            <a:pPr>
              <a:lnSpc>
                <a:spcPct val="150000"/>
              </a:lnSpc>
            </a:pPr>
            <a:endParaRPr lang="fr-FR" sz="1400" dirty="0"/>
          </a:p>
          <a:p>
            <a:pPr algn="ctr">
              <a:lnSpc>
                <a:spcPct val="150000"/>
              </a:lnSpc>
            </a:pPr>
            <a:r>
              <a:rPr lang="fr-FR" sz="1400" b="1" dirty="0"/>
              <a:t>Le problème :</a:t>
            </a:r>
            <a:r>
              <a:rPr lang="fr-FR" sz="1400" dirty="0"/>
              <a:t>Comment stocker les objets modélisés de la mémoire vers les SGBDR ? </a:t>
            </a:r>
            <a:br>
              <a:rPr lang="fr-FR" sz="1400" dirty="0"/>
            </a:br>
            <a:r>
              <a:rPr lang="fr-FR" sz="1400" dirty="0"/>
              <a:t>=&gt; On parle ainsi de </a:t>
            </a:r>
            <a:r>
              <a:rPr lang="fr-FR" sz="1400" b="1" dirty="0"/>
              <a:t>persistance d'objets métiers</a:t>
            </a:r>
            <a:r>
              <a:rPr lang="fr-FR" sz="1400" dirty="0"/>
              <a:t>.</a:t>
            </a:r>
          </a:p>
          <a:p>
            <a:pPr algn="just">
              <a:lnSpc>
                <a:spcPct val="150000"/>
              </a:lnSpc>
              <a:buNone/>
            </a:pPr>
            <a:endParaRPr lang="fr-FR" sz="1400" dirty="0"/>
          </a:p>
        </p:txBody>
      </p:sp>
    </p:spTree>
    <p:extLst>
      <p:ext uri="{BB962C8B-B14F-4D97-AF65-F5344CB8AC3E}">
        <p14:creationId xmlns:p14="http://schemas.microsoft.com/office/powerpoint/2010/main" val="3730861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7C7AF67-34BB-E8CD-6AAE-AEAFC244A3D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2F985FB-94DE-3710-51EA-49654E4C5B42}"/>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6A72876-E693-A5C6-E553-751A56ADF59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F38294B0-9B7F-3521-44C0-F0666EDE5CD3}"/>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D60F8C0C-9425-98B9-F86E-C4E5B6DECDED}"/>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4B547D6-0295-BA63-084C-DF952873FB70}"/>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6406F839-ED0D-626D-0333-20549DBD2F9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47EBEB5-5B91-5583-16D7-FE5DC39D36C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Les Solutions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5D23317-D6A0-DCE6-35F3-3BCA4A346F83}"/>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DF0C8B53-CC82-4BA0-F9D4-B8B53405426E}"/>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7944019-E18F-AE2F-F595-D9540FF2F78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678519B1-843D-A851-1453-0DE7B2B1FD41}"/>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16</a:t>
            </a:r>
            <a:endParaRPr lang="en-US" sz="900" dirty="0"/>
          </a:p>
        </p:txBody>
      </p:sp>
      <p:pic>
        <p:nvPicPr>
          <p:cNvPr id="18" name="object 2">
            <a:extLst>
              <a:ext uri="{FF2B5EF4-FFF2-40B4-BE49-F238E27FC236}">
                <a16:creationId xmlns:a16="http://schemas.microsoft.com/office/drawing/2014/main" id="{688AC2EF-0C00-5D2D-BEB4-0D2F9BAC83E4}"/>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1DB4DBC7-5B67-A844-5875-2C2E04498E18}"/>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F36313B2-736D-CC06-8DF9-41F22BEE986A}"/>
              </a:ext>
            </a:extLst>
          </p:cNvPr>
          <p:cNvSpPr txBox="1"/>
          <p:nvPr/>
        </p:nvSpPr>
        <p:spPr>
          <a:xfrm>
            <a:off x="460320" y="717666"/>
            <a:ext cx="8381928" cy="1351588"/>
          </a:xfrm>
          <a:prstGeom prst="rect">
            <a:avLst/>
          </a:prstGeom>
          <a:noFill/>
        </p:spPr>
        <p:txBody>
          <a:bodyPr wrap="square">
            <a:spAutoFit/>
          </a:bodyPr>
          <a:lstStyle/>
          <a:p>
            <a:pPr>
              <a:lnSpc>
                <a:spcPct val="150000"/>
              </a:lnSpc>
            </a:pPr>
            <a:r>
              <a:rPr lang="fr-FR" sz="1400" b="1" dirty="0"/>
              <a:t>Solution 1</a:t>
            </a:r>
            <a:r>
              <a:rPr lang="fr-FR" sz="1400" dirty="0"/>
              <a:t> → Développer manuellement le code de projection des objets sur le support relationnel </a:t>
            </a:r>
            <a:r>
              <a:rPr lang="fr-FR" sz="1400" i="1" dirty="0"/>
              <a:t>(JDBC natif)</a:t>
            </a:r>
            <a:endParaRPr lang="fr-FR" sz="1400" dirty="0"/>
          </a:p>
          <a:p>
            <a:pPr>
              <a:lnSpc>
                <a:spcPct val="150000"/>
              </a:lnSpc>
            </a:pPr>
            <a:r>
              <a:rPr lang="fr-FR" sz="1400" b="1" dirty="0"/>
              <a:t>Solution 2</a:t>
            </a:r>
            <a:r>
              <a:rPr lang="fr-FR" sz="1400" dirty="0"/>
              <a:t> → Utiliser un Framework de projection objet-relationnel : </a:t>
            </a:r>
            <a:r>
              <a:rPr lang="fr-FR" sz="1400" dirty="0" err="1"/>
              <a:t>EclipseLink</a:t>
            </a:r>
            <a:r>
              <a:rPr lang="fr-FR" sz="1400" dirty="0"/>
              <a:t>, Hibernate, Spring Data JPA… </a:t>
            </a:r>
            <a:r>
              <a:rPr lang="fr-FR" sz="1400" i="1" dirty="0"/>
              <a:t>(implémentent la spécification </a:t>
            </a:r>
            <a:r>
              <a:rPr lang="fr-FR" sz="1400" i="1" dirty="0" err="1"/>
              <a:t>JakartaEE</a:t>
            </a:r>
            <a:r>
              <a:rPr lang="fr-FR" sz="1400" i="1" dirty="0"/>
              <a:t> JPA)</a:t>
            </a:r>
            <a:endParaRPr lang="fr-FR" sz="1400" dirty="0"/>
          </a:p>
          <a:p>
            <a:pPr algn="just">
              <a:lnSpc>
                <a:spcPct val="150000"/>
              </a:lnSpc>
              <a:buNone/>
            </a:pPr>
            <a:endParaRPr lang="fr-FR" sz="1400" dirty="0"/>
          </a:p>
        </p:txBody>
      </p:sp>
      <p:pic>
        <p:nvPicPr>
          <p:cNvPr id="20" name="Picture 19">
            <a:extLst>
              <a:ext uri="{FF2B5EF4-FFF2-40B4-BE49-F238E27FC236}">
                <a16:creationId xmlns:a16="http://schemas.microsoft.com/office/drawing/2014/main" id="{432F441E-47BB-864A-4870-D2F010910114}"/>
              </a:ext>
            </a:extLst>
          </p:cNvPr>
          <p:cNvPicPr>
            <a:picLocks noChangeAspect="1"/>
          </p:cNvPicPr>
          <p:nvPr/>
        </p:nvPicPr>
        <p:blipFill>
          <a:blip r:embed="rId6"/>
          <a:stretch>
            <a:fillRect/>
          </a:stretch>
        </p:blipFill>
        <p:spPr>
          <a:xfrm>
            <a:off x="1838597" y="1751786"/>
            <a:ext cx="5466806" cy="2971090"/>
          </a:xfrm>
          <a:prstGeom prst="rect">
            <a:avLst/>
          </a:prstGeom>
        </p:spPr>
      </p:pic>
    </p:spTree>
    <p:extLst>
      <p:ext uri="{BB962C8B-B14F-4D97-AF65-F5344CB8AC3E}">
        <p14:creationId xmlns:p14="http://schemas.microsoft.com/office/powerpoint/2010/main" val="985067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F88F590-8850-6BA9-CB50-A731C948D00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A8DBCAB-3964-A85F-E130-92807B13389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ED7E775-6913-B5EA-7709-DB7ECE3A576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334FCBD3-9154-E612-50EF-3AC0D5D4515B}"/>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F065985B-1F30-5379-1965-A7D0656B8284}"/>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2F10882-63B9-C6FB-BBA8-97BE04BD82D8}"/>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4E7303AD-7E51-3BD3-8489-CD327011128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BB7EB2B-3D2C-CD85-153C-D9C9129A502B}"/>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JDBC : </a:t>
            </a:r>
            <a:r>
              <a:rPr lang="en-GB" b="1" dirty="0" err="1">
                <a:solidFill>
                  <a:srgbClr val="1A1A1A"/>
                </a:solidFill>
                <a:latin typeface="Calibri" pitchFamily="34" charset="0"/>
                <a:ea typeface="Calibri" pitchFamily="34" charset="-122"/>
                <a:cs typeface="Calibri" pitchFamily="34" charset="-120"/>
              </a:rPr>
              <a:t>Définition</a:t>
            </a:r>
            <a:r>
              <a:rPr lang="en-GB" b="1" dirty="0">
                <a:solidFill>
                  <a:srgbClr val="1A1A1A"/>
                </a:solidFill>
                <a:latin typeface="Calibri" pitchFamily="34" charset="0"/>
                <a:ea typeface="Calibri" pitchFamily="34" charset="-122"/>
                <a:cs typeface="Calibri" pitchFamily="34" charset="-120"/>
              </a:rPr>
              <a:t> &amp; </a:t>
            </a:r>
            <a:r>
              <a:rPr lang="en-GB" b="1" dirty="0" err="1">
                <a:solidFill>
                  <a:srgbClr val="1A1A1A"/>
                </a:solidFill>
                <a:latin typeface="Calibri" pitchFamily="34" charset="0"/>
                <a:ea typeface="Calibri" pitchFamily="34" charset="-122"/>
                <a:cs typeface="Calibri" pitchFamily="34" charset="-120"/>
              </a:rPr>
              <a:t>Limites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52C4DA71-2788-A118-A2CC-756218337C1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728F2E2B-B35B-5D58-321E-C37D7246AADF}"/>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9513446A-4D71-E17A-15B2-50BC150872E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51BD9CD8-4A63-2E67-8934-0B83E51A3186}"/>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17</a:t>
            </a:r>
            <a:endParaRPr lang="en-US" sz="900" dirty="0"/>
          </a:p>
        </p:txBody>
      </p:sp>
      <p:pic>
        <p:nvPicPr>
          <p:cNvPr id="18" name="object 2">
            <a:extLst>
              <a:ext uri="{FF2B5EF4-FFF2-40B4-BE49-F238E27FC236}">
                <a16:creationId xmlns:a16="http://schemas.microsoft.com/office/drawing/2014/main" id="{52F8D92B-8A03-4AF4-672E-8415DAA493B6}"/>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FD9A20CC-AD7B-76F6-99F8-197BBCADD9D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5DC735B1-A6C8-BEAF-0601-E90B81DBF654}"/>
              </a:ext>
            </a:extLst>
          </p:cNvPr>
          <p:cNvSpPr txBox="1"/>
          <p:nvPr/>
        </p:nvSpPr>
        <p:spPr>
          <a:xfrm>
            <a:off x="460320" y="717666"/>
            <a:ext cx="8381928" cy="2556726"/>
          </a:xfrm>
          <a:prstGeom prst="rect">
            <a:avLst/>
          </a:prstGeom>
          <a:noFill/>
        </p:spPr>
        <p:txBody>
          <a:bodyPr wrap="square">
            <a:spAutoFit/>
          </a:bodyPr>
          <a:lstStyle/>
          <a:p>
            <a:pPr>
              <a:lnSpc>
                <a:spcPct val="150000"/>
              </a:lnSpc>
            </a:pPr>
            <a:r>
              <a:rPr lang="fr-FR" sz="1200" b="1" dirty="0"/>
              <a:t>JDBC (Java </a:t>
            </a:r>
            <a:r>
              <a:rPr lang="fr-FR" sz="1200" b="1" dirty="0" err="1"/>
              <a:t>DataBase</a:t>
            </a:r>
            <a:r>
              <a:rPr lang="fr-FR" sz="1200" b="1" dirty="0"/>
              <a:t> Connectivity) </a:t>
            </a:r>
            <a:r>
              <a:rPr lang="fr-FR" sz="1200" dirty="0"/>
              <a:t>est une interface de programmation créée par Sun Microsystems (racheté par Oracle Corporation). C'est une API pour les programmes utilisant la plateforme Java.</a:t>
            </a:r>
          </a:p>
          <a:p>
            <a:pPr marL="285750" indent="-285750">
              <a:lnSpc>
                <a:spcPct val="150000"/>
              </a:lnSpc>
              <a:buFont typeface="Wingdings" panose="05000000000000000000" pitchFamily="2" charset="2"/>
              <a:buChar char="ü"/>
            </a:pPr>
            <a:r>
              <a:rPr lang="fr-FR" sz="1200" dirty="0"/>
              <a:t>Permet aux applications Java d'accéder à des bases de données via des pilotes JDBC (Drivers).</a:t>
            </a:r>
          </a:p>
          <a:p>
            <a:pPr marL="285750" indent="-285750">
              <a:lnSpc>
                <a:spcPct val="150000"/>
              </a:lnSpc>
              <a:buFont typeface="Wingdings" panose="05000000000000000000" pitchFamily="2" charset="2"/>
              <a:buChar char="ü"/>
            </a:pPr>
            <a:r>
              <a:rPr lang="fr-FR" sz="1200" dirty="0"/>
              <a:t>Des pilotes JDBC sont disponibles pour tous les SGBDR connus.</a:t>
            </a:r>
          </a:p>
          <a:p>
            <a:pPr marL="285750" indent="-285750">
              <a:lnSpc>
                <a:spcPct val="150000"/>
              </a:lnSpc>
              <a:buFont typeface="Calibri" panose="020F0502020204030204" pitchFamily="34" charset="0"/>
              <a:buChar char="₋"/>
            </a:pPr>
            <a:r>
              <a:rPr lang="fr-FR" sz="1200" dirty="0"/>
              <a:t>Pas de séparation entre le code technique et le code métier.</a:t>
            </a:r>
          </a:p>
          <a:p>
            <a:pPr marL="285750" indent="-285750">
              <a:lnSpc>
                <a:spcPct val="150000"/>
              </a:lnSpc>
              <a:buFont typeface="Calibri" panose="020F0502020204030204" pitchFamily="34" charset="0"/>
              <a:buChar char="₋"/>
            </a:pPr>
            <a:r>
              <a:rPr lang="fr-FR" sz="1200" dirty="0"/>
              <a:t>Utilisation du SQL rend la couche d'accès aux données difficilement maintenable.</a:t>
            </a:r>
          </a:p>
          <a:p>
            <a:pPr marL="285750" indent="-285750">
              <a:lnSpc>
                <a:spcPct val="150000"/>
              </a:lnSpc>
              <a:buFont typeface="Calibri" panose="020F0502020204030204" pitchFamily="34" charset="0"/>
              <a:buChar char="₋"/>
            </a:pPr>
            <a:r>
              <a:rPr lang="fr-FR" sz="1200" dirty="0"/>
              <a:t>Code verbeux et répétitif.</a:t>
            </a:r>
          </a:p>
          <a:p>
            <a:pPr>
              <a:lnSpc>
                <a:spcPct val="150000"/>
              </a:lnSpc>
            </a:pPr>
            <a:endParaRPr lang="fr-FR" sz="1200" dirty="0"/>
          </a:p>
          <a:p>
            <a:pPr>
              <a:lnSpc>
                <a:spcPct val="150000"/>
              </a:lnSpc>
            </a:pPr>
            <a:endParaRPr lang="fr-FR" sz="1200" dirty="0"/>
          </a:p>
        </p:txBody>
      </p:sp>
      <p:pic>
        <p:nvPicPr>
          <p:cNvPr id="14" name="Picture 13">
            <a:extLst>
              <a:ext uri="{FF2B5EF4-FFF2-40B4-BE49-F238E27FC236}">
                <a16:creationId xmlns:a16="http://schemas.microsoft.com/office/drawing/2014/main" id="{2BE795A4-A0BB-EB24-B7E2-C05141AE139C}"/>
              </a:ext>
            </a:extLst>
          </p:cNvPr>
          <p:cNvPicPr>
            <a:picLocks noChangeAspect="1"/>
          </p:cNvPicPr>
          <p:nvPr/>
        </p:nvPicPr>
        <p:blipFill>
          <a:blip r:embed="rId6"/>
          <a:stretch>
            <a:fillRect/>
          </a:stretch>
        </p:blipFill>
        <p:spPr>
          <a:xfrm>
            <a:off x="4219303" y="2565600"/>
            <a:ext cx="4444637" cy="2054193"/>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76239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5449F13-3323-9D93-99D0-F7D20419901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3260A2E-2B4E-6B3F-5A7C-DFC49548D71F}"/>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24F6514A-DB97-3069-0BC6-62857228B39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D342ACB7-990E-C7D2-1EA4-F25A0E22DCEC}"/>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7D09DCEC-BC7E-DE68-1B6B-6ED08C8FF661}"/>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33B05CB-FBEC-6EE7-09E3-C7B3F5FD051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7C0B08E8-1072-2A13-788F-E7B8F14B9E7C}"/>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D504EB4D-3227-33FD-7095-9B8E8CC9BE5B}"/>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ORM &amp; JPA</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B76DE91-2FBC-AA84-7243-DCD0F0C86869}"/>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E28CB05-A6D6-8B14-FFE3-037E0A7FC0C5}"/>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B32F501E-BBB6-0E81-BB36-BFCF4974B9B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F2F13228-16F1-C5AF-1B2E-9E3DAAC555E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18</a:t>
            </a:r>
            <a:endParaRPr lang="en-US" sz="900" dirty="0"/>
          </a:p>
        </p:txBody>
      </p:sp>
      <p:pic>
        <p:nvPicPr>
          <p:cNvPr id="18" name="object 2">
            <a:extLst>
              <a:ext uri="{FF2B5EF4-FFF2-40B4-BE49-F238E27FC236}">
                <a16:creationId xmlns:a16="http://schemas.microsoft.com/office/drawing/2014/main" id="{C26C1271-0D20-B4B5-9C84-3F68720FB5DC}"/>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BC02D188-B34B-A49A-5BA1-CE1AE28DD77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DF15946C-4CBD-8430-DF24-2A7CBC0DCC60}"/>
              </a:ext>
            </a:extLst>
          </p:cNvPr>
          <p:cNvSpPr txBox="1"/>
          <p:nvPr/>
        </p:nvSpPr>
        <p:spPr>
          <a:xfrm>
            <a:off x="480060" y="784008"/>
            <a:ext cx="8381928" cy="3387722"/>
          </a:xfrm>
          <a:prstGeom prst="rect">
            <a:avLst/>
          </a:prstGeom>
          <a:noFill/>
        </p:spPr>
        <p:txBody>
          <a:bodyPr wrap="square">
            <a:spAutoFit/>
          </a:bodyPr>
          <a:lstStyle/>
          <a:p>
            <a:pPr algn="just">
              <a:lnSpc>
                <a:spcPct val="150000"/>
              </a:lnSpc>
            </a:pPr>
            <a:r>
              <a:rPr lang="fr-FR" sz="1200" b="1" dirty="0"/>
              <a:t>ORM (Mapping Objet Relationnel) :</a:t>
            </a:r>
            <a:endParaRPr lang="fr-FR" sz="1200" dirty="0"/>
          </a:p>
          <a:p>
            <a:pPr algn="just">
              <a:lnSpc>
                <a:spcPct val="150000"/>
              </a:lnSpc>
            </a:pPr>
            <a:r>
              <a:rPr lang="fr-FR" sz="1200" dirty="0"/>
              <a:t>Pour éviter les inconvénients liés à l'utilisation de l'API JDBC nativement, le concept d'ORM a vu le jour.</a:t>
            </a:r>
          </a:p>
          <a:p>
            <a:pPr algn="just">
              <a:lnSpc>
                <a:spcPct val="150000"/>
              </a:lnSpc>
            </a:pPr>
            <a:r>
              <a:rPr lang="fr-FR" sz="1200" dirty="0"/>
              <a:t>Le Mapping Objet Relationnel (ORM) est une technique de programmation qui permet d'associer une ou plusieurs classes avec une table, et chaque attribut de la classe avec un champ de la table.</a:t>
            </a:r>
          </a:p>
          <a:p>
            <a:pPr algn="just">
              <a:lnSpc>
                <a:spcPct val="150000"/>
              </a:lnSpc>
            </a:pPr>
            <a:r>
              <a:rPr lang="fr-FR" sz="1200" dirty="0"/>
              <a:t>Elle vise à réduire la quantité de code produit par l'API JDBC tel que les opérations restent les mêmes : </a:t>
            </a:r>
            <a:br>
              <a:rPr lang="fr-FR" sz="1200" dirty="0"/>
            </a:br>
            <a:r>
              <a:rPr lang="fr-FR" sz="1200" dirty="0"/>
              <a:t>Connexion + CRUD + Déconnexion.</a:t>
            </a:r>
          </a:p>
          <a:p>
            <a:pPr algn="just">
              <a:lnSpc>
                <a:spcPct val="150000"/>
              </a:lnSpc>
            </a:pPr>
            <a:r>
              <a:rPr lang="fr-FR" sz="1200" b="1" dirty="0"/>
              <a:t>JPA (Jakarta </a:t>
            </a:r>
            <a:r>
              <a:rPr lang="fr-FR" sz="1200" b="1" dirty="0" err="1"/>
              <a:t>Persistence</a:t>
            </a:r>
            <a:r>
              <a:rPr lang="fr-FR" sz="1200" b="1" dirty="0"/>
              <a:t> API) :</a:t>
            </a:r>
            <a:endParaRPr lang="fr-FR" sz="1200" dirty="0"/>
          </a:p>
          <a:p>
            <a:pPr algn="just">
              <a:lnSpc>
                <a:spcPct val="150000"/>
              </a:lnSpc>
            </a:pPr>
            <a:r>
              <a:rPr lang="fr-FR" sz="1200" dirty="0"/>
              <a:t>Pour normaliser le fonctionnement des ORM, JPA a été mis en place.</a:t>
            </a:r>
          </a:p>
          <a:p>
            <a:pPr algn="just">
              <a:lnSpc>
                <a:spcPct val="150000"/>
              </a:lnSpc>
            </a:pPr>
            <a:r>
              <a:rPr lang="fr-FR" sz="1200" dirty="0"/>
              <a:t>La Jakarta </a:t>
            </a:r>
            <a:r>
              <a:rPr lang="fr-FR" sz="1200" dirty="0" err="1"/>
              <a:t>Persistence</a:t>
            </a:r>
            <a:r>
              <a:rPr lang="fr-FR" sz="1200" dirty="0"/>
              <a:t> API (anciennement Java </a:t>
            </a:r>
            <a:r>
              <a:rPr lang="fr-FR" sz="1200" dirty="0" err="1"/>
              <a:t>Persistence</a:t>
            </a:r>
            <a:r>
              <a:rPr lang="fr-FR" sz="1200" dirty="0"/>
              <a:t> API) est une interface de programmation Java permettant de normaliser l'utilisation et la communication avec la couche de données d'une application Java.</a:t>
            </a:r>
          </a:p>
          <a:p>
            <a:pPr algn="just">
              <a:lnSpc>
                <a:spcPct val="150000"/>
              </a:lnSpc>
            </a:pPr>
            <a:endParaRPr lang="fr-FR" sz="1200" dirty="0"/>
          </a:p>
          <a:p>
            <a:pPr algn="just">
              <a:lnSpc>
                <a:spcPct val="150000"/>
              </a:lnSpc>
            </a:pPr>
            <a:endParaRPr lang="fr-FR" sz="1200" dirty="0"/>
          </a:p>
        </p:txBody>
      </p:sp>
      <p:sp>
        <p:nvSpPr>
          <p:cNvPr id="14" name="TextBox 13">
            <a:extLst>
              <a:ext uri="{FF2B5EF4-FFF2-40B4-BE49-F238E27FC236}">
                <a16:creationId xmlns:a16="http://schemas.microsoft.com/office/drawing/2014/main" id="{A9A40E97-61BB-3D14-995A-D39254EC7EF4}"/>
              </a:ext>
            </a:extLst>
          </p:cNvPr>
          <p:cNvSpPr txBox="1">
            <a:spLocks noGrp="1" noRot="1" noMove="1" noResize="1" noEditPoints="1" noAdjustHandles="1" noChangeArrowheads="1" noChangeShapeType="1"/>
          </p:cNvSpPr>
          <p:nvPr/>
        </p:nvSpPr>
        <p:spPr>
          <a:xfrm>
            <a:off x="1347283" y="4045712"/>
            <a:ext cx="8381928" cy="827855"/>
          </a:xfrm>
          <a:prstGeom prst="rect">
            <a:avLst/>
          </a:prstGeom>
          <a:noFill/>
        </p:spPr>
        <p:txBody>
          <a:bodyPr wrap="square">
            <a:spAutoFit/>
          </a:bodyPr>
          <a:lstStyle/>
          <a:p>
            <a:r>
              <a:rPr lang="fr-FR" sz="1100" b="1" dirty="0"/>
              <a:t>JPA nécessite un fournisseur de persistance (ORM) qui implémente ses spécifications : Hibernate, </a:t>
            </a:r>
            <a:r>
              <a:rPr lang="fr-FR" sz="1100" b="1" dirty="0" err="1"/>
              <a:t>Toplink</a:t>
            </a:r>
            <a:r>
              <a:rPr lang="fr-FR" sz="1100" b="1" dirty="0"/>
              <a:t>…</a:t>
            </a:r>
          </a:p>
          <a:p>
            <a:r>
              <a:rPr lang="fr-FR" sz="1100" b="1" dirty="0"/>
              <a:t>JPA = Spécification (normalisation et standardisation)</a:t>
            </a:r>
          </a:p>
          <a:p>
            <a:r>
              <a:rPr lang="fr-FR" sz="1100" b="1" dirty="0"/>
              <a:t>Hibernate = Produit (implémentation de cette spécification)</a:t>
            </a:r>
          </a:p>
          <a:p>
            <a:pPr algn="just">
              <a:lnSpc>
                <a:spcPct val="150000"/>
              </a:lnSpc>
            </a:pPr>
            <a:endParaRPr lang="fr-FR" sz="1100" b="1" dirty="0"/>
          </a:p>
        </p:txBody>
      </p:sp>
      <p:sp>
        <p:nvSpPr>
          <p:cNvPr id="19" name="Rectangle: Rounded Corners 18">
            <a:extLst>
              <a:ext uri="{FF2B5EF4-FFF2-40B4-BE49-F238E27FC236}">
                <a16:creationId xmlns:a16="http://schemas.microsoft.com/office/drawing/2014/main" id="{C602857B-000A-F07B-E25D-10759FEAA9EC}"/>
              </a:ext>
            </a:extLst>
          </p:cNvPr>
          <p:cNvSpPr/>
          <p:nvPr/>
        </p:nvSpPr>
        <p:spPr>
          <a:xfrm>
            <a:off x="1220324" y="3991497"/>
            <a:ext cx="6703352" cy="70408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40419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00926CD-32C3-FED5-649E-107888B1B46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41164B7-37FD-19E6-DB5D-6126BE5462E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FF5D8A3-E4AD-CA93-A1A3-5F47ED63C4B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4D77EB1-E618-5794-3E33-7791AE4BDA6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00E59EE3-DFAC-74DD-FB45-EA5B41BAD35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AC6467D5-3930-68C7-FA87-CE737A88C76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830EBEE-40F8-785C-3A0E-F140478B2EA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C1ADA2AE-1FEB-5C08-A98C-579E06725ECC}"/>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Hibernate &amp; Spring Data JPA</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5E0C7D80-0E95-F70F-34CE-26C029B9438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19AE0B0B-58E1-A6C4-8617-FB2B56FFB386}"/>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C37EBAF-3068-F882-7C8B-99CE172FD97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136FF834-EE10-F698-849F-919136424F60}"/>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19</a:t>
            </a:r>
            <a:endParaRPr lang="en-US" sz="900" dirty="0"/>
          </a:p>
        </p:txBody>
      </p:sp>
      <p:pic>
        <p:nvPicPr>
          <p:cNvPr id="18" name="object 2">
            <a:extLst>
              <a:ext uri="{FF2B5EF4-FFF2-40B4-BE49-F238E27FC236}">
                <a16:creationId xmlns:a16="http://schemas.microsoft.com/office/drawing/2014/main" id="{90C4F82C-A26C-11E3-6DC5-74A98AB75646}"/>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13A6F248-A038-6B25-D871-292C471AB301}"/>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F720C49A-4213-9A31-6533-705A0EC043B3}"/>
              </a:ext>
            </a:extLst>
          </p:cNvPr>
          <p:cNvSpPr txBox="1"/>
          <p:nvPr/>
        </p:nvSpPr>
        <p:spPr>
          <a:xfrm>
            <a:off x="487752" y="805840"/>
            <a:ext cx="8381928" cy="3664721"/>
          </a:xfrm>
          <a:prstGeom prst="rect">
            <a:avLst/>
          </a:prstGeom>
          <a:noFill/>
        </p:spPr>
        <p:txBody>
          <a:bodyPr wrap="square">
            <a:spAutoFit/>
          </a:bodyPr>
          <a:lstStyle/>
          <a:p>
            <a:pPr algn="just">
              <a:lnSpc>
                <a:spcPct val="150000"/>
              </a:lnSpc>
            </a:pPr>
            <a:r>
              <a:rPr lang="fr-FR" sz="1200" b="1" dirty="0"/>
              <a:t>Hibernate</a:t>
            </a:r>
            <a:r>
              <a:rPr lang="fr-FR" sz="1200" dirty="0"/>
              <a:t> est un Framework open source gérant la persistance des objets en base de données relationnelle. </a:t>
            </a:r>
            <a:br>
              <a:rPr lang="fr-FR" sz="1200" dirty="0"/>
            </a:br>
            <a:r>
              <a:rPr lang="fr-FR" sz="1200" dirty="0"/>
              <a:t>Il gère le Mapping entre les objets de l'application et la base de données.</a:t>
            </a:r>
          </a:p>
          <a:p>
            <a:pPr marL="285750" indent="-285750">
              <a:lnSpc>
                <a:spcPct val="150000"/>
              </a:lnSpc>
              <a:buFont typeface="Arial" panose="020B0604020202020204" pitchFamily="34" charset="0"/>
              <a:buChar char="•"/>
            </a:pPr>
            <a:r>
              <a:rPr lang="fr-FR" sz="1200" dirty="0"/>
              <a:t>Projet maintenu par JBoss, appartenant à </a:t>
            </a:r>
            <a:r>
              <a:rPr lang="fr-FR" sz="1200" dirty="0" err="1"/>
              <a:t>RedHat</a:t>
            </a:r>
            <a:endParaRPr lang="fr-FR" sz="1200" dirty="0"/>
          </a:p>
          <a:p>
            <a:pPr marL="285750" indent="-285750">
              <a:lnSpc>
                <a:spcPct val="150000"/>
              </a:lnSpc>
              <a:buFont typeface="Arial" panose="020B0604020202020204" pitchFamily="34" charset="0"/>
              <a:buChar char="•"/>
            </a:pPr>
            <a:r>
              <a:rPr lang="fr-FR" sz="1200" dirty="0"/>
              <a:t>Génération automatique du code SQL (CRUD)</a:t>
            </a:r>
          </a:p>
          <a:p>
            <a:pPr marL="285750" indent="-285750">
              <a:lnSpc>
                <a:spcPct val="150000"/>
              </a:lnSpc>
              <a:buFont typeface="Arial" panose="020B0604020202020204" pitchFamily="34" charset="0"/>
              <a:buChar char="•"/>
            </a:pPr>
            <a:r>
              <a:rPr lang="fr-FR" sz="1200" dirty="0"/>
              <a:t>Génération automatique des tables à partir des entités Java</a:t>
            </a:r>
          </a:p>
          <a:p>
            <a:pPr>
              <a:lnSpc>
                <a:spcPct val="150000"/>
              </a:lnSpc>
            </a:pPr>
            <a:r>
              <a:rPr lang="fr-FR" sz="1200" b="1" dirty="0"/>
              <a:t>Spring Data </a:t>
            </a:r>
            <a:r>
              <a:rPr lang="fr-FR" sz="1200" dirty="0"/>
              <a:t>est un module Spring (Pivotal) qui a pour but de faciliter l'écriture des couches d'accès aux données et d'offrir une abstraction commune pour l'accès aux données quelle que soit la source (SQL ou NoSQL).</a:t>
            </a:r>
          </a:p>
          <a:p>
            <a:pPr>
              <a:lnSpc>
                <a:spcPct val="150000"/>
              </a:lnSpc>
            </a:pPr>
            <a:r>
              <a:rPr lang="fr-FR" sz="1200" b="1" dirty="0"/>
              <a:t>Spring Data JPA </a:t>
            </a:r>
            <a:r>
              <a:rPr lang="fr-FR" sz="1200" dirty="0"/>
              <a:t>est un sous-projet du projet Spring Data. Il se base sur </a:t>
            </a:r>
            <a:r>
              <a:rPr lang="fr-FR" sz="1200" b="1" dirty="0"/>
              <a:t>Hibernate</a:t>
            </a:r>
            <a:r>
              <a:rPr lang="fr-FR" sz="1200" dirty="0"/>
              <a:t> comme implémentation de la spécification JPA.</a:t>
            </a:r>
          </a:p>
          <a:p>
            <a:pPr>
              <a:lnSpc>
                <a:spcPct val="150000"/>
              </a:lnSpc>
            </a:pPr>
            <a:r>
              <a:rPr lang="fr-FR" sz="1200" dirty="0"/>
              <a:t>=&gt; Plus besoin d'écrire les requêtes SQL basiques + Interfaces prêtes à l'emploi : </a:t>
            </a:r>
            <a:r>
              <a:rPr lang="fr-FR" sz="1200" b="1" dirty="0" err="1"/>
              <a:t>CrudRepository</a:t>
            </a:r>
            <a:r>
              <a:rPr lang="fr-FR" sz="1200" b="1" dirty="0"/>
              <a:t>, </a:t>
            </a:r>
            <a:r>
              <a:rPr lang="fr-FR" sz="1200" b="1" dirty="0" err="1"/>
              <a:t>JpaRepository</a:t>
            </a:r>
            <a:r>
              <a:rPr lang="fr-FR" sz="1200" b="1" dirty="0"/>
              <a:t>, </a:t>
            </a:r>
            <a:r>
              <a:rPr lang="fr-FR" sz="1200" b="1" dirty="0" err="1"/>
              <a:t>PagingAndSortingRepository</a:t>
            </a:r>
            <a:endParaRPr lang="fr-FR" sz="1200" b="1" dirty="0"/>
          </a:p>
          <a:p>
            <a:pPr>
              <a:lnSpc>
                <a:spcPct val="150000"/>
              </a:lnSpc>
            </a:pPr>
            <a:endParaRPr lang="fr-FR" sz="1200" dirty="0"/>
          </a:p>
          <a:p>
            <a:pPr>
              <a:lnSpc>
                <a:spcPct val="150000"/>
              </a:lnSpc>
            </a:pPr>
            <a:endParaRPr lang="fr-FR" sz="1200" dirty="0"/>
          </a:p>
          <a:p>
            <a:pPr algn="just">
              <a:lnSpc>
                <a:spcPct val="150000"/>
              </a:lnSpc>
            </a:pPr>
            <a:endParaRPr lang="fr-FR" sz="1200" dirty="0"/>
          </a:p>
        </p:txBody>
      </p:sp>
      <p:pic>
        <p:nvPicPr>
          <p:cNvPr id="10245" name="Picture 5">
            <a:extLst>
              <a:ext uri="{FF2B5EF4-FFF2-40B4-BE49-F238E27FC236}">
                <a16:creationId xmlns:a16="http://schemas.microsoft.com/office/drawing/2014/main" id="{534F7BD9-84DE-DAAE-0F86-ADCA2AEF19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5040" y="1380078"/>
            <a:ext cx="2286000" cy="634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485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3FF4B48-F30C-63CB-4378-3DF5D49A544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47A7230-DE89-6766-8D98-0A61DB841D4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F072708-8BE5-93AC-2E44-AEF14A68D310}"/>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4EAF2878-64C6-A8C4-DB53-8E079370A11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0A251AF9-6246-9019-5E2D-DC7FD4625AC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355386C-05C3-1629-59F7-42F23A52374E}"/>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4E83E79-1D9A-08CD-59AC-D1310655354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6AFFACA7-83F0-1572-0A61-E7BE14EB71D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Stack de </a:t>
            </a:r>
            <a:r>
              <a:rPr lang="en-GB" b="1" dirty="0" err="1">
                <a:solidFill>
                  <a:srgbClr val="1A1A1A"/>
                </a:solidFill>
                <a:latin typeface="Calibri" pitchFamily="34" charset="0"/>
                <a:ea typeface="Calibri" pitchFamily="34" charset="-122"/>
                <a:cs typeface="Calibri" pitchFamily="34" charset="-120"/>
              </a:rPr>
              <a:t>Persistance</a:t>
            </a:r>
            <a:r>
              <a:rPr lang="en-GB" b="1" dirty="0">
                <a:solidFill>
                  <a:srgbClr val="1A1A1A"/>
                </a:solidFill>
                <a:latin typeface="Calibri" pitchFamily="34" charset="0"/>
                <a:ea typeface="Calibri" pitchFamily="34" charset="-122"/>
                <a:cs typeface="Calibri" pitchFamily="34" charset="-120"/>
              </a:rPr>
              <a:t> – </a:t>
            </a:r>
            <a:r>
              <a:rPr lang="fr-FR" b="1" dirty="0">
                <a:solidFill>
                  <a:srgbClr val="1A1A1A"/>
                </a:solidFill>
                <a:latin typeface="Calibri" pitchFamily="34" charset="0"/>
                <a:ea typeface="Calibri" pitchFamily="34" charset="-122"/>
                <a:cs typeface="Calibri" pitchFamily="34" charset="-120"/>
              </a:rPr>
              <a:t>Vue Complète</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615C559-7215-DA9A-3C9B-13AA705365B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CFF92C02-C0BD-40AA-C612-DF897BA6E39A}"/>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F38AF324-C4EC-7B38-5480-CDBCAECC94F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81DF9722-8939-0C3F-102D-779F4B13252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20</a:t>
            </a:r>
            <a:endParaRPr lang="en-US" sz="900" dirty="0"/>
          </a:p>
        </p:txBody>
      </p:sp>
      <p:pic>
        <p:nvPicPr>
          <p:cNvPr id="18" name="object 2">
            <a:extLst>
              <a:ext uri="{FF2B5EF4-FFF2-40B4-BE49-F238E27FC236}">
                <a16:creationId xmlns:a16="http://schemas.microsoft.com/office/drawing/2014/main" id="{F14B7396-B803-7AC2-E617-A7722D7126D5}"/>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5E26EA59-A398-1F6D-C3A4-20EF958FAD46}"/>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3132F299-4588-2FB1-FF6A-FE9F55DB5C4E}"/>
              </a:ext>
            </a:extLst>
          </p:cNvPr>
          <p:cNvPicPr>
            <a:picLocks noChangeAspect="1"/>
          </p:cNvPicPr>
          <p:nvPr/>
        </p:nvPicPr>
        <p:blipFill>
          <a:blip r:embed="rId6"/>
          <a:stretch>
            <a:fillRect/>
          </a:stretch>
        </p:blipFill>
        <p:spPr>
          <a:xfrm>
            <a:off x="1470403" y="794541"/>
            <a:ext cx="6203193" cy="3573578"/>
          </a:xfrm>
          <a:prstGeom prst="rect">
            <a:avLst/>
          </a:prstGeom>
        </p:spPr>
      </p:pic>
    </p:spTree>
    <p:extLst>
      <p:ext uri="{BB962C8B-B14F-4D97-AF65-F5344CB8AC3E}">
        <p14:creationId xmlns:p14="http://schemas.microsoft.com/office/powerpoint/2010/main" val="2338335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D883F9-A180-88D0-3768-361A739AEF7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7EE0EEA-FEDB-5F6B-546A-570EBD308EC9}"/>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FFD58EAE-320E-9E73-F68D-414235FC1021}"/>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FBC0892-FB6B-F699-FC42-5C710FA5A607}"/>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5223E66-6284-1DF1-4DE0-96540E43AD1F}"/>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9564C28-689B-DFC7-316B-13F4C4EC3C6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416D994-9E08-C722-4D9A-4E2B9BA2F8F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A2991E7-C817-0FFA-0B8B-9FEC989A1625}"/>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Entité</a:t>
            </a:r>
            <a:r>
              <a:rPr lang="en-GB" b="1" dirty="0">
                <a:solidFill>
                  <a:srgbClr val="1A1A1A"/>
                </a:solidFill>
                <a:latin typeface="Calibri" pitchFamily="34" charset="0"/>
                <a:ea typeface="Calibri" pitchFamily="34" charset="-122"/>
                <a:cs typeface="Calibri" pitchFamily="34" charset="-120"/>
              </a:rPr>
              <a:t> JPA &amp; Annotations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9C53C49C-74EC-06B9-8733-1EB036EAA7F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D9AD9CAA-6E79-FF0F-077B-1F7814687BD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48F487B-22F2-4459-72AA-AA19B2478877}"/>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6BAD3E65-96D6-3EEA-E2D3-176C46A1B37A}"/>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21</a:t>
            </a:r>
            <a:endParaRPr lang="en-US" sz="900" dirty="0"/>
          </a:p>
        </p:txBody>
      </p:sp>
      <p:pic>
        <p:nvPicPr>
          <p:cNvPr id="18" name="object 2">
            <a:extLst>
              <a:ext uri="{FF2B5EF4-FFF2-40B4-BE49-F238E27FC236}">
                <a16:creationId xmlns:a16="http://schemas.microsoft.com/office/drawing/2014/main" id="{C41AAE59-9905-84FD-4CE0-3CA2E3FC4965}"/>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81BFE41E-ECCD-0D1E-F11E-C55D905032E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62596A6F-313F-634B-B4BD-F23C52EB94D7}"/>
              </a:ext>
            </a:extLst>
          </p:cNvPr>
          <p:cNvSpPr txBox="1"/>
          <p:nvPr/>
        </p:nvSpPr>
        <p:spPr>
          <a:xfrm>
            <a:off x="625711" y="891540"/>
            <a:ext cx="8262257" cy="4911216"/>
          </a:xfrm>
          <a:prstGeom prst="rect">
            <a:avLst/>
          </a:prstGeom>
          <a:noFill/>
        </p:spPr>
        <p:txBody>
          <a:bodyPr wrap="square">
            <a:spAutoFit/>
          </a:bodyPr>
          <a:lstStyle/>
          <a:p>
            <a:pPr algn="just">
              <a:lnSpc>
                <a:spcPct val="150000"/>
              </a:lnSpc>
            </a:pPr>
            <a:r>
              <a:rPr lang="fr-FR" sz="1200" dirty="0"/>
              <a:t>Une entité est une classe dont les instances peuvent être persistantes. Elle est déclarée avec l'annotation </a:t>
            </a:r>
            <a:r>
              <a:rPr lang="fr-FR" sz="1200" b="1" dirty="0"/>
              <a:t>@Entity </a:t>
            </a:r>
            <a:r>
              <a:rPr lang="fr-FR" sz="1200" dirty="0"/>
              <a:t>et possède au moins une propriété déclarée comme identité avec </a:t>
            </a:r>
            <a:r>
              <a:rPr lang="fr-FR" sz="1200" b="1" dirty="0"/>
              <a:t>@Id</a:t>
            </a:r>
            <a:r>
              <a:rPr lang="fr-FR" sz="1200" dirty="0"/>
              <a:t>.</a:t>
            </a:r>
          </a:p>
          <a:p>
            <a:r>
              <a:rPr lang="fr-FR" sz="1200" b="1" dirty="0"/>
              <a:t>Annotations essentielles :</a:t>
            </a:r>
          </a:p>
          <a:p>
            <a:pPr marL="285750" indent="-285750">
              <a:lnSpc>
                <a:spcPct val="150000"/>
              </a:lnSpc>
              <a:buFont typeface="Arial" panose="020B0604020202020204" pitchFamily="34" charset="0"/>
              <a:buChar char="•"/>
            </a:pPr>
            <a:r>
              <a:rPr lang="fr-FR" sz="1200" b="1" dirty="0"/>
              <a:t>Sur la classe :</a:t>
            </a:r>
          </a:p>
          <a:p>
            <a:pPr>
              <a:lnSpc>
                <a:spcPct val="150000"/>
              </a:lnSpc>
            </a:pPr>
            <a:r>
              <a:rPr lang="fr-FR" sz="1100" dirty="0"/>
              <a:t>@Entity (Obligatoire): Déclare la classe comme persistante et associée à une table</a:t>
            </a:r>
          </a:p>
          <a:p>
            <a:pPr>
              <a:lnSpc>
                <a:spcPct val="150000"/>
              </a:lnSpc>
            </a:pPr>
            <a:r>
              <a:rPr lang="fr-FR" sz="1100" dirty="0"/>
              <a:t>@Table(name="nomTable") (Optionnel): Permet de redéfinir le nom de la table. Si omis, la table prend le nom de la classe</a:t>
            </a:r>
          </a:p>
          <a:p>
            <a:pPr marL="285750" indent="-285750">
              <a:lnSpc>
                <a:spcPct val="150000"/>
              </a:lnSpc>
              <a:buFont typeface="Arial" panose="020B0604020202020204" pitchFamily="34" charset="0"/>
              <a:buChar char="•"/>
            </a:pPr>
            <a:r>
              <a:rPr lang="fr-FR" sz="1200" b="1" dirty="0"/>
              <a:t>Sur les attributs :</a:t>
            </a:r>
          </a:p>
          <a:p>
            <a:pPr>
              <a:lnSpc>
                <a:spcPct val="150000"/>
              </a:lnSpc>
            </a:pPr>
            <a:r>
              <a:rPr lang="fr-FR" sz="1100" dirty="0"/>
              <a:t>@Id (Obligatoire): Déclare la clé primaire</a:t>
            </a:r>
          </a:p>
          <a:p>
            <a:pPr>
              <a:lnSpc>
                <a:spcPct val="150000"/>
              </a:lnSpc>
            </a:pPr>
            <a:r>
              <a:rPr lang="fr-FR" sz="1100" dirty="0"/>
              <a:t>@GeneratedValue(strategy=...) (Optionnel): Définit la stratégie de génération de la clé primaire : </a:t>
            </a:r>
          </a:p>
          <a:p>
            <a:pPr marL="0" lvl="1" indent="-171450">
              <a:lnSpc>
                <a:spcPct val="150000"/>
              </a:lnSpc>
              <a:buFont typeface="Wingdings" panose="05000000000000000000" pitchFamily="2" charset="2"/>
              <a:buChar char="Ø"/>
            </a:pPr>
            <a:r>
              <a:rPr lang="fr-FR" sz="1100" dirty="0"/>
              <a:t>AUTO → géré par Hibernate (séquence globale)</a:t>
            </a:r>
          </a:p>
          <a:p>
            <a:pPr marL="0" lvl="1" indent="-171450">
              <a:lnSpc>
                <a:spcPct val="150000"/>
              </a:lnSpc>
              <a:buFont typeface="Wingdings" panose="05000000000000000000" pitchFamily="2" charset="2"/>
              <a:buChar char="Ø"/>
            </a:pPr>
            <a:r>
              <a:rPr lang="fr-FR" sz="1100" dirty="0"/>
              <a:t>IDENTITY → AUTO_INCREMENT Hibernate s'appuie alors sur le mécanisme propre au SGBD pour la production de l'identifiant. </a:t>
            </a:r>
          </a:p>
          <a:p>
            <a:pPr marL="0" lvl="1" indent="-171450">
              <a:lnSpc>
                <a:spcPct val="150000"/>
              </a:lnSpc>
              <a:buFont typeface="Wingdings" panose="05000000000000000000" pitchFamily="2" charset="2"/>
              <a:buChar char="Ø"/>
            </a:pPr>
            <a:r>
              <a:rPr lang="fr-FR" sz="1100" dirty="0"/>
              <a:t>SEQUENCE → séquence définie manuellement</a:t>
            </a:r>
          </a:p>
          <a:p>
            <a:pPr marL="0" lvl="1" indent="-171450">
              <a:lnSpc>
                <a:spcPct val="150000"/>
              </a:lnSpc>
              <a:buFont typeface="Wingdings" panose="05000000000000000000" pitchFamily="2" charset="2"/>
              <a:buChar char="Ø"/>
            </a:pPr>
            <a:r>
              <a:rPr lang="fr-FR" sz="1100" dirty="0"/>
              <a:t>TABLE → table dédiée aux séquences</a:t>
            </a:r>
          </a:p>
          <a:p>
            <a:pPr>
              <a:lnSpc>
                <a:spcPct val="150000"/>
              </a:lnSpc>
            </a:pPr>
            <a:r>
              <a:rPr lang="fr-FR" sz="1100" dirty="0"/>
              <a:t>@Column(name="...") (Optionnel) Redéfinit le nom de la colonne</a:t>
            </a:r>
          </a:p>
          <a:p>
            <a:pPr>
              <a:lnSpc>
                <a:spcPct val="150000"/>
              </a:lnSpc>
            </a:pPr>
            <a:r>
              <a:rPr lang="fr-FR" sz="1100" dirty="0"/>
              <a:t>@Enumerated(EnumType.STRING) Pour les attributs de type </a:t>
            </a:r>
            <a:r>
              <a:rPr lang="fr-FR" sz="1100" dirty="0" err="1"/>
              <a:t>Enum</a:t>
            </a:r>
            <a:endParaRPr lang="fr-FR" sz="1100" dirty="0"/>
          </a:p>
          <a:p>
            <a:pPr algn="just">
              <a:lnSpc>
                <a:spcPct val="150000"/>
              </a:lnSpc>
            </a:pPr>
            <a:endParaRPr lang="fr-FR" sz="1200" dirty="0"/>
          </a:p>
          <a:p>
            <a:pPr>
              <a:lnSpc>
                <a:spcPct val="150000"/>
              </a:lnSpc>
            </a:pPr>
            <a:endParaRPr lang="fr-FR" sz="1200" dirty="0"/>
          </a:p>
          <a:p>
            <a:pPr algn="just">
              <a:lnSpc>
                <a:spcPct val="150000"/>
              </a:lnSpc>
            </a:pPr>
            <a:endParaRPr lang="fr-FR" sz="1200" dirty="0"/>
          </a:p>
        </p:txBody>
      </p:sp>
    </p:spTree>
    <p:extLst>
      <p:ext uri="{BB962C8B-B14F-4D97-AF65-F5344CB8AC3E}">
        <p14:creationId xmlns:p14="http://schemas.microsoft.com/office/powerpoint/2010/main" val="2427943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8A7F1FA-E45A-91CB-42D5-0AE138ED3E3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A2C5A1B-1F73-0064-21B1-A983D94F962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BAF6D99-574D-6970-F9D9-CC8A8A2A4519}"/>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C17787A5-7EA7-9165-8007-94DE2089F3D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FC0A8C10-3AC2-8389-356D-6081D9499DE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414DCE06-100F-EBC7-A84D-B592F656AE9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57900211-75EF-C02E-FD0E-738F9F92CE0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F955CED1-D7E6-9D8B-B08B-5B2AC581EDC8}"/>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Entité</a:t>
            </a:r>
            <a:r>
              <a:rPr lang="en-GB" b="1" dirty="0">
                <a:solidFill>
                  <a:srgbClr val="1A1A1A"/>
                </a:solidFill>
                <a:latin typeface="Calibri" pitchFamily="34" charset="0"/>
                <a:ea typeface="Calibri" pitchFamily="34" charset="-122"/>
                <a:cs typeface="Calibri" pitchFamily="34" charset="-120"/>
              </a:rPr>
              <a:t> JPA &amp; Annotations - </a:t>
            </a:r>
            <a:r>
              <a:rPr lang="en-GB" b="1" dirty="0" err="1">
                <a:solidFill>
                  <a:srgbClr val="1A1A1A"/>
                </a:solidFill>
                <a:latin typeface="Calibri" pitchFamily="34" charset="0"/>
                <a:ea typeface="Calibri" pitchFamily="34" charset="-122"/>
                <a:cs typeface="Calibri" pitchFamily="34" charset="-120"/>
              </a:rPr>
              <a:t>Exemple</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D0A2303F-1681-CCB4-35E0-27BDB32F3C6B}"/>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2FD473F5-0F96-C0CB-A5BC-AF2D2A154ED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E8FC969F-18AD-D68F-64CA-92B28E20B2FD}"/>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4C6A3F19-BB4D-B36F-CE44-DA92B98B673D}"/>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22</a:t>
            </a:r>
            <a:endParaRPr lang="en-US" sz="900" dirty="0"/>
          </a:p>
        </p:txBody>
      </p:sp>
      <p:pic>
        <p:nvPicPr>
          <p:cNvPr id="18" name="object 2">
            <a:extLst>
              <a:ext uri="{FF2B5EF4-FFF2-40B4-BE49-F238E27FC236}">
                <a16:creationId xmlns:a16="http://schemas.microsoft.com/office/drawing/2014/main" id="{F542FDF9-24D8-E7C9-600C-53D0498A3168}"/>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DDF7009F-9055-16F7-77D6-C1A4DA820A55}"/>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436E1EC2-4354-3250-57A5-4A264114CDE8}"/>
              </a:ext>
            </a:extLst>
          </p:cNvPr>
          <p:cNvPicPr>
            <a:picLocks noChangeAspect="1"/>
          </p:cNvPicPr>
          <p:nvPr/>
        </p:nvPicPr>
        <p:blipFill>
          <a:blip r:embed="rId6"/>
          <a:srcRect b="14242"/>
          <a:stretch>
            <a:fillRect/>
          </a:stretch>
        </p:blipFill>
        <p:spPr>
          <a:xfrm>
            <a:off x="1397726" y="925014"/>
            <a:ext cx="6420394" cy="3441246"/>
          </a:xfrm>
          <a:prstGeom prst="rect">
            <a:avLst/>
          </a:prstGeom>
        </p:spPr>
      </p:pic>
    </p:spTree>
    <p:extLst>
      <p:ext uri="{BB962C8B-B14F-4D97-AF65-F5344CB8AC3E}">
        <p14:creationId xmlns:p14="http://schemas.microsoft.com/office/powerpoint/2010/main" val="248904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2984F42-DD94-E3E3-0A78-8A582E11C80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0DD24A2-65F6-7C9B-C76F-4700DB4BE9F9}"/>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F36EE09B-AA21-498D-0997-2E14A4D1AAA2}"/>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FBE7D61-9DCC-A193-B015-3BBBA99E84D5}"/>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D01286A9-2B3B-1DDB-4F79-1C67B9F746E4}"/>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6F688944-E9C6-6C73-8E3F-D64FAE0C2160}"/>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CDF5D85-CFBD-AEB0-6C8F-2F3F05AB622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417C439F-0F2B-BD6F-D3AE-7EB2DB0220F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Lombok avec Spring Boot + </a:t>
            </a:r>
            <a:r>
              <a:rPr lang="en-GB" b="1" dirty="0" err="1">
                <a:solidFill>
                  <a:srgbClr val="1A1A1A"/>
                </a:solidFill>
                <a:latin typeface="Calibri" pitchFamily="34" charset="0"/>
                <a:ea typeface="Calibri" pitchFamily="34" charset="-122"/>
                <a:cs typeface="Calibri" pitchFamily="34" charset="-120"/>
              </a:rPr>
              <a:t>Comparaison</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C4211B33-8AFD-B98B-4002-93AD274EF2E9}"/>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8F11DBC-B5CE-7238-BE76-9B66E4A831C0}"/>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79EA8EA8-84CE-F316-D508-C44CB47906F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CA3F515C-105B-22FC-01CC-2837495F4936}"/>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23</a:t>
            </a:r>
            <a:endParaRPr lang="en-US" sz="900" dirty="0"/>
          </a:p>
        </p:txBody>
      </p:sp>
      <p:pic>
        <p:nvPicPr>
          <p:cNvPr id="18" name="object 2">
            <a:extLst>
              <a:ext uri="{FF2B5EF4-FFF2-40B4-BE49-F238E27FC236}">
                <a16:creationId xmlns:a16="http://schemas.microsoft.com/office/drawing/2014/main" id="{63FFDB3E-3D98-850D-DB66-3F7CEFF6F92B}"/>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586D8732-AF36-B6FC-52D9-E8F80658CA0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64E054DB-917D-62A1-1AD0-1D66CD807F71}"/>
              </a:ext>
            </a:extLst>
          </p:cNvPr>
          <p:cNvSpPr txBox="1"/>
          <p:nvPr/>
        </p:nvSpPr>
        <p:spPr>
          <a:xfrm>
            <a:off x="185293" y="706020"/>
            <a:ext cx="8773414" cy="1351588"/>
          </a:xfrm>
          <a:prstGeom prst="rect">
            <a:avLst/>
          </a:prstGeom>
          <a:noFill/>
        </p:spPr>
        <p:txBody>
          <a:bodyPr wrap="square">
            <a:spAutoFit/>
          </a:bodyPr>
          <a:lstStyle/>
          <a:p>
            <a:pPr algn="just">
              <a:lnSpc>
                <a:spcPct val="150000"/>
              </a:lnSpc>
            </a:pPr>
            <a:r>
              <a:rPr lang="fr-FR" sz="1400" dirty="0"/>
              <a:t>Le projet Lombok est une bibliothèque Java qui génère du code en respectant de nombreuses bonnes pratiques. Elle remplace le code répétitif par des annotations faciles à utiliser, ce qu'on appelle du </a:t>
            </a:r>
            <a:r>
              <a:rPr lang="fr-FR" sz="1400" b="1" dirty="0" err="1"/>
              <a:t>boilerplate</a:t>
            </a:r>
            <a:r>
              <a:rPr lang="fr-FR" sz="1400" dirty="0"/>
              <a:t>.</a:t>
            </a:r>
          </a:p>
          <a:p>
            <a:pPr>
              <a:lnSpc>
                <a:spcPct val="150000"/>
              </a:lnSpc>
            </a:pPr>
            <a:endParaRPr lang="fr-FR" sz="1400" dirty="0"/>
          </a:p>
          <a:p>
            <a:pPr algn="just">
              <a:lnSpc>
                <a:spcPct val="150000"/>
              </a:lnSpc>
            </a:pPr>
            <a:endParaRPr lang="fr-FR" sz="1400" dirty="0"/>
          </a:p>
        </p:txBody>
      </p:sp>
      <p:sp>
        <p:nvSpPr>
          <p:cNvPr id="19" name="TextBox 18">
            <a:extLst>
              <a:ext uri="{FF2B5EF4-FFF2-40B4-BE49-F238E27FC236}">
                <a16:creationId xmlns:a16="http://schemas.microsoft.com/office/drawing/2014/main" id="{5B92BE03-833C-E5C9-150D-48EC142AC623}"/>
              </a:ext>
            </a:extLst>
          </p:cNvPr>
          <p:cNvSpPr txBox="1"/>
          <p:nvPr/>
        </p:nvSpPr>
        <p:spPr>
          <a:xfrm>
            <a:off x="185293" y="4403770"/>
            <a:ext cx="8773414" cy="320024"/>
          </a:xfrm>
          <a:prstGeom prst="rect">
            <a:avLst/>
          </a:prstGeom>
          <a:noFill/>
        </p:spPr>
        <p:txBody>
          <a:bodyPr wrap="square">
            <a:spAutoFit/>
          </a:bodyPr>
          <a:lstStyle/>
          <a:p>
            <a:pPr algn="ctr">
              <a:lnSpc>
                <a:spcPct val="150000"/>
              </a:lnSpc>
            </a:pPr>
            <a:r>
              <a:rPr lang="fr-FR" sz="1100" b="1" dirty="0"/>
              <a:t>L’entité Livreur sans l’utilisation du Lombok</a:t>
            </a:r>
          </a:p>
        </p:txBody>
      </p:sp>
      <p:pic>
        <p:nvPicPr>
          <p:cNvPr id="15" name="Picture 14">
            <a:extLst>
              <a:ext uri="{FF2B5EF4-FFF2-40B4-BE49-F238E27FC236}">
                <a16:creationId xmlns:a16="http://schemas.microsoft.com/office/drawing/2014/main" id="{8B99E473-45C9-E368-8119-787B1069BFBA}"/>
              </a:ext>
            </a:extLst>
          </p:cNvPr>
          <p:cNvPicPr>
            <a:picLocks noChangeAspect="1"/>
          </p:cNvPicPr>
          <p:nvPr/>
        </p:nvPicPr>
        <p:blipFill>
          <a:blip r:embed="rId6"/>
          <a:stretch>
            <a:fillRect/>
          </a:stretch>
        </p:blipFill>
        <p:spPr>
          <a:xfrm>
            <a:off x="692332" y="1600078"/>
            <a:ext cx="3449162" cy="274462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21" name="Picture 20">
            <a:extLst>
              <a:ext uri="{FF2B5EF4-FFF2-40B4-BE49-F238E27FC236}">
                <a16:creationId xmlns:a16="http://schemas.microsoft.com/office/drawing/2014/main" id="{34B97346-B443-655A-5599-B60A8E8C6D3A}"/>
              </a:ext>
            </a:extLst>
          </p:cNvPr>
          <p:cNvPicPr>
            <a:picLocks noChangeAspect="1"/>
          </p:cNvPicPr>
          <p:nvPr/>
        </p:nvPicPr>
        <p:blipFill>
          <a:blip r:embed="rId7"/>
          <a:stretch>
            <a:fillRect/>
          </a:stretch>
        </p:blipFill>
        <p:spPr>
          <a:xfrm>
            <a:off x="4570179" y="1909480"/>
            <a:ext cx="4162341" cy="200394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41285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45B2E2-63B5-0361-E3CB-F87C2FACFF8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85CAC2B-DAA0-F6EF-EEE9-FA3E569F891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41DAE35-ECF1-4D11-0A17-38CCB54623B3}"/>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02DDEA8-74DE-A00A-9B76-002C56D609BB}"/>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045C40BD-BF08-3251-618A-83DBE84D8A90}"/>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6E76727D-5758-B246-81DA-C22F8730852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B2F5D21B-4B62-8C21-8BA6-800D0DE7844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6ED50F1-4316-CCA3-0EBD-04AB8B247687}"/>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Lombok avec Spring Boot</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2498E30E-E28A-D209-DEE3-401BA824DC72}"/>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E3D1494-7F65-F9D8-2ECF-133553A8666E}"/>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6016CC0-AE36-3930-9D31-38E0178B8E23}"/>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56E98C86-CB6F-D7AF-4A9E-70132BD9252A}"/>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24</a:t>
            </a:r>
            <a:endParaRPr lang="en-US" sz="900" dirty="0"/>
          </a:p>
        </p:txBody>
      </p:sp>
      <p:pic>
        <p:nvPicPr>
          <p:cNvPr id="18" name="object 2">
            <a:extLst>
              <a:ext uri="{FF2B5EF4-FFF2-40B4-BE49-F238E27FC236}">
                <a16:creationId xmlns:a16="http://schemas.microsoft.com/office/drawing/2014/main" id="{ECBDD94D-6439-0708-7251-7FDF01B33CB6}"/>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6F1B71B6-5C98-2723-4123-96CA2743675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002EF8FF-2B5D-4D1A-D0F6-F7BB461E6D80}"/>
              </a:ext>
            </a:extLst>
          </p:cNvPr>
          <p:cNvSpPr txBox="1"/>
          <p:nvPr/>
        </p:nvSpPr>
        <p:spPr>
          <a:xfrm>
            <a:off x="185293" y="706020"/>
            <a:ext cx="8773414" cy="1351588"/>
          </a:xfrm>
          <a:prstGeom prst="rect">
            <a:avLst/>
          </a:prstGeom>
          <a:noFill/>
        </p:spPr>
        <p:txBody>
          <a:bodyPr wrap="square">
            <a:spAutoFit/>
          </a:bodyPr>
          <a:lstStyle/>
          <a:p>
            <a:pPr algn="just">
              <a:lnSpc>
                <a:spcPct val="150000"/>
              </a:lnSpc>
            </a:pPr>
            <a:r>
              <a:rPr lang="fr-FR" sz="1400" dirty="0"/>
              <a:t>Le projet Lombok est une bibliothèque Java qui génère du code en respectant de nombreuses bonnes pratiques. Elle remplace le code répétitif par des annotations faciles à utiliser, ce qu'on appelle du </a:t>
            </a:r>
            <a:r>
              <a:rPr lang="fr-FR" sz="1400" b="1" dirty="0" err="1"/>
              <a:t>boilerplate</a:t>
            </a:r>
            <a:r>
              <a:rPr lang="fr-FR" sz="1400" dirty="0"/>
              <a:t>.</a:t>
            </a:r>
          </a:p>
          <a:p>
            <a:pPr>
              <a:lnSpc>
                <a:spcPct val="150000"/>
              </a:lnSpc>
            </a:pPr>
            <a:endParaRPr lang="fr-FR" sz="1400" dirty="0"/>
          </a:p>
          <a:p>
            <a:pPr algn="just">
              <a:lnSpc>
                <a:spcPct val="150000"/>
              </a:lnSpc>
            </a:pPr>
            <a:endParaRPr lang="fr-FR" sz="1400" dirty="0"/>
          </a:p>
        </p:txBody>
      </p:sp>
      <p:sp>
        <p:nvSpPr>
          <p:cNvPr id="19" name="TextBox 18">
            <a:extLst>
              <a:ext uri="{FF2B5EF4-FFF2-40B4-BE49-F238E27FC236}">
                <a16:creationId xmlns:a16="http://schemas.microsoft.com/office/drawing/2014/main" id="{7D39E81B-5BB2-8F30-9B82-4C422D8379FA}"/>
              </a:ext>
            </a:extLst>
          </p:cNvPr>
          <p:cNvSpPr txBox="1"/>
          <p:nvPr/>
        </p:nvSpPr>
        <p:spPr>
          <a:xfrm>
            <a:off x="185293" y="4403770"/>
            <a:ext cx="8773414" cy="320024"/>
          </a:xfrm>
          <a:prstGeom prst="rect">
            <a:avLst/>
          </a:prstGeom>
          <a:noFill/>
        </p:spPr>
        <p:txBody>
          <a:bodyPr wrap="square">
            <a:spAutoFit/>
          </a:bodyPr>
          <a:lstStyle/>
          <a:p>
            <a:pPr algn="ctr">
              <a:lnSpc>
                <a:spcPct val="150000"/>
              </a:lnSpc>
            </a:pPr>
            <a:r>
              <a:rPr lang="fr-FR" sz="1100" b="1" dirty="0"/>
              <a:t>L’entité </a:t>
            </a:r>
            <a:r>
              <a:rPr lang="fr-FR" sz="1100" b="1" dirty="0" err="1"/>
              <a:t>ProjetDetaille</a:t>
            </a:r>
            <a:r>
              <a:rPr lang="fr-FR" sz="1100" b="1" dirty="0"/>
              <a:t> avec l’utilisation du Lombok</a:t>
            </a:r>
          </a:p>
        </p:txBody>
      </p:sp>
      <p:pic>
        <p:nvPicPr>
          <p:cNvPr id="14" name="Picture 13">
            <a:extLst>
              <a:ext uri="{FF2B5EF4-FFF2-40B4-BE49-F238E27FC236}">
                <a16:creationId xmlns:a16="http://schemas.microsoft.com/office/drawing/2014/main" id="{EB47D119-4023-41C5-282A-937F8688D41A}"/>
              </a:ext>
            </a:extLst>
          </p:cNvPr>
          <p:cNvPicPr>
            <a:picLocks noChangeAspect="1"/>
          </p:cNvPicPr>
          <p:nvPr/>
        </p:nvPicPr>
        <p:blipFill>
          <a:blip r:embed="rId6"/>
          <a:stretch>
            <a:fillRect/>
          </a:stretch>
        </p:blipFill>
        <p:spPr>
          <a:xfrm>
            <a:off x="2599986" y="1653118"/>
            <a:ext cx="3944027" cy="247633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75306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925F05-EB2B-794E-C1D4-8E9515D3F43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047D5AA-0678-D791-AD4F-D6A8F841597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A4F01C6-982E-7055-1EFF-24D45D92CC3A}"/>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81C7CE8C-3BE5-E5B9-4999-6ED7D8E3F086}"/>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2786E93D-1433-AF8E-0EF9-810BBBE14899}"/>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6FFB438D-0D55-7DED-97EB-7242E676D6A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0843617-1166-D7C2-059B-6F7C68976BFC}"/>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64EE4C39-8041-2D67-9794-4E0FCAEF04EF}"/>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Configuration - </a:t>
            </a:r>
            <a:r>
              <a:rPr lang="en-GB" b="1" dirty="0" err="1">
                <a:solidFill>
                  <a:srgbClr val="1A1A1A"/>
                </a:solidFill>
                <a:latin typeface="Calibri" pitchFamily="34" charset="0"/>
                <a:ea typeface="Calibri" pitchFamily="34" charset="-122"/>
                <a:cs typeface="Calibri" pitchFamily="34" charset="-120"/>
              </a:rPr>
              <a:t>application.properties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7EB6604-7EF3-D049-A443-C42DDD98D2F4}"/>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F1FF9308-E01A-F4C0-0256-FAE68AE8B84C}"/>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032F6F69-B37F-49BC-BD18-DABD52763B8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75F747E9-6F40-53D2-B998-63B5FE321C9A}"/>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25</a:t>
            </a:r>
            <a:endParaRPr lang="en-US" sz="900" dirty="0"/>
          </a:p>
        </p:txBody>
      </p:sp>
      <p:pic>
        <p:nvPicPr>
          <p:cNvPr id="18" name="object 2">
            <a:extLst>
              <a:ext uri="{FF2B5EF4-FFF2-40B4-BE49-F238E27FC236}">
                <a16:creationId xmlns:a16="http://schemas.microsoft.com/office/drawing/2014/main" id="{B9DC23D9-5E3C-F49F-540D-7BF77340FCE1}"/>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C14F9AAD-0F2A-0EB6-45D2-519F42A82D0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05DE3825-18B5-9D0B-76F0-0281487B4351}"/>
              </a:ext>
            </a:extLst>
          </p:cNvPr>
          <p:cNvSpPr txBox="1"/>
          <p:nvPr/>
        </p:nvSpPr>
        <p:spPr>
          <a:xfrm>
            <a:off x="185293" y="706020"/>
            <a:ext cx="8773414" cy="1028423"/>
          </a:xfrm>
          <a:prstGeom prst="rect">
            <a:avLst/>
          </a:prstGeom>
          <a:noFill/>
        </p:spPr>
        <p:txBody>
          <a:bodyPr wrap="square">
            <a:spAutoFit/>
          </a:bodyPr>
          <a:lstStyle/>
          <a:p>
            <a:pPr algn="just">
              <a:lnSpc>
                <a:spcPct val="150000"/>
              </a:lnSpc>
            </a:pPr>
            <a:r>
              <a:rPr lang="fr-FR" sz="1400" dirty="0"/>
              <a:t>Spring Boot centralise toute la configuration dans un seul fichier </a:t>
            </a:r>
            <a:r>
              <a:rPr lang="fr-FR" sz="1400" dirty="0" err="1"/>
              <a:t>application.properties</a:t>
            </a:r>
            <a:r>
              <a:rPr lang="fr-FR" sz="1400" dirty="0"/>
              <a:t>. Pour connecter notre application </a:t>
            </a:r>
            <a:r>
              <a:rPr lang="fr-FR" sz="1400" dirty="0" err="1"/>
              <a:t>AutoLoc</a:t>
            </a:r>
            <a:r>
              <a:rPr lang="fr-FR" sz="1400" dirty="0"/>
              <a:t> à MySQL, voici les propriétés essentielles.</a:t>
            </a:r>
          </a:p>
          <a:p>
            <a:pPr algn="just">
              <a:lnSpc>
                <a:spcPct val="150000"/>
              </a:lnSpc>
            </a:pPr>
            <a:endParaRPr lang="fr-FR" sz="1400" dirty="0"/>
          </a:p>
        </p:txBody>
      </p:sp>
      <p:pic>
        <p:nvPicPr>
          <p:cNvPr id="19" name="Picture 18">
            <a:extLst>
              <a:ext uri="{FF2B5EF4-FFF2-40B4-BE49-F238E27FC236}">
                <a16:creationId xmlns:a16="http://schemas.microsoft.com/office/drawing/2014/main" id="{042A4226-E6B8-4502-7551-B84F2CD6B3A9}"/>
              </a:ext>
            </a:extLst>
          </p:cNvPr>
          <p:cNvPicPr>
            <a:picLocks noChangeAspect="1"/>
          </p:cNvPicPr>
          <p:nvPr/>
        </p:nvPicPr>
        <p:blipFill>
          <a:blip r:embed="rId6"/>
          <a:stretch>
            <a:fillRect/>
          </a:stretch>
        </p:blipFill>
        <p:spPr>
          <a:xfrm>
            <a:off x="1697766" y="1752228"/>
            <a:ext cx="5748467" cy="2550072"/>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87090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99697FD-ACAC-4944-0102-31135651B26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032B376-9C13-DDEF-E708-6AD68B502ED2}"/>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B36C3330-4BB4-68EA-86DD-7246C58A05B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584C4A87-DEEB-05B1-BEAA-70685BA8D4E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DA757057-5B54-B599-B580-BE317838E248}"/>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5EC7F153-BA4A-7F11-1C0B-B4DE2D70ACAB}"/>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BA641427-A5D9-860A-4655-14325F913FE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1EADE48-AD78-F014-5FB4-E6A15DCB63BF}"/>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TP – Etude de </a:t>
            </a:r>
            <a:r>
              <a:rPr lang="en-GB" b="1" dirty="0" err="1">
                <a:solidFill>
                  <a:srgbClr val="1A1A1A"/>
                </a:solidFill>
                <a:latin typeface="Calibri" pitchFamily="34" charset="0"/>
                <a:ea typeface="Calibri" pitchFamily="34" charset="-122"/>
                <a:cs typeface="Calibri" pitchFamily="34" charset="-120"/>
              </a:rPr>
              <a:t>cas</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AutoLoc</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BE4CC4B-252F-BD52-8403-66C03D9167D3}"/>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856827C1-A258-D83E-6D22-E98348C73F61}"/>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118C02CE-2EC0-F9DF-75FB-932CA484346B}"/>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D38C3463-2196-C11F-DE86-A41E06B22D81}"/>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26</a:t>
            </a:r>
            <a:endParaRPr lang="en-US" sz="900" dirty="0"/>
          </a:p>
        </p:txBody>
      </p:sp>
      <p:pic>
        <p:nvPicPr>
          <p:cNvPr id="18" name="object 2">
            <a:extLst>
              <a:ext uri="{FF2B5EF4-FFF2-40B4-BE49-F238E27FC236}">
                <a16:creationId xmlns:a16="http://schemas.microsoft.com/office/drawing/2014/main" id="{4E37A31D-6509-0CEF-05A2-A2081FC39A54}"/>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8E3DF0D0-5475-2532-0136-0DD32AE7A8B0}"/>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25" name="TextBox 24">
            <a:extLst>
              <a:ext uri="{FF2B5EF4-FFF2-40B4-BE49-F238E27FC236}">
                <a16:creationId xmlns:a16="http://schemas.microsoft.com/office/drawing/2014/main" id="{8FEA05A4-8EA5-BC66-31A8-B7A36CB2C755}"/>
              </a:ext>
            </a:extLst>
          </p:cNvPr>
          <p:cNvSpPr txBox="1"/>
          <p:nvPr/>
        </p:nvSpPr>
        <p:spPr>
          <a:xfrm>
            <a:off x="185293" y="706020"/>
            <a:ext cx="8773414" cy="705258"/>
          </a:xfrm>
          <a:prstGeom prst="rect">
            <a:avLst/>
          </a:prstGeom>
          <a:noFill/>
        </p:spPr>
        <p:txBody>
          <a:bodyPr wrap="square">
            <a:spAutoFit/>
          </a:bodyPr>
          <a:lstStyle/>
          <a:p>
            <a:pPr algn="just">
              <a:lnSpc>
                <a:spcPct val="150000"/>
              </a:lnSpc>
            </a:pPr>
            <a:r>
              <a:rPr lang="fr-FR" sz="1400" dirty="0"/>
              <a:t>Dans ce TP, nous allons créer notre première entité JPA dans le projet </a:t>
            </a:r>
            <a:r>
              <a:rPr lang="en-GB" sz="1400" b="1" dirty="0" err="1">
                <a:solidFill>
                  <a:srgbClr val="1A1A1A"/>
                </a:solidFill>
                <a:latin typeface="Calibri" pitchFamily="34" charset="0"/>
                <a:ea typeface="Calibri" pitchFamily="34" charset="-122"/>
                <a:cs typeface="Calibri" pitchFamily="34" charset="-120"/>
              </a:rPr>
              <a:t>AutoLoc</a:t>
            </a:r>
            <a:r>
              <a:rPr lang="fr-FR" sz="1400" dirty="0"/>
              <a:t>. Nous allons implémenter l'entité Paiement avec l'</a:t>
            </a:r>
            <a:r>
              <a:rPr lang="fr-FR" sz="1400" dirty="0" err="1"/>
              <a:t>enum</a:t>
            </a:r>
            <a:r>
              <a:rPr lang="fr-FR" sz="1400" dirty="0"/>
              <a:t> </a:t>
            </a:r>
            <a:r>
              <a:rPr lang="fr-FR" sz="1400" dirty="0" err="1"/>
              <a:t>ModePaiement</a:t>
            </a:r>
            <a:r>
              <a:rPr lang="fr-FR" sz="1400" dirty="0"/>
              <a:t> et vérifier la création automatique de la table en base de données.</a:t>
            </a:r>
          </a:p>
        </p:txBody>
      </p:sp>
      <p:pic>
        <p:nvPicPr>
          <p:cNvPr id="14" name="Picture 13">
            <a:extLst>
              <a:ext uri="{FF2B5EF4-FFF2-40B4-BE49-F238E27FC236}">
                <a16:creationId xmlns:a16="http://schemas.microsoft.com/office/drawing/2014/main" id="{307FD84A-3598-C79C-7546-CED3C81757CA}"/>
              </a:ext>
            </a:extLst>
          </p:cNvPr>
          <p:cNvPicPr>
            <a:picLocks noChangeAspect="1"/>
          </p:cNvPicPr>
          <p:nvPr/>
        </p:nvPicPr>
        <p:blipFill>
          <a:blip r:embed="rId6"/>
          <a:stretch>
            <a:fillRect/>
          </a:stretch>
        </p:blipFill>
        <p:spPr>
          <a:xfrm>
            <a:off x="2621834" y="1411278"/>
            <a:ext cx="3900331" cy="3497579"/>
          </a:xfrm>
          <a:prstGeom prst="rect">
            <a:avLst/>
          </a:prstGeom>
        </p:spPr>
      </p:pic>
    </p:spTree>
    <p:extLst>
      <p:ext uri="{BB962C8B-B14F-4D97-AF65-F5344CB8AC3E}">
        <p14:creationId xmlns:p14="http://schemas.microsoft.com/office/powerpoint/2010/main" val="3544337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2D98758-B782-A381-CEC8-BBEB429C409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B39BAF3-5D85-142F-A94A-FD6B7C40418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8FAFFEC-6B50-3F8C-6F94-F3071D26DECA}"/>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276F357-5256-4CC1-D6CF-C39D3F1342BC}"/>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2E7D8612-6A3F-A31B-7631-B6AF5B777D99}"/>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4E2ED16-AB86-2508-EE33-8058A06C523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BBD8F4B6-99FF-9A0A-50AB-494A475F86A8}"/>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0B0EB806-97A7-6362-761F-6E671CDE513F}"/>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TP – Etude de </a:t>
            </a:r>
            <a:r>
              <a:rPr lang="en-GB" b="1" dirty="0" err="1">
                <a:solidFill>
                  <a:srgbClr val="1A1A1A"/>
                </a:solidFill>
                <a:latin typeface="Calibri" pitchFamily="34" charset="0"/>
                <a:ea typeface="Calibri" pitchFamily="34" charset="-122"/>
                <a:cs typeface="Calibri" pitchFamily="34" charset="-120"/>
              </a:rPr>
              <a:t>cas</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AutoLoc</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Résultat</a:t>
            </a:r>
            <a:r>
              <a:rPr lang="en-GB" b="1" dirty="0">
                <a:solidFill>
                  <a:srgbClr val="1A1A1A"/>
                </a:solidFill>
                <a:latin typeface="Calibri" pitchFamily="34" charset="0"/>
                <a:ea typeface="Calibri" pitchFamily="34" charset="-122"/>
                <a:cs typeface="Calibri" pitchFamily="34" charset="-120"/>
              </a:rPr>
              <a:t> </a:t>
            </a:r>
            <a:r>
              <a:rPr lang="en-GB" b="1" dirty="0" err="1">
                <a:solidFill>
                  <a:srgbClr val="1A1A1A"/>
                </a:solidFill>
                <a:latin typeface="Calibri" pitchFamily="34" charset="0"/>
                <a:ea typeface="Calibri" pitchFamily="34" charset="-122"/>
                <a:cs typeface="Calibri" pitchFamily="34" charset="-120"/>
              </a:rPr>
              <a:t>attendu</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2E9FCE9-BE6F-E107-F6D6-8D04D710CBF3}"/>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88F209BE-EBA8-7592-B35C-0C66CD450069}"/>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58F9E1CB-C2C4-20C5-BB11-E9C78923DA00}"/>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641EAAD0-29EE-DFCF-E640-B64DBD7CDD1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27</a:t>
            </a:r>
            <a:endParaRPr lang="en-US" sz="900" dirty="0"/>
          </a:p>
        </p:txBody>
      </p:sp>
      <p:pic>
        <p:nvPicPr>
          <p:cNvPr id="18" name="object 2">
            <a:extLst>
              <a:ext uri="{FF2B5EF4-FFF2-40B4-BE49-F238E27FC236}">
                <a16:creationId xmlns:a16="http://schemas.microsoft.com/office/drawing/2014/main" id="{17DE3633-D11A-FFA1-A9DC-1E0996771397}"/>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0513E320-F66E-DA12-E2A8-56DAF7E89EFB}"/>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20" name="Picture 19">
            <a:extLst>
              <a:ext uri="{FF2B5EF4-FFF2-40B4-BE49-F238E27FC236}">
                <a16:creationId xmlns:a16="http://schemas.microsoft.com/office/drawing/2014/main" id="{D8E1E5D1-BF3C-9F46-447B-D30EDEFE1FB1}"/>
              </a:ext>
            </a:extLst>
          </p:cNvPr>
          <p:cNvPicPr>
            <a:picLocks noChangeAspect="1"/>
          </p:cNvPicPr>
          <p:nvPr/>
        </p:nvPicPr>
        <p:blipFill>
          <a:blip r:embed="rId6"/>
          <a:stretch>
            <a:fillRect/>
          </a:stretch>
        </p:blipFill>
        <p:spPr>
          <a:xfrm>
            <a:off x="507046" y="1025819"/>
            <a:ext cx="8129907" cy="3134701"/>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31186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2520C2C-A111-EFCB-DE81-348B2626BBC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8111E02-495F-FF06-F4D0-88D10E70980C}"/>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98A390B-4617-C9AB-FE05-7F94CD01D5B1}"/>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158F42A5-806B-555A-43CB-01CF8A4E6508}"/>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B3154A60-1440-5BCC-EAD6-6E1CF606F151}"/>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2FF59E6-3B93-8549-DBCA-DD7E73D7F2C6}"/>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F5E9C4F-0969-CAED-0C98-72E69673DE2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8E2EA34A-BE81-805B-AF26-AFB56B3A683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TP – Etude de </a:t>
            </a:r>
            <a:r>
              <a:rPr lang="en-GB" b="1" dirty="0" err="1">
                <a:solidFill>
                  <a:srgbClr val="1A1A1A"/>
                </a:solidFill>
                <a:latin typeface="Calibri" pitchFamily="34" charset="0"/>
                <a:ea typeface="Calibri" pitchFamily="34" charset="-122"/>
                <a:cs typeface="Calibri" pitchFamily="34" charset="-120"/>
              </a:rPr>
              <a:t>cas</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AutoLoc</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Résultat</a:t>
            </a:r>
            <a:r>
              <a:rPr lang="en-GB" b="1" dirty="0">
                <a:solidFill>
                  <a:srgbClr val="1A1A1A"/>
                </a:solidFill>
                <a:latin typeface="Calibri" pitchFamily="34" charset="0"/>
                <a:ea typeface="Calibri" pitchFamily="34" charset="-122"/>
                <a:cs typeface="Calibri" pitchFamily="34" charset="-120"/>
              </a:rPr>
              <a:t> </a:t>
            </a:r>
            <a:r>
              <a:rPr lang="en-GB" b="1" dirty="0" err="1">
                <a:solidFill>
                  <a:srgbClr val="1A1A1A"/>
                </a:solidFill>
                <a:latin typeface="Calibri" pitchFamily="34" charset="0"/>
                <a:ea typeface="Calibri" pitchFamily="34" charset="-122"/>
                <a:cs typeface="Calibri" pitchFamily="34" charset="-120"/>
              </a:rPr>
              <a:t>attendu</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F41F5ED3-B051-9B68-1EB3-8C47C96E8232}"/>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C7EE20F4-BBCD-72C7-E44F-A8DCB9435BE9}"/>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193C0534-C6F6-F56E-352E-32342C8524AA}"/>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69B06EDD-3472-5391-B3D3-DF44FD76C798}"/>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28</a:t>
            </a:r>
            <a:endParaRPr lang="en-US" sz="900" dirty="0"/>
          </a:p>
        </p:txBody>
      </p:sp>
      <p:pic>
        <p:nvPicPr>
          <p:cNvPr id="18" name="object 2">
            <a:extLst>
              <a:ext uri="{FF2B5EF4-FFF2-40B4-BE49-F238E27FC236}">
                <a16:creationId xmlns:a16="http://schemas.microsoft.com/office/drawing/2014/main" id="{65752AC7-F3E9-373C-D323-75D49B62225C}"/>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1AB0EA2D-7254-45CD-F126-ADCE0356ABF8}"/>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DD528EC1-9ECF-C23C-1446-1C0F78B9A11D}"/>
              </a:ext>
            </a:extLst>
          </p:cNvPr>
          <p:cNvPicPr>
            <a:picLocks noChangeAspect="1"/>
          </p:cNvPicPr>
          <p:nvPr/>
        </p:nvPicPr>
        <p:blipFill>
          <a:blip r:embed="rId6"/>
          <a:stretch>
            <a:fillRect/>
          </a:stretch>
        </p:blipFill>
        <p:spPr>
          <a:xfrm>
            <a:off x="355963" y="1668780"/>
            <a:ext cx="8432074" cy="1417566"/>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90649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B655221-E864-FF24-F4ED-1DD11D7B26B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4683F16-D4DA-B3A2-1770-7FD3CA8C81F4}"/>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67D4F043-A4CD-6AF6-4722-E2A7CDAD101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66A50EA-020D-EB9B-0968-C31C374F38F8}"/>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56745E0-A8EA-3BB2-CD8F-A2A62C601598}"/>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E8923F0-860E-0D94-D46D-C76888CE3E8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704CFBC-8D68-B818-786E-75C9D69637FD}"/>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FC5D0E0-7199-0770-F7CD-40D12F1C0A9E}"/>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Récapitulatif</a:t>
            </a:r>
            <a:r>
              <a:rPr lang="en-GB" dirty="0"/>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931D6FC-9A1B-0762-F0BA-8232926B583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EEABCAC-47D7-5EB3-B577-167DE57D6CD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3EFB93D-A156-4883-5146-19820421F37B}"/>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87473BFB-1687-A69A-62BD-1626A5EC419C}"/>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29</a:t>
            </a:r>
            <a:endParaRPr lang="en-US" sz="900" dirty="0"/>
          </a:p>
        </p:txBody>
      </p:sp>
      <p:pic>
        <p:nvPicPr>
          <p:cNvPr id="18" name="object 2">
            <a:extLst>
              <a:ext uri="{FF2B5EF4-FFF2-40B4-BE49-F238E27FC236}">
                <a16:creationId xmlns:a16="http://schemas.microsoft.com/office/drawing/2014/main" id="{46A29EA9-ADD6-BB6B-7DCB-BA889E816EB1}"/>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F977B293-6FBB-B92D-8E1E-ED6CF0397F7F}"/>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8F8D4B25-E8D7-6E90-AA5F-B06FFAD76055}"/>
              </a:ext>
            </a:extLst>
          </p:cNvPr>
          <p:cNvSpPr/>
          <p:nvPr/>
        </p:nvSpPr>
        <p:spPr>
          <a:xfrm>
            <a:off x="640080" y="713609"/>
            <a:ext cx="8503920" cy="4059697"/>
          </a:xfrm>
          <a:prstGeom prst="rect">
            <a:avLst/>
          </a:prstGeom>
          <a:noFill/>
          <a:ln/>
        </p:spPr>
        <p:txBody>
          <a:bodyPr wrap="square" rtlCol="0" anchor="t"/>
          <a:lstStyle/>
          <a:p>
            <a:pPr>
              <a:lnSpc>
                <a:spcPct val="150000"/>
              </a:lnSpc>
            </a:pPr>
            <a:r>
              <a:rPr lang="fr-FR" sz="1400" dirty="0"/>
              <a:t>     </a:t>
            </a:r>
            <a:r>
              <a:rPr lang="en-GB" sz="1400" dirty="0"/>
              <a:t>Ce </a:t>
            </a:r>
            <a:r>
              <a:rPr lang="en-GB" sz="1400" dirty="0" err="1"/>
              <a:t>que</a:t>
            </a:r>
            <a:r>
              <a:rPr lang="en-GB" sz="1400" dirty="0"/>
              <a:t> nous </a:t>
            </a:r>
            <a:r>
              <a:rPr lang="en-GB" sz="1400" dirty="0" err="1"/>
              <a:t>avons</a:t>
            </a:r>
            <a:r>
              <a:rPr lang="en-GB" sz="1400" dirty="0"/>
              <a:t> vu :</a:t>
            </a:r>
          </a:p>
          <a:p>
            <a:pPr>
              <a:lnSpc>
                <a:spcPct val="150000"/>
              </a:lnSpc>
            </a:pPr>
            <a:r>
              <a:rPr lang="en-GB" sz="1400" b="1" dirty="0"/>
              <a:t>Spring Boot : </a:t>
            </a:r>
            <a:r>
              <a:rPr lang="en-GB" sz="1400" dirty="0" err="1"/>
              <a:t>Définition</a:t>
            </a:r>
            <a:r>
              <a:rPr lang="en-GB" sz="1400" dirty="0"/>
              <a:t>, 3 </a:t>
            </a:r>
            <a:r>
              <a:rPr lang="en-GB" sz="1400" dirty="0" err="1"/>
              <a:t>avantages</a:t>
            </a:r>
            <a:r>
              <a:rPr lang="en-GB" sz="1400" dirty="0"/>
              <a:t> (configurations, </a:t>
            </a:r>
            <a:r>
              <a:rPr lang="en-GB" sz="1400" dirty="0" err="1"/>
              <a:t>serveur</a:t>
            </a:r>
            <a:r>
              <a:rPr lang="en-GB" sz="1400" dirty="0"/>
              <a:t> </a:t>
            </a:r>
            <a:r>
              <a:rPr lang="en-GB" sz="1400" dirty="0" err="1"/>
              <a:t>embarqué</a:t>
            </a:r>
            <a:r>
              <a:rPr lang="en-GB" sz="1400" dirty="0"/>
              <a:t>, </a:t>
            </a:r>
            <a:r>
              <a:rPr lang="en-GB" sz="1400" dirty="0" err="1"/>
              <a:t>dépendances</a:t>
            </a:r>
            <a:r>
              <a:rPr lang="en-GB" sz="1400" dirty="0"/>
              <a:t>)</a:t>
            </a:r>
          </a:p>
          <a:p>
            <a:pPr>
              <a:lnSpc>
                <a:spcPct val="150000"/>
              </a:lnSpc>
            </a:pPr>
            <a:r>
              <a:rPr lang="en-GB" sz="1400" b="1" dirty="0"/>
              <a:t>Maven : </a:t>
            </a:r>
            <a:r>
              <a:rPr lang="en-GB" sz="1400" dirty="0" err="1"/>
              <a:t>Définition</a:t>
            </a:r>
            <a:r>
              <a:rPr lang="en-GB" sz="1400" dirty="0"/>
              <a:t>, POM.xml, cycle de vie, repository local/distant</a:t>
            </a:r>
          </a:p>
          <a:p>
            <a:pPr>
              <a:lnSpc>
                <a:spcPct val="150000"/>
              </a:lnSpc>
            </a:pPr>
            <a:r>
              <a:rPr lang="en-GB" sz="1400" b="1" dirty="0"/>
              <a:t>Arborescence : </a:t>
            </a:r>
            <a:r>
              <a:rPr lang="en-GB" sz="1400" dirty="0"/>
              <a:t>Convention over configuration, structure </a:t>
            </a:r>
            <a:r>
              <a:rPr lang="en-GB" sz="1400" dirty="0" err="1"/>
              <a:t>prédéfinie</a:t>
            </a:r>
            <a:endParaRPr lang="en-GB" sz="1400" dirty="0"/>
          </a:p>
          <a:p>
            <a:pPr>
              <a:lnSpc>
                <a:spcPct val="150000"/>
              </a:lnSpc>
            </a:pPr>
            <a:r>
              <a:rPr lang="en-GB" sz="1400" b="1" dirty="0" err="1"/>
              <a:t>Persistance</a:t>
            </a:r>
            <a:r>
              <a:rPr lang="en-GB" sz="1400" b="1" dirty="0"/>
              <a:t> : </a:t>
            </a:r>
            <a:r>
              <a:rPr lang="en-GB" sz="1400" dirty="0"/>
              <a:t>JDBC → ORM → JPA → Hibernate → Spring Data JPA</a:t>
            </a:r>
          </a:p>
          <a:p>
            <a:pPr>
              <a:lnSpc>
                <a:spcPct val="150000"/>
              </a:lnSpc>
            </a:pPr>
            <a:r>
              <a:rPr lang="en-GB" sz="1400" b="1" dirty="0" err="1"/>
              <a:t>Entité</a:t>
            </a:r>
            <a:r>
              <a:rPr lang="en-GB" sz="1400" b="1" dirty="0"/>
              <a:t> JPA : </a:t>
            </a:r>
            <a:r>
              <a:rPr lang="en-GB" sz="1400" dirty="0"/>
              <a:t>@Entity, @Id, @GeneratedValue, @Table, @Enumerated</a:t>
            </a:r>
          </a:p>
          <a:p>
            <a:pPr>
              <a:lnSpc>
                <a:spcPct val="150000"/>
              </a:lnSpc>
            </a:pPr>
            <a:r>
              <a:rPr lang="en-GB" sz="1400" b="1" dirty="0"/>
              <a:t>Lombok : </a:t>
            </a:r>
            <a:r>
              <a:rPr lang="en-GB" sz="1400" dirty="0"/>
              <a:t>@Getter, @Setter, @NoArgsConstructor, @AllArgsConstructor, @Builder</a:t>
            </a:r>
          </a:p>
          <a:p>
            <a:pPr>
              <a:lnSpc>
                <a:spcPct val="150000"/>
              </a:lnSpc>
            </a:pPr>
            <a:endParaRPr lang="en-GB" sz="1400" dirty="0"/>
          </a:p>
          <a:p>
            <a:r>
              <a:rPr lang="en-GB" sz="1400" b="1" dirty="0" err="1"/>
              <a:t>Prochaine</a:t>
            </a:r>
            <a:r>
              <a:rPr lang="en-GB" sz="1400" b="1" dirty="0"/>
              <a:t> séance :</a:t>
            </a:r>
            <a:endParaRPr lang="en-GB" sz="1400" dirty="0"/>
          </a:p>
          <a:p>
            <a:r>
              <a:rPr lang="en-GB" sz="1400" b="1" dirty="0"/>
              <a:t>S3 : Spring Data JPA - Associations entre </a:t>
            </a:r>
            <a:r>
              <a:rPr lang="en-GB" sz="1400" b="1" dirty="0" err="1"/>
              <a:t>entités</a:t>
            </a:r>
            <a:r>
              <a:rPr lang="en-GB" sz="1400" dirty="0"/>
              <a:t> </a:t>
            </a:r>
            <a:r>
              <a:rPr lang="en-GB" sz="1400" dirty="0" err="1"/>
              <a:t>OneToOne</a:t>
            </a:r>
            <a:r>
              <a:rPr lang="en-GB" sz="1400" dirty="0"/>
              <a:t> · </a:t>
            </a:r>
            <a:r>
              <a:rPr lang="en-GB" sz="1400" dirty="0" err="1"/>
              <a:t>OneToMany</a:t>
            </a:r>
            <a:r>
              <a:rPr lang="en-GB" sz="1400" dirty="0"/>
              <a:t> · </a:t>
            </a:r>
            <a:r>
              <a:rPr lang="en-GB" sz="1400" dirty="0" err="1"/>
              <a:t>ManyToOne</a:t>
            </a:r>
            <a:r>
              <a:rPr lang="en-GB" sz="1400" dirty="0"/>
              <a:t> · </a:t>
            </a:r>
            <a:r>
              <a:rPr lang="en-GB" sz="1400" dirty="0" err="1"/>
              <a:t>ManyToMany</a:t>
            </a:r>
            <a:endParaRPr lang="en-GB" sz="1400" dirty="0"/>
          </a:p>
          <a:p>
            <a:pPr>
              <a:lnSpc>
                <a:spcPct val="150000"/>
              </a:lnSpc>
            </a:pPr>
            <a:endParaRPr lang="en-GB" sz="1400" dirty="0"/>
          </a:p>
          <a:p>
            <a:pPr algn="just">
              <a:lnSpc>
                <a:spcPct val="150000"/>
              </a:lnSpc>
            </a:pPr>
            <a:endParaRPr lang="en-US" sz="1400" i="1" dirty="0">
              <a:solidFill>
                <a:schemeClr val="bg2">
                  <a:lumMod val="50000"/>
                </a:schemeClr>
              </a:solidFill>
            </a:endParaRPr>
          </a:p>
        </p:txBody>
      </p:sp>
      <p:sp>
        <p:nvSpPr>
          <p:cNvPr id="11" name="TextBox 10">
            <a:extLst>
              <a:ext uri="{FF2B5EF4-FFF2-40B4-BE49-F238E27FC236}">
                <a16:creationId xmlns:a16="http://schemas.microsoft.com/office/drawing/2014/main" id="{2B442D17-059F-9125-A634-8D7FDA414F36}"/>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573187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0EB0508-386F-9611-9607-932C4D575AD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63FDB41-2D02-9F9D-F191-30D5C1E59C6C}"/>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CE3FA624-D575-F8E7-568E-F54E0E41B1A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E72598A-F56D-6965-416E-04EA403BA6D7}"/>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5D1ECC27-EBDE-D578-2AC0-15E5EC17C48C}"/>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D2DEE79-641B-EBCA-D6F2-CA6F0A41123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268A2DE-10B1-70F7-57FE-14E80E4B2646}"/>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7389643-E1C9-44E3-130D-DD6AD6BEF60B}"/>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Références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0DD581D-83BB-86AE-D265-9384D12A1962}"/>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95EA5CD9-B20A-1A71-EE43-9A336EF00943}"/>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6222A1F-B1C8-1FE4-4600-D84B92F7DFF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47C7EC1C-71FF-41D8-B908-4954DEF7147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30</a:t>
            </a:r>
            <a:endParaRPr lang="en-US" sz="900" dirty="0"/>
          </a:p>
        </p:txBody>
      </p:sp>
      <p:pic>
        <p:nvPicPr>
          <p:cNvPr id="18" name="object 2">
            <a:extLst>
              <a:ext uri="{FF2B5EF4-FFF2-40B4-BE49-F238E27FC236}">
                <a16:creationId xmlns:a16="http://schemas.microsoft.com/office/drawing/2014/main" id="{07215BA0-B413-5211-C2F8-E2D2C0FCAE3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192D5B75-50DE-62BA-A159-841C2A4E3DAB}"/>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2267F4A3-7D67-FBC7-0F54-57CF1ACE2FFC}"/>
              </a:ext>
            </a:extLst>
          </p:cNvPr>
          <p:cNvSpPr txBox="1"/>
          <p:nvPr/>
        </p:nvSpPr>
        <p:spPr>
          <a:xfrm>
            <a:off x="795528" y="731520"/>
            <a:ext cx="8874252" cy="3511859"/>
          </a:xfrm>
          <a:prstGeom prst="rect">
            <a:avLst/>
          </a:prstGeom>
          <a:noFill/>
        </p:spPr>
        <p:txBody>
          <a:bodyPr wrap="square">
            <a:spAutoFit/>
          </a:bodyPr>
          <a:lstStyle/>
          <a:p>
            <a:pPr>
              <a:lnSpc>
                <a:spcPct val="150000"/>
              </a:lnSpc>
              <a:buNone/>
            </a:pPr>
            <a:r>
              <a:rPr lang="en-GB" sz="1200" b="1" dirty="0"/>
              <a:t>Documentation </a:t>
            </a:r>
            <a:r>
              <a:rPr lang="en-GB" sz="1200" b="1" dirty="0" err="1"/>
              <a:t>officielle</a:t>
            </a:r>
            <a:r>
              <a:rPr lang="en-GB" sz="1200" b="1" dirty="0"/>
              <a:t> :</a:t>
            </a:r>
            <a:endParaRPr lang="en-GB" sz="1200" dirty="0"/>
          </a:p>
          <a:p>
            <a:pPr indent="-171450">
              <a:lnSpc>
                <a:spcPct val="150000"/>
              </a:lnSpc>
              <a:buFont typeface="Arial" panose="020B0604020202020204" pitchFamily="34" charset="0"/>
              <a:buChar char="•"/>
            </a:pPr>
            <a:r>
              <a:rPr lang="en-GB" sz="1200" dirty="0"/>
              <a:t>Spring Boot : </a:t>
            </a:r>
            <a:r>
              <a:rPr lang="en-GB" sz="1200" u="sng" dirty="0">
                <a:solidFill>
                  <a:schemeClr val="accent1"/>
                </a:solidFill>
              </a:rPr>
              <a:t>https://spring.io/projects/spring-boot</a:t>
            </a:r>
          </a:p>
          <a:p>
            <a:pPr indent="-171450">
              <a:lnSpc>
                <a:spcPct val="150000"/>
              </a:lnSpc>
              <a:buFont typeface="Arial" panose="020B0604020202020204" pitchFamily="34" charset="0"/>
              <a:buChar char="•"/>
            </a:pPr>
            <a:r>
              <a:rPr lang="en-GB" sz="1200" dirty="0"/>
              <a:t>Spring Data JPA : </a:t>
            </a:r>
            <a:r>
              <a:rPr lang="en-GB" sz="1200" u="sng" dirty="0">
                <a:solidFill>
                  <a:schemeClr val="accent1"/>
                </a:solidFill>
              </a:rPr>
              <a:t>https://spring.io/projects/spring-data-jpa</a:t>
            </a:r>
          </a:p>
          <a:p>
            <a:pPr indent="-171450">
              <a:lnSpc>
                <a:spcPct val="150000"/>
              </a:lnSpc>
              <a:buFont typeface="Arial" panose="020B0604020202020204" pitchFamily="34" charset="0"/>
              <a:buChar char="•"/>
            </a:pPr>
            <a:r>
              <a:rPr lang="en-GB" sz="1200" dirty="0"/>
              <a:t>Maven : </a:t>
            </a:r>
            <a:r>
              <a:rPr lang="en-GB" sz="1200" u="sng" dirty="0">
                <a:solidFill>
                  <a:schemeClr val="accent1"/>
                </a:solidFill>
              </a:rPr>
              <a:t>https://maven.apache.org</a:t>
            </a:r>
          </a:p>
          <a:p>
            <a:pPr indent="-171450">
              <a:lnSpc>
                <a:spcPct val="150000"/>
              </a:lnSpc>
              <a:buFont typeface="Arial" panose="020B0604020202020204" pitchFamily="34" charset="0"/>
              <a:buChar char="•"/>
            </a:pPr>
            <a:r>
              <a:rPr lang="en-GB" sz="1200" dirty="0"/>
              <a:t>Lombok : </a:t>
            </a:r>
            <a:r>
              <a:rPr lang="en-GB" sz="1200" u="sng" dirty="0">
                <a:solidFill>
                  <a:schemeClr val="accent1"/>
                </a:solidFill>
              </a:rPr>
              <a:t>https://projectlombok.org</a:t>
            </a:r>
          </a:p>
          <a:p>
            <a:pPr indent="-171450">
              <a:lnSpc>
                <a:spcPct val="150000"/>
              </a:lnSpc>
              <a:buFont typeface="Arial" panose="020B0604020202020204" pitchFamily="34" charset="0"/>
              <a:buChar char="•"/>
            </a:pPr>
            <a:r>
              <a:rPr lang="en-GB" sz="1200" dirty="0"/>
              <a:t>Jakarta Persistence : </a:t>
            </a:r>
            <a:r>
              <a:rPr lang="en-GB" sz="1200" u="sng" dirty="0">
                <a:solidFill>
                  <a:schemeClr val="accent1"/>
                </a:solidFill>
              </a:rPr>
              <a:t>https://jakarta.ee/specifications/persistence</a:t>
            </a:r>
          </a:p>
          <a:p>
            <a:pPr indent="-171450">
              <a:lnSpc>
                <a:spcPct val="150000"/>
              </a:lnSpc>
              <a:buFont typeface="Arial" panose="020B0604020202020204" pitchFamily="34" charset="0"/>
              <a:buChar char="•"/>
            </a:pPr>
            <a:r>
              <a:rPr lang="en-GB" sz="1200" dirty="0"/>
              <a:t>Hibernate : </a:t>
            </a:r>
            <a:r>
              <a:rPr lang="en-GB" sz="1200" u="sng" dirty="0">
                <a:solidFill>
                  <a:schemeClr val="accent1"/>
                </a:solidFill>
              </a:rPr>
              <a:t>https://hibernate.org</a:t>
            </a:r>
          </a:p>
          <a:p>
            <a:pPr indent="-171450">
              <a:lnSpc>
                <a:spcPct val="150000"/>
              </a:lnSpc>
              <a:buFont typeface="Arial" panose="020B0604020202020204" pitchFamily="34" charset="0"/>
              <a:buChar char="•"/>
            </a:pPr>
            <a:r>
              <a:rPr lang="en-GB" sz="1200" dirty="0"/>
              <a:t>MVN Repository : </a:t>
            </a:r>
            <a:r>
              <a:rPr lang="en-GB" sz="1200" u="sng" dirty="0">
                <a:solidFill>
                  <a:schemeClr val="accent1"/>
                </a:solidFill>
              </a:rPr>
              <a:t>https://mvnrepository.com</a:t>
            </a:r>
          </a:p>
          <a:p>
            <a:pPr>
              <a:lnSpc>
                <a:spcPct val="150000"/>
              </a:lnSpc>
              <a:buNone/>
            </a:pPr>
            <a:r>
              <a:rPr lang="en-GB" sz="1200" b="1" dirty="0" err="1"/>
              <a:t>Outils</a:t>
            </a:r>
            <a:r>
              <a:rPr lang="en-GB" sz="1200" b="1" dirty="0"/>
              <a:t> </a:t>
            </a:r>
            <a:r>
              <a:rPr lang="en-GB" sz="1200" b="1" dirty="0" err="1"/>
              <a:t>utilisés</a:t>
            </a:r>
            <a:r>
              <a:rPr lang="en-GB" sz="1200" b="1" dirty="0"/>
              <a:t> :</a:t>
            </a:r>
            <a:endParaRPr lang="en-GB" sz="1200" dirty="0"/>
          </a:p>
          <a:p>
            <a:pPr>
              <a:lnSpc>
                <a:spcPct val="150000"/>
              </a:lnSpc>
              <a:buFont typeface="Arial" panose="020B0604020202020204" pitchFamily="34" charset="0"/>
              <a:buChar char="•"/>
            </a:pPr>
            <a:r>
              <a:rPr lang="en-GB" sz="1200" dirty="0"/>
              <a:t> </a:t>
            </a:r>
            <a:r>
              <a:rPr lang="fi-FI" sz="1200" dirty="0"/>
              <a:t>IntelliJ IDEA : </a:t>
            </a:r>
            <a:r>
              <a:rPr lang="fi-FI" sz="1200" u="sng" dirty="0">
                <a:solidFill>
                  <a:schemeClr val="accent1"/>
                </a:solidFill>
                <a:hlinkClick r:id="rId7"/>
              </a:rPr>
              <a:t>https://www.jetbrains.com/idea</a:t>
            </a:r>
            <a:endParaRPr lang="fi-FI" sz="1200" u="sng" dirty="0">
              <a:solidFill>
                <a:schemeClr val="accent1"/>
              </a:solidFill>
            </a:endParaRPr>
          </a:p>
          <a:p>
            <a:pPr>
              <a:lnSpc>
                <a:spcPct val="150000"/>
              </a:lnSpc>
              <a:buFont typeface="Arial" panose="020B0604020202020204" pitchFamily="34" charset="0"/>
              <a:buChar char="•"/>
            </a:pPr>
            <a:r>
              <a:rPr lang="en-GB" sz="1200" dirty="0"/>
              <a:t>MySQL / phpMyAdmin : </a:t>
            </a:r>
            <a:r>
              <a:rPr lang="en-GB" sz="1200" u="sng" dirty="0">
                <a:solidFill>
                  <a:schemeClr val="accent1"/>
                </a:solidFill>
                <a:hlinkClick r:id="rId8">
                  <a:extLst>
                    <a:ext uri="{A12FA001-AC4F-418D-AE19-62706E023703}">
                      <ahyp:hlinkClr xmlns:ahyp="http://schemas.microsoft.com/office/drawing/2018/hyperlinkcolor" val="tx"/>
                    </a:ext>
                  </a:extLst>
                </a:hlinkClick>
              </a:rPr>
              <a:t>https://www.mysql.com</a:t>
            </a:r>
            <a:endParaRPr lang="en-GB" sz="1200" u="sng" dirty="0">
              <a:solidFill>
                <a:schemeClr val="accent1"/>
              </a:solidFill>
            </a:endParaRPr>
          </a:p>
          <a:p>
            <a:pPr>
              <a:lnSpc>
                <a:spcPct val="150000"/>
              </a:lnSpc>
              <a:buFont typeface="Arial" panose="020B0604020202020204" pitchFamily="34" charset="0"/>
              <a:buChar char="•"/>
            </a:pPr>
            <a:r>
              <a:rPr lang="en-GB" sz="1200" dirty="0"/>
              <a:t>Spring </a:t>
            </a:r>
            <a:r>
              <a:rPr lang="en-GB" sz="1200" dirty="0" err="1"/>
              <a:t>Initializr</a:t>
            </a:r>
            <a:r>
              <a:rPr lang="en-GB" sz="1200" dirty="0"/>
              <a:t> : </a:t>
            </a:r>
            <a:r>
              <a:rPr lang="en-GB" sz="1200" u="sng" dirty="0">
                <a:solidFill>
                  <a:schemeClr val="accent1"/>
                </a:solidFill>
              </a:rPr>
              <a:t>https://start.spring.io</a:t>
            </a:r>
          </a:p>
        </p:txBody>
      </p:sp>
      <p:sp>
        <p:nvSpPr>
          <p:cNvPr id="15" name="TextBox 14">
            <a:extLst>
              <a:ext uri="{FF2B5EF4-FFF2-40B4-BE49-F238E27FC236}">
                <a16:creationId xmlns:a16="http://schemas.microsoft.com/office/drawing/2014/main" id="{689D5030-8773-A657-1B4F-A59E8D4FE5A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688000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B36CB0-993B-8758-E47B-4C392CC1921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E8EC0A5-EE7C-5D11-339E-EDD88808BD26}"/>
              </a:ext>
            </a:extLst>
          </p:cNvPr>
          <p:cNvGrpSpPr/>
          <p:nvPr/>
        </p:nvGrpSpPr>
        <p:grpSpPr>
          <a:xfrm>
            <a:off x="0" y="149087"/>
            <a:ext cx="9144000" cy="4845326"/>
            <a:chOff x="0" y="149087"/>
            <a:chExt cx="9144000" cy="4845326"/>
          </a:xfrm>
        </p:grpSpPr>
        <p:grpSp>
          <p:nvGrpSpPr>
            <p:cNvPr id="3" name="Group 2">
              <a:extLst>
                <a:ext uri="{FF2B5EF4-FFF2-40B4-BE49-F238E27FC236}">
                  <a16:creationId xmlns:a16="http://schemas.microsoft.com/office/drawing/2014/main" id="{4182E875-D73B-7D46-3D40-14E0A7374516}"/>
                </a:ext>
              </a:extLst>
            </p:cNvPr>
            <p:cNvGrpSpPr/>
            <p:nvPr/>
          </p:nvGrpSpPr>
          <p:grpSpPr>
            <a:xfrm>
              <a:off x="0" y="149087"/>
              <a:ext cx="9144000" cy="4845326"/>
              <a:chOff x="0" y="149087"/>
              <a:chExt cx="9144000" cy="4845326"/>
            </a:xfrm>
          </p:grpSpPr>
          <p:pic>
            <p:nvPicPr>
              <p:cNvPr id="5" name="Picture 4">
                <a:extLst>
                  <a:ext uri="{FF2B5EF4-FFF2-40B4-BE49-F238E27FC236}">
                    <a16:creationId xmlns:a16="http://schemas.microsoft.com/office/drawing/2014/main" id="{4E7C387D-0206-9BD7-AF2C-688BD59490B9}"/>
                  </a:ext>
                </a:extLst>
              </p:cNvPr>
              <p:cNvPicPr>
                <a:picLocks noChangeAspect="1"/>
              </p:cNvPicPr>
              <p:nvPr/>
            </p:nvPicPr>
            <p:blipFill>
              <a:blip r:embed="rId4"/>
              <a:stretch>
                <a:fillRect/>
              </a:stretch>
            </p:blipFill>
            <p:spPr>
              <a:xfrm>
                <a:off x="0" y="149087"/>
                <a:ext cx="9144000" cy="4845326"/>
              </a:xfrm>
              <a:prstGeom prst="rect">
                <a:avLst/>
              </a:prstGeom>
            </p:spPr>
          </p:pic>
          <p:pic>
            <p:nvPicPr>
              <p:cNvPr id="6" name="object 2">
                <a:extLst>
                  <a:ext uri="{FF2B5EF4-FFF2-40B4-BE49-F238E27FC236}">
                    <a16:creationId xmlns:a16="http://schemas.microsoft.com/office/drawing/2014/main" id="{1E123CC8-1DC3-BA96-D7A2-4AADDDC57B61}"/>
                  </a:ext>
                </a:extLst>
              </p:cNvPr>
              <p:cNvPicPr/>
              <p:nvPr/>
            </p:nvPicPr>
            <p:blipFill>
              <a:blip r:embed="rId5" cstate="print"/>
              <a:stretch>
                <a:fillRect/>
              </a:stretch>
            </p:blipFill>
            <p:spPr>
              <a:xfrm>
                <a:off x="404223" y="403072"/>
                <a:ext cx="1591056" cy="537747"/>
              </a:xfrm>
              <a:prstGeom prst="rect">
                <a:avLst/>
              </a:prstGeom>
            </p:spPr>
          </p:pic>
          <p:pic>
            <p:nvPicPr>
              <p:cNvPr id="7" name="Picture 6">
                <a:extLst>
                  <a:ext uri="{FF2B5EF4-FFF2-40B4-BE49-F238E27FC236}">
                    <a16:creationId xmlns:a16="http://schemas.microsoft.com/office/drawing/2014/main" id="{5831FD56-58E3-9099-9FD9-A54A80430954}"/>
                  </a:ext>
                </a:extLst>
              </p:cNvPr>
              <p:cNvPicPr>
                <a:picLocks noChangeAspect="1"/>
              </p:cNvPicPr>
              <p:nvPr/>
            </p:nvPicPr>
            <p:blipFill>
              <a:blip r:embed="rId4"/>
              <a:srcRect l="30670" t="74207" r="63834" b="18903"/>
              <a:stretch>
                <a:fillRect/>
              </a:stretch>
            </p:blipFill>
            <p:spPr>
              <a:xfrm>
                <a:off x="3205914" y="3795485"/>
                <a:ext cx="2621571" cy="333830"/>
              </a:xfrm>
              <a:prstGeom prst="rect">
                <a:avLst/>
              </a:prstGeom>
            </p:spPr>
          </p:pic>
          <p:sp>
            <p:nvSpPr>
              <p:cNvPr id="8" name="Oval 7">
                <a:extLst>
                  <a:ext uri="{FF2B5EF4-FFF2-40B4-BE49-F238E27FC236}">
                    <a16:creationId xmlns:a16="http://schemas.microsoft.com/office/drawing/2014/main" id="{B13B6F43-ACB0-F791-C4B6-3F9A639F3719}"/>
                  </a:ext>
                </a:extLst>
              </p:cNvPr>
              <p:cNvSpPr/>
              <p:nvPr/>
            </p:nvSpPr>
            <p:spPr>
              <a:xfrm>
                <a:off x="2521131" y="4349931"/>
                <a:ext cx="3899263" cy="333830"/>
              </a:xfrm>
              <a:prstGeom prst="ellipse">
                <a:avLst/>
              </a:prstGeom>
              <a:solidFill>
                <a:srgbClr val="EC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extBox 8">
                <a:extLst>
                  <a:ext uri="{FF2B5EF4-FFF2-40B4-BE49-F238E27FC236}">
                    <a16:creationId xmlns:a16="http://schemas.microsoft.com/office/drawing/2014/main" id="{DFEF0309-BC9E-F38F-7D19-4066D3602C74}"/>
                  </a:ext>
                </a:extLst>
              </p:cNvPr>
              <p:cNvSpPr txBox="1"/>
              <p:nvPr/>
            </p:nvSpPr>
            <p:spPr>
              <a:xfrm>
                <a:off x="3141617" y="3795485"/>
                <a:ext cx="2621571" cy="369332"/>
              </a:xfrm>
              <a:prstGeom prst="rect">
                <a:avLst/>
              </a:prstGeom>
              <a:noFill/>
            </p:spPr>
            <p:txBody>
              <a:bodyPr wrap="square" rtlCol="0">
                <a:spAutoFit/>
              </a:bodyPr>
              <a:lstStyle/>
              <a:p>
                <a:endParaRPr lang="fr-FR" dirty="0"/>
              </a:p>
            </p:txBody>
          </p:sp>
        </p:grpSp>
        <p:sp>
          <p:nvSpPr>
            <p:cNvPr id="4" name="Text 4">
              <a:extLst>
                <a:ext uri="{FF2B5EF4-FFF2-40B4-BE49-F238E27FC236}">
                  <a16:creationId xmlns:a16="http://schemas.microsoft.com/office/drawing/2014/main" id="{7B9B2522-43CF-3684-0DB9-3B194986A761}"/>
                </a:ext>
              </a:extLst>
            </p:cNvPr>
            <p:cNvSpPr/>
            <p:nvPr/>
          </p:nvSpPr>
          <p:spPr>
            <a:xfrm>
              <a:off x="3036905" y="3753225"/>
              <a:ext cx="3265923" cy="418350"/>
            </a:xfrm>
            <a:prstGeom prst="rect">
              <a:avLst/>
            </a:prstGeom>
            <a:noFill/>
            <a:ln/>
          </p:spPr>
          <p:txBody>
            <a:bodyPr wrap="square" rtlCol="0" anchor="t"/>
            <a:lstStyle/>
            <a:p>
              <a:pPr algn="just">
                <a:lnSpc>
                  <a:spcPct val="150000"/>
                </a:lnSpc>
              </a:pPr>
              <a:r>
                <a:rPr lang="fr-FR" sz="1200" dirty="0">
                  <a:solidFill>
                    <a:srgbClr val="EEEEEE"/>
                  </a:solidFill>
                </a:rPr>
                <a:t>Module Architecture des SI – 2026 - 2027</a:t>
              </a:r>
            </a:p>
          </p:txBody>
        </p:sp>
      </p:grpSp>
    </p:spTree>
    <p:extLst>
      <p:ext uri="{BB962C8B-B14F-4D97-AF65-F5344CB8AC3E}">
        <p14:creationId xmlns:p14="http://schemas.microsoft.com/office/powerpoint/2010/main" val="1369840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1418</TotalTime>
  <Words>2534</Words>
  <Application>Microsoft Office PowerPoint</Application>
  <PresentationFormat>On-screen Show (16:9)</PresentationFormat>
  <Paragraphs>277</Paragraphs>
  <Slides>31</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Courier New</vt:lpstr>
      <vt:lpstr>Wingdings</vt:lpstr>
      <vt:lpstr>Office Theme</vt:lpstr>
      <vt:lpstr>Spring Boot, Maven et persistance des données avec Spring Data JPA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ESPRIT</dc:title>
  <dc:subject>PptxGenJS Presentation</dc:subject>
  <dc:creator>PptxGenJS</dc:creator>
  <cp:lastModifiedBy>Alaa RAMI</cp:lastModifiedBy>
  <cp:revision>14</cp:revision>
  <dcterms:created xsi:type="dcterms:W3CDTF">2026-05-13T18:28:21Z</dcterms:created>
  <dcterms:modified xsi:type="dcterms:W3CDTF">2026-09-09T20:55:48Z</dcterms:modified>
</cp:coreProperties>
</file>